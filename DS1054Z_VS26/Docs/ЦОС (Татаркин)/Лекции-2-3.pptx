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652" r:id="rId3"/>
    <p:sldMasterId id="2147483688" r:id="rId4"/>
  </p:sldMasterIdLst>
  <p:notesMasterIdLst>
    <p:notesMasterId r:id="rId52"/>
  </p:notesMasterIdLst>
  <p:handoutMasterIdLst>
    <p:handoutMasterId r:id="rId53"/>
  </p:handoutMasterIdLst>
  <p:sldIdLst>
    <p:sldId id="330" r:id="rId5"/>
    <p:sldId id="539" r:id="rId6"/>
    <p:sldId id="517" r:id="rId7"/>
    <p:sldId id="518" r:id="rId8"/>
    <p:sldId id="519" r:id="rId9"/>
    <p:sldId id="493" r:id="rId10"/>
    <p:sldId id="494" r:id="rId11"/>
    <p:sldId id="495" r:id="rId12"/>
    <p:sldId id="501" r:id="rId13"/>
    <p:sldId id="505" r:id="rId14"/>
    <p:sldId id="540" r:id="rId15"/>
    <p:sldId id="541" r:id="rId16"/>
    <p:sldId id="542" r:id="rId17"/>
    <p:sldId id="502" r:id="rId18"/>
    <p:sldId id="506" r:id="rId19"/>
    <p:sldId id="507" r:id="rId20"/>
    <p:sldId id="508" r:id="rId21"/>
    <p:sldId id="503" r:id="rId22"/>
    <p:sldId id="504" r:id="rId23"/>
    <p:sldId id="509" r:id="rId24"/>
    <p:sldId id="510" r:id="rId25"/>
    <p:sldId id="511" r:id="rId26"/>
    <p:sldId id="512" r:id="rId27"/>
    <p:sldId id="543" r:id="rId28"/>
    <p:sldId id="513" r:id="rId29"/>
    <p:sldId id="514" r:id="rId30"/>
    <p:sldId id="515" r:id="rId31"/>
    <p:sldId id="522" r:id="rId32"/>
    <p:sldId id="523" r:id="rId33"/>
    <p:sldId id="516" r:id="rId34"/>
    <p:sldId id="520" r:id="rId35"/>
    <p:sldId id="521" r:id="rId36"/>
    <p:sldId id="524" r:id="rId37"/>
    <p:sldId id="525" r:id="rId38"/>
    <p:sldId id="526" r:id="rId39"/>
    <p:sldId id="527" r:id="rId40"/>
    <p:sldId id="528" r:id="rId41"/>
    <p:sldId id="529" r:id="rId42"/>
    <p:sldId id="530" r:id="rId43"/>
    <p:sldId id="531" r:id="rId44"/>
    <p:sldId id="532" r:id="rId45"/>
    <p:sldId id="533" r:id="rId46"/>
    <p:sldId id="534" r:id="rId47"/>
    <p:sldId id="535" r:id="rId48"/>
    <p:sldId id="536" r:id="rId49"/>
    <p:sldId id="537" r:id="rId50"/>
    <p:sldId id="538" r:id="rId51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FF"/>
    <a:srgbClr val="00FF00"/>
    <a:srgbClr val="33CC33"/>
    <a:srgbClr val="009900"/>
    <a:srgbClr val="FF0000"/>
    <a:srgbClr val="CC33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04" autoAdjust="0"/>
    <p:restoredTop sz="94646" autoAdjust="0"/>
  </p:normalViewPr>
  <p:slideViewPr>
    <p:cSldViewPr>
      <p:cViewPr varScale="1">
        <p:scale>
          <a:sx n="112" d="100"/>
          <a:sy n="112" d="100"/>
        </p:scale>
        <p:origin x="16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36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C6DA4C8-B91F-4E53-A68C-51EF85D21E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86C4D70-5135-4FF9-B64A-F0201371F2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 Master-Textformat zu bearbeiten.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506883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 Master-Textformat zu bearbeiten.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4" name="Text Box 6"/>
          <p:cNvSpPr txBox="1">
            <a:spLocks noChangeArrowheads="1"/>
          </p:cNvSpPr>
          <p:nvPr userDrawn="1"/>
        </p:nvSpPr>
        <p:spPr bwMode="auto">
          <a:xfrm>
            <a:off x="755650" y="6488113"/>
            <a:ext cx="77771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Integral transforms: theory and applications</a:t>
            </a:r>
          </a:p>
        </p:txBody>
      </p:sp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3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13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0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9.wmf"/><Relationship Id="rId5" Type="http://schemas.openxmlformats.org/officeDocument/2006/relationships/image" Target="../media/image15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8.png"/><Relationship Id="rId1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2.wmf"/><Relationship Id="rId7" Type="http://schemas.openxmlformats.org/officeDocument/2006/relationships/image" Target="../media/image25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43.png"/><Relationship Id="rId7" Type="http://schemas.openxmlformats.org/officeDocument/2006/relationships/image" Target="../media/image380.png"/><Relationship Id="rId12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7.png"/><Relationship Id="rId5" Type="http://schemas.openxmlformats.org/officeDocument/2006/relationships/image" Target="../media/image330.png"/><Relationship Id="rId10" Type="http://schemas.openxmlformats.org/officeDocument/2006/relationships/image" Target="../media/image46.png"/><Relationship Id="rId4" Type="http://schemas.openxmlformats.org/officeDocument/2006/relationships/image" Target="../media/image32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42.wmf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19.bin"/><Relationship Id="rId2" Type="http://schemas.openxmlformats.org/officeDocument/2006/relationships/oleObject" Target="../embeddings/oleObject16.bin"/><Relationship Id="rId16" Type="http://schemas.openxmlformats.org/officeDocument/2006/relationships/image" Target="../media/image570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42.wmf"/><Relationship Id="rId5" Type="http://schemas.openxmlformats.org/officeDocument/2006/relationships/image" Target="../media/image40.wmf"/><Relationship Id="rId15" Type="http://schemas.openxmlformats.org/officeDocument/2006/relationships/image" Target="../media/image560.png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1.wmf"/><Relationship Id="rId14" Type="http://schemas.openxmlformats.org/officeDocument/2006/relationships/image" Target="../media/image55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71.wmf"/><Relationship Id="rId3" Type="http://schemas.openxmlformats.org/officeDocument/2006/relationships/image" Target="../media/image48.wmf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32.bin"/><Relationship Id="rId2" Type="http://schemas.openxmlformats.org/officeDocument/2006/relationships/oleObject" Target="../embeddings/oleObject25.bin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oleObject" Target="../embeddings/oleObject29.bin"/><Relationship Id="rId5" Type="http://schemas.openxmlformats.org/officeDocument/2006/relationships/image" Target="../media/image49.wmf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33.bin"/><Relationship Id="rId4" Type="http://schemas.openxmlformats.org/officeDocument/2006/relationships/oleObject" Target="../embeddings/oleObject26.bin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4.wmf"/><Relationship Id="rId7" Type="http://schemas.openxmlformats.org/officeDocument/2006/relationships/oleObject" Target="../embeddings/oleObject37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wmf"/><Relationship Id="rId11" Type="http://schemas.openxmlformats.org/officeDocument/2006/relationships/image" Target="../media/image93.png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78.wmf"/><Relationship Id="rId4" Type="http://schemas.openxmlformats.org/officeDocument/2006/relationships/image" Target="../media/image75.gif"/><Relationship Id="rId9" Type="http://schemas.openxmlformats.org/officeDocument/2006/relationships/oleObject" Target="../embeddings/oleObject3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82.wmf"/><Relationship Id="rId18" Type="http://schemas.openxmlformats.org/officeDocument/2006/relationships/oleObject" Target="../embeddings/oleObject44.bin"/><Relationship Id="rId3" Type="http://schemas.openxmlformats.org/officeDocument/2006/relationships/image" Target="../media/image79.wmf"/><Relationship Id="rId21" Type="http://schemas.openxmlformats.org/officeDocument/2006/relationships/image" Target="../media/image84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83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82.wmf"/><Relationship Id="rId5" Type="http://schemas.openxmlformats.org/officeDocument/2006/relationships/image" Target="../media/image80.wmf"/><Relationship Id="rId15" Type="http://schemas.openxmlformats.org/officeDocument/2006/relationships/image" Target="../media/image83.w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98.png"/><Relationship Id="rId14" Type="http://schemas.openxmlformats.org/officeDocument/2006/relationships/oleObject" Target="../embeddings/oleObject4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image" Target="../media/image85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gif"/><Relationship Id="rId4" Type="http://schemas.openxmlformats.org/officeDocument/2006/relationships/image" Target="../media/image8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8.wmf"/><Relationship Id="rId7" Type="http://schemas.openxmlformats.org/officeDocument/2006/relationships/oleObject" Target="../embeddings/oleObject48.bin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wmf"/><Relationship Id="rId11" Type="http://schemas.openxmlformats.org/officeDocument/2006/relationships/image" Target="../media/image110.png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91.wmf"/><Relationship Id="rId4" Type="http://schemas.openxmlformats.org/officeDocument/2006/relationships/image" Target="../media/image106.png"/><Relationship Id="rId9" Type="http://schemas.openxmlformats.org/officeDocument/2006/relationships/oleObject" Target="../embeddings/oleObject4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100.wmf"/><Relationship Id="rId3" Type="http://schemas.openxmlformats.org/officeDocument/2006/relationships/image" Target="../media/image92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55.bin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5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62.bin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10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3.gi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112.wmf"/><Relationship Id="rId17" Type="http://schemas.openxmlformats.org/officeDocument/2006/relationships/image" Target="../media/image115.wmf"/><Relationship Id="rId2" Type="http://schemas.openxmlformats.org/officeDocument/2006/relationships/image" Target="../media/image127.png"/><Relationship Id="rId16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image" Target="../media/image114.wmf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66.bin"/><Relationship Id="rId14" Type="http://schemas.openxmlformats.org/officeDocument/2006/relationships/oleObject" Target="../embeddings/oleObject6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7" Type="http://schemas.openxmlformats.org/officeDocument/2006/relationships/image" Target="../media/image118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7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12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7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126.wmf"/><Relationship Id="rId7" Type="http://schemas.openxmlformats.org/officeDocument/2006/relationships/image" Target="../media/image128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127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12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134.wmf"/><Relationship Id="rId18" Type="http://schemas.openxmlformats.org/officeDocument/2006/relationships/oleObject" Target="../embeddings/oleObject92.bin"/><Relationship Id="rId3" Type="http://schemas.openxmlformats.org/officeDocument/2006/relationships/image" Target="../media/image121.wmf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136.wmf"/><Relationship Id="rId2" Type="http://schemas.openxmlformats.org/officeDocument/2006/relationships/oleObject" Target="../embeddings/oleObject84.bin"/><Relationship Id="rId16" Type="http://schemas.openxmlformats.org/officeDocument/2006/relationships/oleObject" Target="../embeddings/oleObject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33.wmf"/><Relationship Id="rId5" Type="http://schemas.openxmlformats.org/officeDocument/2006/relationships/image" Target="../media/image130.wmf"/><Relationship Id="rId15" Type="http://schemas.openxmlformats.org/officeDocument/2006/relationships/image" Target="../media/image135.wmf"/><Relationship Id="rId10" Type="http://schemas.openxmlformats.org/officeDocument/2006/relationships/oleObject" Target="../embeddings/oleObject88.bin"/><Relationship Id="rId19" Type="http://schemas.openxmlformats.org/officeDocument/2006/relationships/image" Target="../media/image137.wmf"/><Relationship Id="rId4" Type="http://schemas.openxmlformats.org/officeDocument/2006/relationships/oleObject" Target="../embeddings/oleObject85.bin"/><Relationship Id="rId9" Type="http://schemas.openxmlformats.org/officeDocument/2006/relationships/image" Target="../media/image132.wmf"/><Relationship Id="rId14" Type="http://schemas.openxmlformats.org/officeDocument/2006/relationships/oleObject" Target="../embeddings/oleObject9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143.w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" Type="http://schemas.openxmlformats.org/officeDocument/2006/relationships/image" Target="../media/image138.wmf"/><Relationship Id="rId21" Type="http://schemas.openxmlformats.org/officeDocument/2006/relationships/image" Target="../media/image147.wmf"/><Relationship Id="rId7" Type="http://schemas.openxmlformats.org/officeDocument/2006/relationships/image" Target="../media/image140.w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45.wmf"/><Relationship Id="rId25" Type="http://schemas.openxmlformats.org/officeDocument/2006/relationships/image" Target="../media/image149.wmf"/><Relationship Id="rId2" Type="http://schemas.openxmlformats.org/officeDocument/2006/relationships/oleObject" Target="../embeddings/oleObject93.bin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29" Type="http://schemas.openxmlformats.org/officeDocument/2006/relationships/image" Target="../media/image15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42.wmf"/><Relationship Id="rId24" Type="http://schemas.openxmlformats.org/officeDocument/2006/relationships/oleObject" Target="../embeddings/oleObject104.bin"/><Relationship Id="rId5" Type="http://schemas.openxmlformats.org/officeDocument/2006/relationships/image" Target="../media/image139.wmf"/><Relationship Id="rId15" Type="http://schemas.openxmlformats.org/officeDocument/2006/relationships/image" Target="../media/image144.wmf"/><Relationship Id="rId23" Type="http://schemas.openxmlformats.org/officeDocument/2006/relationships/image" Target="../media/image148.wmf"/><Relationship Id="rId28" Type="http://schemas.openxmlformats.org/officeDocument/2006/relationships/oleObject" Target="../embeddings/oleObject106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46.wmf"/><Relationship Id="rId31" Type="http://schemas.openxmlformats.org/officeDocument/2006/relationships/image" Target="../media/image152.w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41.w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50.wmf"/><Relationship Id="rId30" Type="http://schemas.openxmlformats.org/officeDocument/2006/relationships/oleObject" Target="../embeddings/oleObject10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eg"/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156.wmf"/><Relationship Id="rId4" Type="http://schemas.openxmlformats.org/officeDocument/2006/relationships/oleObject" Target="../embeddings/oleObject10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7" Type="http://schemas.openxmlformats.org/officeDocument/2006/relationships/image" Target="../media/image160.png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5" Type="http://schemas.openxmlformats.org/officeDocument/2006/relationships/image" Target="../media/image159.wmf"/><Relationship Id="rId4" Type="http://schemas.openxmlformats.org/officeDocument/2006/relationships/oleObject" Target="../embeddings/oleObject11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62.wmf"/><Relationship Id="rId4" Type="http://schemas.openxmlformats.org/officeDocument/2006/relationships/oleObject" Target="../embeddings/oleObject114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68.wmf"/><Relationship Id="rId3" Type="http://schemas.openxmlformats.org/officeDocument/2006/relationships/image" Target="../media/image121.wmf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21.bin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67.wmf"/><Relationship Id="rId5" Type="http://schemas.openxmlformats.org/officeDocument/2006/relationships/image" Target="../media/image164.wmf"/><Relationship Id="rId15" Type="http://schemas.openxmlformats.org/officeDocument/2006/relationships/image" Target="../media/image169.w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66.wmf"/><Relationship Id="rId14" Type="http://schemas.openxmlformats.org/officeDocument/2006/relationships/oleObject" Target="../embeddings/oleObject12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75.wmf"/><Relationship Id="rId18" Type="http://schemas.openxmlformats.org/officeDocument/2006/relationships/oleObject" Target="../embeddings/oleObject131.bin"/><Relationship Id="rId3" Type="http://schemas.openxmlformats.org/officeDocument/2006/relationships/image" Target="../media/image170.wmf"/><Relationship Id="rId21" Type="http://schemas.openxmlformats.org/officeDocument/2006/relationships/image" Target="../media/image179.wmf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77.w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74.wmf"/><Relationship Id="rId5" Type="http://schemas.openxmlformats.org/officeDocument/2006/relationships/image" Target="../media/image171.wmf"/><Relationship Id="rId15" Type="http://schemas.openxmlformats.org/officeDocument/2006/relationships/image" Target="../media/image176.wmf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2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141.bin"/><Relationship Id="rId3" Type="http://schemas.openxmlformats.org/officeDocument/2006/relationships/image" Target="../media/image180.wmf"/><Relationship Id="rId21" Type="http://schemas.openxmlformats.org/officeDocument/2006/relationships/image" Target="../media/image188.w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38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33.bin"/><Relationship Id="rId16" Type="http://schemas.openxmlformats.org/officeDocument/2006/relationships/oleObject" Target="../embeddings/oleObject140.bin"/><Relationship Id="rId20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83.wmf"/><Relationship Id="rId5" Type="http://schemas.openxmlformats.org/officeDocument/2006/relationships/image" Target="../media/image175.wmf"/><Relationship Id="rId15" Type="http://schemas.openxmlformats.org/officeDocument/2006/relationships/image" Target="../media/image185.wmf"/><Relationship Id="rId10" Type="http://schemas.openxmlformats.org/officeDocument/2006/relationships/oleObject" Target="../embeddings/oleObject137.bin"/><Relationship Id="rId19" Type="http://schemas.openxmlformats.org/officeDocument/2006/relationships/image" Target="../media/image187.wmf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3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151.bin"/><Relationship Id="rId26" Type="http://schemas.openxmlformats.org/officeDocument/2006/relationships/oleObject" Target="../embeddings/oleObject155.bin"/><Relationship Id="rId3" Type="http://schemas.openxmlformats.org/officeDocument/2006/relationships/image" Target="../media/image189.wmf"/><Relationship Id="rId21" Type="http://schemas.openxmlformats.org/officeDocument/2006/relationships/image" Target="../media/image198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96.wmf"/><Relationship Id="rId25" Type="http://schemas.openxmlformats.org/officeDocument/2006/relationships/image" Target="../media/image200.w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29" Type="http://schemas.openxmlformats.org/officeDocument/2006/relationships/image" Target="../media/image20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93.wmf"/><Relationship Id="rId24" Type="http://schemas.openxmlformats.org/officeDocument/2006/relationships/oleObject" Target="../embeddings/oleObject154.bin"/><Relationship Id="rId5" Type="http://schemas.openxmlformats.org/officeDocument/2006/relationships/image" Target="../media/image190.wmf"/><Relationship Id="rId15" Type="http://schemas.openxmlformats.org/officeDocument/2006/relationships/image" Target="../media/image195.wmf"/><Relationship Id="rId23" Type="http://schemas.openxmlformats.org/officeDocument/2006/relationships/image" Target="../media/image199.wmf"/><Relationship Id="rId28" Type="http://schemas.openxmlformats.org/officeDocument/2006/relationships/oleObject" Target="../embeddings/oleObject156.bin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97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Relationship Id="rId27" Type="http://schemas.openxmlformats.org/officeDocument/2006/relationships/image" Target="../media/image20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3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168.wmf"/><Relationship Id="rId3" Type="http://schemas.openxmlformats.org/officeDocument/2006/relationships/image" Target="../media/image121.wmf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63.bin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205.wmf"/><Relationship Id="rId5" Type="http://schemas.openxmlformats.org/officeDocument/2006/relationships/image" Target="../media/image164.wmf"/><Relationship Id="rId15" Type="http://schemas.openxmlformats.org/officeDocument/2006/relationships/image" Target="../media/image169.wmf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204.wmf"/><Relationship Id="rId14" Type="http://schemas.openxmlformats.org/officeDocument/2006/relationships/oleObject" Target="../embeddings/oleObject164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73.wmf"/><Relationship Id="rId3" Type="http://schemas.openxmlformats.org/officeDocument/2006/relationships/image" Target="../media/image206.wmf"/><Relationship Id="rId7" Type="http://schemas.openxmlformats.org/officeDocument/2006/relationships/image" Target="../media/image208.wmf"/><Relationship Id="rId12" Type="http://schemas.openxmlformats.org/officeDocument/2006/relationships/image" Target="../media/image224.png"/><Relationship Id="rId17" Type="http://schemas.openxmlformats.org/officeDocument/2006/relationships/oleObject" Target="../embeddings/oleObject171.bin"/><Relationship Id="rId2" Type="http://schemas.openxmlformats.org/officeDocument/2006/relationships/oleObject" Target="../embeddings/oleObject165.bin"/><Relationship Id="rId16" Type="http://schemas.openxmlformats.org/officeDocument/2006/relationships/image" Target="../media/image210.wmf"/><Relationship Id="rId20" Type="http://schemas.openxmlformats.org/officeDocument/2006/relationships/image" Target="../media/image21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209.wmf"/><Relationship Id="rId5" Type="http://schemas.openxmlformats.org/officeDocument/2006/relationships/image" Target="../media/image207.wmf"/><Relationship Id="rId15" Type="http://schemas.openxmlformats.org/officeDocument/2006/relationships/oleObject" Target="../embeddings/oleObject170.bin"/><Relationship Id="rId10" Type="http://schemas.openxmlformats.org/officeDocument/2006/relationships/oleObject" Target="../embeddings/oleObject169.bin"/><Relationship Id="rId19" Type="http://schemas.openxmlformats.org/officeDocument/2006/relationships/oleObject" Target="../embeddings/oleObject172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72.wmf"/><Relationship Id="rId14" Type="http://schemas.openxmlformats.org/officeDocument/2006/relationships/image" Target="../media/image21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oleObject" Target="../embeddings/oleObject178.bin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211.wmf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21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3" Type="http://schemas.openxmlformats.org/officeDocument/2006/relationships/image" Target="../media/image217.wmf"/><Relationship Id="rId7" Type="http://schemas.openxmlformats.org/officeDocument/2006/relationships/image" Target="../media/image218.wmf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1.bin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219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200.wmf"/><Relationship Id="rId18" Type="http://schemas.openxmlformats.org/officeDocument/2006/relationships/oleObject" Target="../embeddings/oleObject191.bin"/><Relationship Id="rId3" Type="http://schemas.openxmlformats.org/officeDocument/2006/relationships/image" Target="../media/image201.wmf"/><Relationship Id="rId7" Type="http://schemas.openxmlformats.org/officeDocument/2006/relationships/image" Target="../media/image197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221.wmf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99.wmf"/><Relationship Id="rId5" Type="http://schemas.openxmlformats.org/officeDocument/2006/relationships/image" Target="../media/image202.wmf"/><Relationship Id="rId15" Type="http://schemas.openxmlformats.org/officeDocument/2006/relationships/image" Target="../media/image220.wmf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222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98.wmf"/><Relationship Id="rId14" Type="http://schemas.openxmlformats.org/officeDocument/2006/relationships/oleObject" Target="../embeddings/oleObject18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79388" y="785794"/>
            <a:ext cx="8785225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Современные методы обработки сигналов</a:t>
            </a:r>
            <a:endParaRPr lang="en-US" sz="4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690284" y="1643050"/>
            <a:ext cx="5000660" cy="114300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99" name="Object 15"/>
              <p:cNvSpPr txBox="1"/>
              <p:nvPr/>
            </p:nvSpPr>
            <p:spPr bwMode="auto">
              <a:xfrm>
                <a:off x="690284" y="858793"/>
                <a:ext cx="3239715" cy="68738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</a:t>
                </a:r>
              </a:p>
            </p:txBody>
          </p:sp>
        </mc:Choice>
        <mc:Fallback xmlns="">
          <p:sp>
            <p:nvSpPr>
              <p:cNvPr id="9319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284" y="858793"/>
                <a:ext cx="3239715" cy="687386"/>
              </a:xfrm>
              <a:prstGeom prst="rect">
                <a:avLst/>
              </a:prstGeom>
              <a:blipFill>
                <a:blip r:embed="rId2"/>
                <a:stretch>
                  <a:fillRect l="-1880" t="-5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200" name="Object 16"/>
              <p:cNvSpPr txBox="1"/>
              <p:nvPr/>
            </p:nvSpPr>
            <p:spPr bwMode="auto">
              <a:xfrm>
                <a:off x="762001" y="1711325"/>
                <a:ext cx="4928944" cy="1003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320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1" y="1711325"/>
                <a:ext cx="4928944" cy="1003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202" name="Object 18"/>
          <p:cNvSpPr txBox="1"/>
          <p:nvPr/>
        </p:nvSpPr>
        <p:spPr bwMode="auto">
          <a:xfrm>
            <a:off x="5762661" y="1916831"/>
            <a:ext cx="3275856" cy="797793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Фурье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(спектральная функция)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203" name="Object 19"/>
              <p:cNvSpPr txBox="1"/>
              <p:nvPr/>
            </p:nvSpPr>
            <p:spPr bwMode="auto">
              <a:xfrm>
                <a:off x="706683" y="4453243"/>
                <a:ext cx="7651750" cy="108753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заданного</a:t>
                </a:r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ru-RU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это комплексная амплитуда, с которой чистое колебание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m:rPr>
                        <m:nor/>
                      </m:rPr>
                      <a:rPr lang="ru-RU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представлено 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9320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6683" y="4453243"/>
                <a:ext cx="7651750" cy="1087536"/>
              </a:xfrm>
              <a:prstGeom prst="rect">
                <a:avLst/>
              </a:prstGeom>
              <a:blipFill>
                <a:blip r:embed="rId4"/>
                <a:stretch>
                  <a:fillRect l="-717" t="-33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204" name="Object 20"/>
              <p:cNvSpPr txBox="1"/>
              <p:nvPr/>
            </p:nvSpPr>
            <p:spPr bwMode="auto">
              <a:xfrm>
                <a:off x="785568" y="5500688"/>
                <a:ext cx="7818880" cy="6556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ℂ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func>
                          <m:func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𝑙𝑖𝑚</m:t>
                                </m:r>
                              </m:e>
                              <m:lim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→±∞</m:t>
                                </m:r>
                              </m:lim>
                            </m:limLow>
                          </m:fName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func>
                      </m:e>
                    </m:acc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ru-RU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20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568" y="5500688"/>
                <a:ext cx="7818880" cy="655637"/>
              </a:xfrm>
              <a:prstGeom prst="rect">
                <a:avLst/>
              </a:prstGeom>
              <a:blipFill>
                <a:blip r:embed="rId5"/>
                <a:stretch>
                  <a:fillRect t="-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205" name="Object 21"/>
          <p:cNvSpPr txBox="1"/>
          <p:nvPr/>
        </p:nvSpPr>
        <p:spPr bwMode="auto">
          <a:xfrm>
            <a:off x="695934" y="2992602"/>
            <a:ext cx="2923524" cy="393294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Альтернативные варианты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207" name="Object 23"/>
              <p:cNvSpPr txBox="1"/>
              <p:nvPr/>
            </p:nvSpPr>
            <p:spPr bwMode="auto">
              <a:xfrm>
                <a:off x="971600" y="3446868"/>
                <a:ext cx="7477769" cy="79779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320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3446868"/>
                <a:ext cx="7477769" cy="7977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 стрелкой 12"/>
          <p:cNvCxnSpPr/>
          <p:nvPr/>
        </p:nvCxnSpPr>
        <p:spPr>
          <a:xfrm flipV="1">
            <a:off x="3739291" y="1080628"/>
            <a:ext cx="857256" cy="7143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320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469064"/>
              </p:ext>
            </p:extLst>
          </p:nvPr>
        </p:nvGraphicFramePr>
        <p:xfrm>
          <a:off x="4532558" y="544517"/>
          <a:ext cx="6111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00" imgH="457200" progId="Equation.DSMT4">
                  <p:embed/>
                </p:oleObj>
              </mc:Choice>
              <mc:Fallback>
                <p:oleObj name="Equation" r:id="rId7" imgW="253800" imgH="457200" progId="Equation.DSMT4">
                  <p:embed/>
                  <p:pic>
                    <p:nvPicPr>
                      <p:cNvPr id="9320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558" y="544517"/>
                        <a:ext cx="611187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176A736-E60E-450B-973E-4ACDF4765394}"/>
              </a:ext>
            </a:extLst>
          </p:cNvPr>
          <p:cNvSpPr txBox="1"/>
          <p:nvPr/>
        </p:nvSpPr>
        <p:spPr>
          <a:xfrm>
            <a:off x="3662149" y="357301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</a:p>
        </p:txBody>
      </p:sp>
    </p:spTree>
    <p:extLst>
      <p:ext uri="{BB962C8B-B14F-4D97-AF65-F5344CB8AC3E}">
        <p14:creationId xmlns:p14="http://schemas.microsoft.com/office/powerpoint/2010/main" val="134638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</a:p>
        </p:txBody>
      </p:sp>
      <p:grpSp>
        <p:nvGrpSpPr>
          <p:cNvPr id="23" name="Группа 22"/>
          <p:cNvGrpSpPr/>
          <p:nvPr/>
        </p:nvGrpSpPr>
        <p:grpSpPr>
          <a:xfrm>
            <a:off x="285720" y="1584325"/>
            <a:ext cx="7715304" cy="1943100"/>
            <a:chOff x="285720" y="1584325"/>
            <a:chExt cx="7715304" cy="1943100"/>
          </a:xfrm>
        </p:grpSpPr>
        <p:graphicFrame>
          <p:nvGraphicFramePr>
            <p:cNvPr id="376836" name="Object 4"/>
            <p:cNvGraphicFramePr>
              <a:graphicFrameLocks noChangeAspect="1"/>
            </p:cNvGraphicFramePr>
            <p:nvPr/>
          </p:nvGraphicFramePr>
          <p:xfrm>
            <a:off x="1157283" y="2053563"/>
            <a:ext cx="2843213" cy="1028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57120" imgH="457200" progId="Equation.DSMT4">
                    <p:embed/>
                  </p:oleObj>
                </mc:Choice>
                <mc:Fallback>
                  <p:oleObj name="Equation" r:id="rId2" imgW="1257120" imgH="457200" progId="Equation.DSMT4">
                    <p:embed/>
                    <p:pic>
                      <p:nvPicPr>
                        <p:cNvPr id="37683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7283" y="2053563"/>
                          <a:ext cx="2843213" cy="1028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285720" y="2284810"/>
              <a:ext cx="50003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>
                  <a:latin typeface="Times New Roman" pitchFamily="18" charset="0"/>
                  <a:cs typeface="Times New Roman" pitchFamily="18" charset="0"/>
                </a:rPr>
                <a:t>1)</a:t>
              </a:r>
              <a:endParaRPr lang="ru-RU" sz="26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376837" name="Object 5"/>
            <p:cNvGraphicFramePr>
              <a:graphicFrameLocks noChangeAspect="1"/>
            </p:cNvGraphicFramePr>
            <p:nvPr/>
          </p:nvGraphicFramePr>
          <p:xfrm>
            <a:off x="4870474" y="1584325"/>
            <a:ext cx="3130550" cy="194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84200" imgH="863280" progId="Equation.DSMT4">
                    <p:embed/>
                  </p:oleObj>
                </mc:Choice>
                <mc:Fallback>
                  <p:oleObj name="Equation" r:id="rId4" imgW="1384200" imgH="863280" progId="Equation.DSMT4">
                    <p:embed/>
                    <p:pic>
                      <p:nvPicPr>
                        <p:cNvPr id="3768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0474" y="1584325"/>
                          <a:ext cx="3130550" cy="1943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Группа 23"/>
          <p:cNvGrpSpPr/>
          <p:nvPr/>
        </p:nvGrpSpPr>
        <p:grpSpPr>
          <a:xfrm>
            <a:off x="1000068" y="3927884"/>
            <a:ext cx="6890411" cy="1831911"/>
            <a:chOff x="1000068" y="3927884"/>
            <a:chExt cx="6890411" cy="1831911"/>
          </a:xfrm>
        </p:grpSpPr>
        <p:pic>
          <p:nvPicPr>
            <p:cNvPr id="376838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60000">
              <a:off x="1000068" y="4213636"/>
              <a:ext cx="3088711" cy="1428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376839" name="Object 7"/>
            <p:cNvGraphicFramePr>
              <a:graphicFrameLocks noChangeAspect="1"/>
            </p:cNvGraphicFramePr>
            <p:nvPr/>
          </p:nvGraphicFramePr>
          <p:xfrm>
            <a:off x="2017133" y="4070760"/>
            <a:ext cx="466820" cy="309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04560" imgH="203040" progId="Equation.DSMT4">
                    <p:embed/>
                  </p:oleObj>
                </mc:Choice>
                <mc:Fallback>
                  <p:oleObj name="Equation" r:id="rId7" imgW="304560" imgH="203040" progId="Equation.DSMT4">
                    <p:embed/>
                    <p:pic>
                      <p:nvPicPr>
                        <p:cNvPr id="37683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7133" y="4070760"/>
                          <a:ext cx="466820" cy="30977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76840" name="Picture 8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 rot="60000">
              <a:off x="4819758" y="3954543"/>
              <a:ext cx="3070721" cy="1805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376841" name="Object 9"/>
            <p:cNvGraphicFramePr>
              <a:graphicFrameLocks noChangeAspect="1"/>
            </p:cNvGraphicFramePr>
            <p:nvPr/>
          </p:nvGraphicFramePr>
          <p:xfrm>
            <a:off x="5476855" y="3927884"/>
            <a:ext cx="738187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82400" imgH="203040" progId="Equation.DSMT4">
                    <p:embed/>
                  </p:oleObj>
                </mc:Choice>
                <mc:Fallback>
                  <p:oleObj name="Equation" r:id="rId10" imgW="482400" imgH="203040" progId="Equation.DSMT4">
                    <p:embed/>
                    <p:pic>
                      <p:nvPicPr>
                        <p:cNvPr id="37684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6855" y="3927884"/>
                          <a:ext cx="738187" cy="3095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4266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</a:p>
        </p:txBody>
      </p:sp>
      <p:graphicFrame>
        <p:nvGraphicFramePr>
          <p:cNvPr id="376836" name="Object 4"/>
          <p:cNvGraphicFramePr>
            <a:graphicFrameLocks noChangeAspect="1"/>
          </p:cNvGraphicFramePr>
          <p:nvPr/>
        </p:nvGraphicFramePr>
        <p:xfrm>
          <a:off x="693738" y="828664"/>
          <a:ext cx="40211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457200" progId="Equation.DSMT4">
                  <p:embed/>
                </p:oleObj>
              </mc:Choice>
              <mc:Fallback>
                <p:oleObj name="Equation" r:id="rId2" imgW="1777680" imgH="457200" progId="Equation.DSMT4">
                  <p:embed/>
                  <p:pic>
                    <p:nvPicPr>
                      <p:cNvPr id="3768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828664"/>
                        <a:ext cx="4021138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5720" y="1059249"/>
            <a:ext cx="5000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2)</a:t>
            </a:r>
            <a:endParaRPr lang="ru-RU" sz="2600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1222399" y="2071678"/>
          <a:ext cx="677862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000" imgH="469800" progId="Equation.DSMT4">
                  <p:embed/>
                </p:oleObj>
              </mc:Choice>
              <mc:Fallback>
                <p:oleObj name="Equation" r:id="rId4" imgW="2997000" imgH="469800" progId="Equation.DSMT4">
                  <p:embed/>
                  <p:pic>
                    <p:nvPicPr>
                      <p:cNvPr id="3768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99" y="2071678"/>
                        <a:ext cx="6778625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2" name="Object 6"/>
          <p:cNvGraphicFramePr>
            <a:graphicFrameLocks noChangeAspect="1"/>
          </p:cNvGraphicFramePr>
          <p:nvPr/>
        </p:nvGraphicFramePr>
        <p:xfrm>
          <a:off x="749300" y="3143248"/>
          <a:ext cx="7605713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5720" imgH="457200" progId="Equation.DSMT4">
                  <p:embed/>
                </p:oleObj>
              </mc:Choice>
              <mc:Fallback>
                <p:oleObj name="Equation" r:id="rId6" imgW="3555720" imgH="457200" progId="Equation.DSMT4">
                  <p:embed/>
                  <p:pic>
                    <p:nvPicPr>
                      <p:cNvPr id="3778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3143248"/>
                        <a:ext cx="7605713" cy="973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Группа 18"/>
          <p:cNvGrpSpPr/>
          <p:nvPr/>
        </p:nvGrpSpPr>
        <p:grpSpPr>
          <a:xfrm>
            <a:off x="857224" y="4214818"/>
            <a:ext cx="7090222" cy="1954704"/>
            <a:chOff x="857224" y="4214818"/>
            <a:chExt cx="7090222" cy="1954704"/>
          </a:xfrm>
        </p:grpSpPr>
        <p:pic>
          <p:nvPicPr>
            <p:cNvPr id="16" name="Рисунок 15" descr="111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2000" y="4214818"/>
              <a:ext cx="3375446" cy="1928826"/>
            </a:xfrm>
            <a:prstGeom prst="rect">
              <a:avLst/>
            </a:prstGeom>
          </p:spPr>
        </p:pic>
        <p:pic>
          <p:nvPicPr>
            <p:cNvPr id="377863" name="Picture 7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857224" y="4572008"/>
              <a:ext cx="3307854" cy="15716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376839" name="Object 7"/>
            <p:cNvGraphicFramePr>
              <a:graphicFrameLocks noChangeAspect="1"/>
            </p:cNvGraphicFramePr>
            <p:nvPr/>
          </p:nvGraphicFramePr>
          <p:xfrm>
            <a:off x="1978973" y="4476543"/>
            <a:ext cx="466820" cy="309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04560" imgH="203040" progId="Equation.DSMT4">
                    <p:embed/>
                  </p:oleObj>
                </mc:Choice>
                <mc:Fallback>
                  <p:oleObj name="Equation" r:id="rId10" imgW="304560" imgH="203040" progId="Equation.DSMT4">
                    <p:embed/>
                    <p:pic>
                      <p:nvPicPr>
                        <p:cNvPr id="37683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8973" y="4476543"/>
                          <a:ext cx="466820" cy="30977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6841" name="Object 9"/>
            <p:cNvGraphicFramePr>
              <a:graphicFrameLocks noChangeAspect="1"/>
            </p:cNvGraphicFramePr>
            <p:nvPr/>
          </p:nvGraphicFramePr>
          <p:xfrm>
            <a:off x="5334011" y="4357694"/>
            <a:ext cx="738187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82400" imgH="203040" progId="Equation.DSMT4">
                    <p:embed/>
                  </p:oleObj>
                </mc:Choice>
                <mc:Fallback>
                  <p:oleObj name="Equation" r:id="rId12" imgW="482400" imgH="203040" progId="Equation.DSMT4">
                    <p:embed/>
                    <p:pic>
                      <p:nvPicPr>
                        <p:cNvPr id="37684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011" y="4357694"/>
                          <a:ext cx="738187" cy="3095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Прямоугольник 16"/>
            <p:cNvSpPr/>
            <p:nvPr/>
          </p:nvSpPr>
          <p:spPr>
            <a:xfrm>
              <a:off x="6706514" y="6026646"/>
              <a:ext cx="500066" cy="1428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377865" name="Object 9"/>
            <p:cNvGraphicFramePr>
              <a:graphicFrameLocks noChangeAspect="1"/>
            </p:cNvGraphicFramePr>
            <p:nvPr/>
          </p:nvGraphicFramePr>
          <p:xfrm>
            <a:off x="7500958" y="5929330"/>
            <a:ext cx="231775" cy="21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80" imgH="139680" progId="Equation.DSMT4">
                    <p:embed/>
                  </p:oleObj>
                </mc:Choice>
                <mc:Fallback>
                  <p:oleObj name="Equation" r:id="rId14" imgW="152280" imgH="139680" progId="Equation.DSMT4">
                    <p:embed/>
                    <p:pic>
                      <p:nvPicPr>
                        <p:cNvPr id="37786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0958" y="5929330"/>
                          <a:ext cx="231775" cy="2127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3423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</a:p>
        </p:txBody>
      </p:sp>
      <p:graphicFrame>
        <p:nvGraphicFramePr>
          <p:cNvPr id="376836" name="Object 4"/>
          <p:cNvGraphicFramePr>
            <a:graphicFrameLocks noChangeAspect="1"/>
          </p:cNvGraphicFramePr>
          <p:nvPr/>
        </p:nvGraphicFramePr>
        <p:xfrm>
          <a:off x="785786" y="1057262"/>
          <a:ext cx="18383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228600" progId="Equation.DSMT4">
                  <p:embed/>
                </p:oleObj>
              </mc:Choice>
              <mc:Fallback>
                <p:oleObj name="Equation" r:id="rId2" imgW="812520" imgH="228600" progId="Equation.DSMT4">
                  <p:embed/>
                  <p:pic>
                    <p:nvPicPr>
                      <p:cNvPr id="3768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1057262"/>
                        <a:ext cx="18383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5720" y="1059249"/>
            <a:ext cx="5000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3)</a:t>
            </a:r>
            <a:endParaRPr lang="ru-RU" sz="2600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285720" y="1714488"/>
          <a:ext cx="8583641" cy="1012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62160" imgH="469800" progId="Equation.DSMT4">
                  <p:embed/>
                </p:oleObj>
              </mc:Choice>
              <mc:Fallback>
                <p:oleObj name="Equation" r:id="rId4" imgW="3962160" imgH="469800" progId="Equation.DSMT4">
                  <p:embed/>
                  <p:pic>
                    <p:nvPicPr>
                      <p:cNvPr id="3768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714488"/>
                        <a:ext cx="8583641" cy="1012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Группа 14"/>
          <p:cNvGrpSpPr/>
          <p:nvPr/>
        </p:nvGrpSpPr>
        <p:grpSpPr>
          <a:xfrm>
            <a:off x="142844" y="3214686"/>
            <a:ext cx="8241679" cy="3000396"/>
            <a:chOff x="142844" y="3214686"/>
            <a:chExt cx="8241679" cy="3000396"/>
          </a:xfrm>
        </p:grpSpPr>
        <p:pic>
          <p:nvPicPr>
            <p:cNvPr id="378889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60000">
              <a:off x="4880653" y="3387935"/>
              <a:ext cx="3503870" cy="2654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78888" name="Picture 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42844" y="4357694"/>
              <a:ext cx="4101615" cy="1857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376839" name="Object 7"/>
            <p:cNvGraphicFramePr>
              <a:graphicFrameLocks noChangeAspect="1"/>
            </p:cNvGraphicFramePr>
            <p:nvPr/>
          </p:nvGraphicFramePr>
          <p:xfrm>
            <a:off x="1714480" y="4357694"/>
            <a:ext cx="466820" cy="309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560" imgH="203040" progId="Equation.DSMT4">
                    <p:embed/>
                  </p:oleObj>
                </mc:Choice>
                <mc:Fallback>
                  <p:oleObj name="Equation" r:id="rId8" imgW="304560" imgH="203040" progId="Equation.DSMT4">
                    <p:embed/>
                    <p:pic>
                      <p:nvPicPr>
                        <p:cNvPr id="37683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480" y="4357694"/>
                          <a:ext cx="466820" cy="30977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6841" name="Object 9"/>
            <p:cNvGraphicFramePr>
              <a:graphicFrameLocks noChangeAspect="1"/>
            </p:cNvGraphicFramePr>
            <p:nvPr/>
          </p:nvGraphicFramePr>
          <p:xfrm>
            <a:off x="4691069" y="3214686"/>
            <a:ext cx="738187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82400" imgH="203040" progId="Equation.DSMT4">
                    <p:embed/>
                  </p:oleObj>
                </mc:Choice>
                <mc:Fallback>
                  <p:oleObj name="Equation" r:id="rId10" imgW="482400" imgH="203040" progId="Equation.DSMT4">
                    <p:embed/>
                    <p:pic>
                      <p:nvPicPr>
                        <p:cNvPr id="37684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1069" y="3214686"/>
                          <a:ext cx="738187" cy="3095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Прямоугольник 16"/>
          <p:cNvSpPr/>
          <p:nvPr/>
        </p:nvSpPr>
        <p:spPr>
          <a:xfrm>
            <a:off x="6706514" y="6026646"/>
            <a:ext cx="50006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19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 descr="untitled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85852" y="3786190"/>
            <a:ext cx="7695671" cy="2571768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</a:p>
        </p:txBody>
      </p:sp>
      <p:pic>
        <p:nvPicPr>
          <p:cNvPr id="18" name="Рисунок 17" descr="untitled1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5853" y="642918"/>
            <a:ext cx="7670794" cy="2643206"/>
          </a:xfrm>
          <a:prstGeom prst="rect">
            <a:avLst/>
          </a:prstGeom>
        </p:spPr>
      </p:pic>
      <p:sp>
        <p:nvSpPr>
          <p:cNvPr id="98315" name="Object 11"/>
          <p:cNvSpPr txBox="1"/>
          <p:nvPr/>
        </p:nvSpPr>
        <p:spPr bwMode="auto">
          <a:xfrm>
            <a:off x="3740083" y="3212976"/>
            <a:ext cx="3021159" cy="720079"/>
          </a:xfrm>
          <a:prstGeom prst="rect">
            <a:avLst/>
          </a:prstGeom>
          <a:noFill/>
        </p:spPr>
        <p:txBody>
          <a:bodyPr>
            <a:normAutofit fontScale="92500" lnSpcReduction="10000"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Фурье </a:t>
            </a:r>
          </a:p>
        </p:txBody>
      </p:sp>
      <p:cxnSp>
        <p:nvCxnSpPr>
          <p:cNvPr id="21" name="Прямая со стрелкой 20"/>
          <p:cNvCxnSpPr/>
          <p:nvPr/>
        </p:nvCxnSpPr>
        <p:spPr>
          <a:xfrm rot="5400000">
            <a:off x="3358349" y="3571876"/>
            <a:ext cx="571504" cy="1588"/>
          </a:xfrm>
          <a:prstGeom prst="straightConnector1">
            <a:avLst/>
          </a:prstGeom>
          <a:ln w="508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rot="5400000">
            <a:off x="6571471" y="3571082"/>
            <a:ext cx="571504" cy="1588"/>
          </a:xfrm>
          <a:prstGeom prst="straightConnector1">
            <a:avLst/>
          </a:prstGeom>
          <a:ln w="508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316" name="Object 12"/>
              <p:cNvSpPr txBox="1"/>
              <p:nvPr/>
            </p:nvSpPr>
            <p:spPr bwMode="auto">
              <a:xfrm>
                <a:off x="39965" y="3140968"/>
                <a:ext cx="2267976" cy="91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</m:oMathPara>
                </a14:m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шум</a:t>
                </a:r>
              </a:p>
            </p:txBody>
          </p:sp>
        </mc:Choice>
        <mc:Fallback xmlns="">
          <p:sp>
            <p:nvSpPr>
              <p:cNvPr id="9831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65" y="3140968"/>
                <a:ext cx="2267976" cy="911225"/>
              </a:xfrm>
              <a:prstGeom prst="rect">
                <a:avLst/>
              </a:prstGeom>
              <a:blipFill>
                <a:blip r:embed="rId4"/>
                <a:stretch>
                  <a:fillRect l="-8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CCBEDB-21C9-4734-8C96-F3B6E617F25B}"/>
              </a:ext>
            </a:extLst>
          </p:cNvPr>
          <p:cNvSpPr/>
          <p:nvPr/>
        </p:nvSpPr>
        <p:spPr>
          <a:xfrm>
            <a:off x="7164288" y="2924944"/>
            <a:ext cx="648072" cy="288032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B0E142-C164-4979-B295-C7C9860E687D}"/>
              </a:ext>
            </a:extLst>
          </p:cNvPr>
          <p:cNvSpPr/>
          <p:nvPr/>
        </p:nvSpPr>
        <p:spPr>
          <a:xfrm>
            <a:off x="7092280" y="5939626"/>
            <a:ext cx="765868" cy="36969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870BD-644A-4996-A8BF-A265042F9D67}"/>
                  </a:ext>
                </a:extLst>
              </p:cNvPr>
              <p:cNvSpPr txBox="1"/>
              <p:nvPr/>
            </p:nvSpPr>
            <p:spPr>
              <a:xfrm>
                <a:off x="7308304" y="2838569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мс</a:t>
                </a:r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870BD-644A-4996-A8BF-A265042F9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304" y="2838569"/>
                <a:ext cx="720080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F11EF7-1F15-4666-8D0B-270475B01FF8}"/>
                  </a:ext>
                </a:extLst>
              </p:cNvPr>
              <p:cNvSpPr txBox="1"/>
              <p:nvPr/>
            </p:nvSpPr>
            <p:spPr>
              <a:xfrm>
                <a:off x="7164288" y="5930596"/>
                <a:ext cx="86409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кГц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F11EF7-1F15-4666-8D0B-270475B0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288" y="5930596"/>
                <a:ext cx="86409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41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 </a:t>
            </a:r>
          </a:p>
        </p:txBody>
      </p:sp>
      <p:pic>
        <p:nvPicPr>
          <p:cNvPr id="9" name="Рисунок 8" descr="signal_1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3294" y="628617"/>
            <a:ext cx="6687938" cy="2384000"/>
          </a:xfrm>
          <a:prstGeom prst="rect">
            <a:avLst/>
          </a:prstGeom>
        </p:spPr>
      </p:pic>
      <p:pic>
        <p:nvPicPr>
          <p:cNvPr id="11" name="Рисунок 10" descr="FFT_t1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3768" y="3793522"/>
            <a:ext cx="6687938" cy="2483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9332" name="Object 4"/>
              <p:cNvSpPr txBox="1"/>
              <p:nvPr/>
            </p:nvSpPr>
            <p:spPr bwMode="auto">
              <a:xfrm>
                <a:off x="0" y="2808102"/>
                <a:ext cx="3714750" cy="1335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unc>
                                <m:func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∈[0,166]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unc>
                                <m:func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∈[167,370]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unc>
                                <m:func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∈[371,512]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933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808102"/>
                <a:ext cx="3714750" cy="1335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DFDE85-82E6-4AF3-92C8-8E72AE24B087}"/>
              </a:ext>
            </a:extLst>
          </p:cNvPr>
          <p:cNvSpPr/>
          <p:nvPr/>
        </p:nvSpPr>
        <p:spPr>
          <a:xfrm>
            <a:off x="7668344" y="2719750"/>
            <a:ext cx="648072" cy="288032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52E692-FBBF-4356-A41B-5F10BD28A628}"/>
              </a:ext>
            </a:extLst>
          </p:cNvPr>
          <p:cNvSpPr/>
          <p:nvPr/>
        </p:nvSpPr>
        <p:spPr>
          <a:xfrm>
            <a:off x="7668344" y="5918525"/>
            <a:ext cx="720080" cy="358330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BAC595-6272-4569-895B-99021BC0B901}"/>
                  </a:ext>
                </a:extLst>
              </p:cNvPr>
              <p:cNvSpPr txBox="1"/>
              <p:nvPr/>
            </p:nvSpPr>
            <p:spPr>
              <a:xfrm>
                <a:off x="7668344" y="2651189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мс</a:t>
                </a:r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BAC595-6272-4569-895B-99021BC0B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4" y="2651189"/>
                <a:ext cx="720080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872BAE-41E0-492F-9719-74991D61C192}"/>
                  </a:ext>
                </a:extLst>
              </p:cNvPr>
              <p:cNvSpPr txBox="1"/>
              <p:nvPr/>
            </p:nvSpPr>
            <p:spPr>
              <a:xfrm>
                <a:off x="7596336" y="5918525"/>
                <a:ext cx="86409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кГц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872BAE-41E0-492F-9719-74991D61C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336" y="5918525"/>
                <a:ext cx="86409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989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</a:p>
        </p:txBody>
      </p:sp>
      <p:pic>
        <p:nvPicPr>
          <p:cNvPr id="6" name="Рисунок 5" descr="signal_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5326" y="697511"/>
            <a:ext cx="6687938" cy="2443600"/>
          </a:xfrm>
          <a:prstGeom prst="rect">
            <a:avLst/>
          </a:prstGeom>
        </p:spPr>
      </p:pic>
      <p:pic>
        <p:nvPicPr>
          <p:cNvPr id="7" name="Рисунок 6" descr="FFT_t2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60466" y="3988718"/>
            <a:ext cx="6687938" cy="238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9332" name="Object 4"/>
              <p:cNvSpPr txBox="1"/>
              <p:nvPr/>
            </p:nvSpPr>
            <p:spPr bwMode="auto">
              <a:xfrm>
                <a:off x="-36512" y="3017441"/>
                <a:ext cx="3714750" cy="1335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unc>
                                <m:funcPr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∈[0,166]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unc>
                                <m:funcPr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∈[167,370]</m:t>
                              </m:r>
                            </m:e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unc>
                                <m:funcPr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∈[371,512]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933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6512" y="3017441"/>
                <a:ext cx="3714750" cy="1335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7184399-C920-4E2F-BBE7-D81A75933431}"/>
              </a:ext>
            </a:extLst>
          </p:cNvPr>
          <p:cNvSpPr/>
          <p:nvPr/>
        </p:nvSpPr>
        <p:spPr>
          <a:xfrm>
            <a:off x="7740352" y="2886243"/>
            <a:ext cx="648072" cy="288032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8B7D2FD-9CC4-40A3-A852-489C6E70A431}"/>
              </a:ext>
            </a:extLst>
          </p:cNvPr>
          <p:cNvSpPr/>
          <p:nvPr/>
        </p:nvSpPr>
        <p:spPr>
          <a:xfrm>
            <a:off x="7668344" y="5982620"/>
            <a:ext cx="648072" cy="360040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1AE185-4651-49C3-8265-95E8FCC88631}"/>
                  </a:ext>
                </a:extLst>
              </p:cNvPr>
              <p:cNvSpPr txBox="1"/>
              <p:nvPr/>
            </p:nvSpPr>
            <p:spPr>
              <a:xfrm>
                <a:off x="7704348" y="2854730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мс</a:t>
                </a:r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1AE185-4651-49C3-8265-95E8FCC88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348" y="2854730"/>
                <a:ext cx="720080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177C84-694C-437F-8405-7C1F0D1A6D52}"/>
                  </a:ext>
                </a:extLst>
              </p:cNvPr>
              <p:cNvSpPr txBox="1"/>
              <p:nvPr/>
            </p:nvSpPr>
            <p:spPr>
              <a:xfrm>
                <a:off x="7632340" y="5952562"/>
                <a:ext cx="86409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кГц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177C84-694C-437F-8405-7C1F0D1A6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340" y="5952562"/>
                <a:ext cx="86409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506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1547664" y="1997839"/>
            <a:ext cx="632226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10000"/>
              </a:spcBef>
            </a:pPr>
            <a:r>
              <a:rPr lang="ru-RU" sz="6000" b="1" dirty="0">
                <a:solidFill>
                  <a:srgbClr val="C00000"/>
                </a:solidFill>
              </a:rPr>
              <a:t>Фурье-анализ дискретных сигналов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Сигналы </a:t>
            </a:r>
          </a:p>
        </p:txBody>
      </p:sp>
      <p:pic>
        <p:nvPicPr>
          <p:cNvPr id="32871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20000">
            <a:off x="981039" y="755289"/>
            <a:ext cx="2932921" cy="1740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4000496" y="1204706"/>
            <a:ext cx="47149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Аналоговый (математический) сигнал </a:t>
            </a:r>
            <a:r>
              <a:rPr lang="ru-RU" sz="2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непрерывный сигнал </a:t>
            </a:r>
            <a:endParaRPr lang="en-US" sz="2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971752" y="2621852"/>
            <a:ext cx="7962798" cy="1695450"/>
            <a:chOff x="971752" y="2621852"/>
            <a:chExt cx="7962798" cy="1695450"/>
          </a:xfrm>
        </p:grpSpPr>
        <p:sp>
          <p:nvSpPr>
            <p:cNvPr id="17" name="TextBox 16"/>
            <p:cNvSpPr txBox="1"/>
            <p:nvPr/>
          </p:nvSpPr>
          <p:spPr>
            <a:xfrm>
              <a:off x="3943446" y="3212976"/>
              <a:ext cx="499110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600" b="1" dirty="0">
                  <a:latin typeface="Times New Roman" pitchFamily="18" charset="0"/>
                  <a:cs typeface="Times New Roman" pitchFamily="18" charset="0"/>
                </a:rPr>
                <a:t>Дискретный сигнал </a:t>
              </a:r>
              <a:endParaRPr lang="en-US" sz="2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ru-RU" sz="2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отсчет по дискретному времени </a:t>
              </a:r>
              <a:endParaRPr lang="en-US" sz="2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328713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20000">
              <a:off x="971752" y="2621852"/>
              <a:ext cx="2901103" cy="1695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1" name="Группа 10"/>
          <p:cNvGrpSpPr/>
          <p:nvPr/>
        </p:nvGrpSpPr>
        <p:grpSpPr>
          <a:xfrm>
            <a:off x="887538" y="4516178"/>
            <a:ext cx="8073530" cy="1789751"/>
            <a:chOff x="887538" y="4516178"/>
            <a:chExt cx="8073530" cy="1789751"/>
          </a:xfrm>
        </p:grpSpPr>
        <p:pic>
          <p:nvPicPr>
            <p:cNvPr id="328714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20000">
              <a:off x="887538" y="4516178"/>
              <a:ext cx="3012851" cy="1789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0" name="TextBox 19"/>
            <p:cNvSpPr txBox="1"/>
            <p:nvPr/>
          </p:nvSpPr>
          <p:spPr>
            <a:xfrm>
              <a:off x="4139952" y="4821136"/>
              <a:ext cx="4821116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600" b="1" dirty="0">
                  <a:latin typeface="Times New Roman" pitchFamily="18" charset="0"/>
                  <a:cs typeface="Times New Roman" pitchFamily="18" charset="0"/>
                </a:rPr>
                <a:t>Цифровой сигнал</a:t>
              </a:r>
              <a:endParaRPr lang="en-US" sz="2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ru-RU" sz="2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Дискретные отсчеты времени и значений </a:t>
              </a:r>
              <a:endParaRPr lang="en-US" sz="2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FFEC1D8-370E-4DD9-B334-022F21E2C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Дискретизация сигнала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209FB-9498-4E99-BF40-3D0F36F66182}"/>
              </a:ext>
            </a:extLst>
          </p:cNvPr>
          <p:cNvSpPr txBox="1"/>
          <p:nvPr/>
        </p:nvSpPr>
        <p:spPr>
          <a:xfrm>
            <a:off x="251520" y="620713"/>
            <a:ext cx="403244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0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сигнала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это преобразование непрерывного аналогового сигнала в последовательность его значений в дискретные моменты времени.</a:t>
            </a:r>
          </a:p>
          <a:p>
            <a:pPr algn="just"/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9D1C43-89DE-4593-A549-AC50C8390190}"/>
                  </a:ext>
                </a:extLst>
              </p:cNvPr>
              <p:cNvSpPr txBox="1"/>
              <p:nvPr/>
            </p:nvSpPr>
            <p:spPr>
              <a:xfrm>
                <a:off x="4503827" y="1052736"/>
                <a:ext cx="156592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</a:t>
                </a:r>
                <a:r>
                  <a:rPr lang="ru-RU" sz="18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епрерывная </a:t>
                </a:r>
              </a:p>
              <a:p>
                <a:pPr algn="ctr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ru-R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9D1C43-89DE-4593-A549-AC50C8390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827" y="1052736"/>
                <a:ext cx="1565920" cy="923330"/>
              </a:xfrm>
              <a:prstGeom prst="rect">
                <a:avLst/>
              </a:prstGeom>
              <a:blipFill>
                <a:blip r:embed="rId2"/>
                <a:stretch>
                  <a:fillRect l="-389" t="-3974" r="-2335" b="-52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03C913-D791-454F-B7EA-9829EABC9C83}"/>
                  </a:ext>
                </a:extLst>
              </p:cNvPr>
              <p:cNvSpPr txBox="1"/>
              <p:nvPr/>
            </p:nvSpPr>
            <p:spPr>
              <a:xfrm>
                <a:off x="6703550" y="836712"/>
                <a:ext cx="244045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Дискретный </a:t>
                </a:r>
                <a:endParaRPr 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сигнал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точках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03C913-D791-454F-B7EA-9829EABC9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550" y="836712"/>
                <a:ext cx="2440450" cy="1477328"/>
              </a:xfrm>
              <a:prstGeom prst="rect">
                <a:avLst/>
              </a:prstGeom>
              <a:blipFill>
                <a:blip r:embed="rId3"/>
                <a:stretch>
                  <a:fillRect t="-20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BD40E08E-0A46-4824-B7EF-FBC77D557B15}"/>
              </a:ext>
            </a:extLst>
          </p:cNvPr>
          <p:cNvCxnSpPr>
            <a:cxnSpLocks/>
          </p:cNvCxnSpPr>
          <p:nvPr/>
        </p:nvCxnSpPr>
        <p:spPr>
          <a:xfrm>
            <a:off x="6156176" y="1575376"/>
            <a:ext cx="666311" cy="0"/>
          </a:xfrm>
          <a:prstGeom prst="straightConnector1">
            <a:avLst/>
          </a:prstGeom>
          <a:ln w="508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D01A228-6439-4B72-91FA-84453939736F}"/>
              </a:ext>
            </a:extLst>
          </p:cNvPr>
          <p:cNvCxnSpPr>
            <a:cxnSpLocks/>
          </p:cNvCxnSpPr>
          <p:nvPr/>
        </p:nvCxnSpPr>
        <p:spPr>
          <a:xfrm>
            <a:off x="4499992" y="692696"/>
            <a:ext cx="0" cy="1584176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46A143D-C37E-4166-AD92-676EB61D5204}"/>
              </a:ext>
            </a:extLst>
          </p:cNvPr>
          <p:cNvSpPr/>
          <p:nvPr/>
        </p:nvSpPr>
        <p:spPr>
          <a:xfrm>
            <a:off x="183565" y="2814719"/>
            <a:ext cx="4415486" cy="3517631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67659FF-E264-4A9A-B881-A51AC175A0E3}"/>
              </a:ext>
            </a:extLst>
          </p:cNvPr>
          <p:cNvGrpSpPr/>
          <p:nvPr/>
        </p:nvGrpSpPr>
        <p:grpSpPr>
          <a:xfrm>
            <a:off x="5077980" y="1412775"/>
            <a:ext cx="3814500" cy="1384762"/>
            <a:chOff x="5066648" y="1401327"/>
            <a:chExt cx="3814500" cy="1384762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73978D4C-9D06-476F-B5F2-084496BA137B}"/>
                </a:ext>
              </a:extLst>
            </p:cNvPr>
            <p:cNvSpPr/>
            <p:nvPr/>
          </p:nvSpPr>
          <p:spPr>
            <a:xfrm>
              <a:off x="6948264" y="1401327"/>
              <a:ext cx="1932884" cy="360041"/>
            </a:xfrm>
            <a:prstGeom prst="round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3B3FE061-2C73-47BB-8A6A-8883F1C5C5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9647" y="1815232"/>
              <a:ext cx="718310" cy="629595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D21FAB7-808B-4307-8BCE-17F30F4B9E6D}"/>
                </a:ext>
              </a:extLst>
            </p:cNvPr>
            <p:cNvSpPr txBox="1"/>
            <p:nvPr/>
          </p:nvSpPr>
          <p:spPr>
            <a:xfrm>
              <a:off x="5066648" y="2416757"/>
              <a:ext cx="22859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Отсчеты (выборки)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DECFE53-7B13-44DF-82C9-C1BC93898298}"/>
              </a:ext>
            </a:extLst>
          </p:cNvPr>
          <p:cNvSpPr txBox="1"/>
          <p:nvPr/>
        </p:nvSpPr>
        <p:spPr>
          <a:xfrm>
            <a:off x="166773" y="2885518"/>
            <a:ext cx="44052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Периодическая дискретизация</a:t>
            </a:r>
            <a:endParaRPr lang="en-US" sz="1800" b="0" i="0" dirty="0">
              <a:solidFill>
                <a:srgbClr val="0000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(з</a:t>
            </a:r>
            <a:r>
              <a:rPr lang="ru-RU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ависимость между временными и частотными переменными)  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66BC3E4-2D37-423F-ADB1-DBE8E6BFA734}"/>
                  </a:ext>
                </a:extLst>
              </p:cNvPr>
              <p:cNvSpPr txBox="1"/>
              <p:nvPr/>
            </p:nvSpPr>
            <p:spPr>
              <a:xfrm>
                <a:off x="107504" y="3407601"/>
                <a:ext cx="4536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const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66BC3E4-2D37-423F-ADB1-DBE8E6BFA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407601"/>
                <a:ext cx="4536504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5CC0D7-FF5C-4C91-9AB6-E01EAFE1FC43}"/>
                  </a:ext>
                </a:extLst>
              </p:cNvPr>
              <p:cNvSpPr txBox="1"/>
              <p:nvPr/>
            </p:nvSpPr>
            <p:spPr>
              <a:xfrm>
                <a:off x="166773" y="3933558"/>
                <a:ext cx="2483768" cy="369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it-IT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4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sz="14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8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it-IT" sz="18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4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sz="18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8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𝑛𝑇</m:t>
                      </m:r>
                      <m:r>
                        <a:rPr lang="it-IT" sz="18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br>
                  <a:rPr lang="it-IT" dirty="0"/>
                </a:br>
                <a:endParaRPr lang="ru-R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5CC0D7-FF5C-4C91-9AB6-E01EAFE1F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73" y="3933558"/>
                <a:ext cx="2483768" cy="369397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B2E0696-CC6D-488B-A49A-79287E05FAD6}"/>
              </a:ext>
            </a:extLst>
          </p:cNvPr>
          <p:cNvSpPr txBox="1"/>
          <p:nvPr/>
        </p:nvSpPr>
        <p:spPr>
          <a:xfrm>
            <a:off x="251520" y="367892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B0C49AE3-DFF0-40DC-84D0-375A2C27FA90}"/>
              </a:ext>
            </a:extLst>
          </p:cNvPr>
          <p:cNvCxnSpPr>
            <a:cxnSpLocks/>
          </p:cNvCxnSpPr>
          <p:nvPr/>
        </p:nvCxnSpPr>
        <p:spPr>
          <a:xfrm>
            <a:off x="2513917" y="4149080"/>
            <a:ext cx="393480" cy="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678CED-850F-47F2-BEA2-8EBCB08F53D8}"/>
                  </a:ext>
                </a:extLst>
              </p:cNvPr>
              <p:cNvSpPr txBox="1"/>
              <p:nvPr/>
            </p:nvSpPr>
            <p:spPr>
              <a:xfrm>
                <a:off x="3021811" y="3837352"/>
                <a:ext cx="158711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678CED-850F-47F2-BEA2-8EBCB08F5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811" y="3837352"/>
                <a:ext cx="1587112" cy="553998"/>
              </a:xfrm>
              <a:prstGeom prst="rect">
                <a:avLst/>
              </a:prstGeom>
              <a:blipFill>
                <a:blip r:embed="rId6"/>
                <a:stretch>
                  <a:fillRect l="-5385" t="-14286" r="-11154" b="-175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E0F92A3-E948-46F9-AC63-1ADBD22A7A27}"/>
              </a:ext>
            </a:extLst>
          </p:cNvPr>
          <p:cNvCxnSpPr>
            <a:stCxn id="31" idx="1"/>
            <a:endCxn id="31" idx="3"/>
          </p:cNvCxnSpPr>
          <p:nvPr/>
        </p:nvCxnSpPr>
        <p:spPr>
          <a:xfrm>
            <a:off x="183565" y="4573535"/>
            <a:ext cx="4415486" cy="0"/>
          </a:xfrm>
          <a:prstGeom prst="line">
            <a:avLst/>
          </a:prstGeom>
          <a:ln w="19050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D08686-C2AB-4B34-9BAB-7F8B64C43101}"/>
                  </a:ext>
                </a:extLst>
              </p:cNvPr>
              <p:cNvSpPr txBox="1"/>
              <p:nvPr/>
            </p:nvSpPr>
            <p:spPr>
              <a:xfrm>
                <a:off x="150476" y="4686385"/>
                <a:ext cx="26034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D08686-C2AB-4B34-9BAB-7F8B64C43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76" y="4686385"/>
                <a:ext cx="2603443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31C60DD-FA5A-4223-9C6E-F70C5C8BE50E}"/>
                  </a:ext>
                </a:extLst>
              </p:cNvPr>
              <p:cNvSpPr txBox="1"/>
              <p:nvPr/>
            </p:nvSpPr>
            <p:spPr>
              <a:xfrm>
                <a:off x="-612576" y="5161974"/>
                <a:ext cx="54903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400" b="0" i="1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it-IT" sz="1800" b="0" i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800" b="0" i="1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it-IT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=…=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31C60DD-FA5A-4223-9C6E-F70C5C8BE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2576" y="5161974"/>
                <a:ext cx="5490308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2035F795-DC00-4840-B72B-F422C19804AA}"/>
              </a:ext>
            </a:extLst>
          </p:cNvPr>
          <p:cNvCxnSpPr>
            <a:cxnSpLocks/>
          </p:cNvCxnSpPr>
          <p:nvPr/>
        </p:nvCxnSpPr>
        <p:spPr>
          <a:xfrm>
            <a:off x="3942612" y="5346640"/>
            <a:ext cx="557380" cy="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246322-65FE-4076-A69A-8718F274C9C4}"/>
                  </a:ext>
                </a:extLst>
              </p:cNvPr>
              <p:cNvSpPr txBox="1"/>
              <p:nvPr/>
            </p:nvSpPr>
            <p:spPr>
              <a:xfrm>
                <a:off x="-428914" y="5613606"/>
                <a:ext cx="5490308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246322-65FE-4076-A69A-8718F274C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8914" y="5613606"/>
                <a:ext cx="5490308" cy="501804"/>
              </a:xfrm>
              <a:prstGeom prst="rect">
                <a:avLst/>
              </a:prstGeom>
              <a:blipFill>
                <a:blip r:embed="rId9"/>
                <a:stretch>
                  <a:fillRect t="-106098" b="-162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F9B60657-1784-429F-A8E5-544384670BBB}"/>
              </a:ext>
            </a:extLst>
          </p:cNvPr>
          <p:cNvCxnSpPr>
            <a:cxnSpLocks/>
          </p:cNvCxnSpPr>
          <p:nvPr/>
        </p:nvCxnSpPr>
        <p:spPr>
          <a:xfrm>
            <a:off x="3187893" y="4985018"/>
            <a:ext cx="531933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4A69AE-8393-41B1-91E1-43EA851EDFC0}"/>
                  </a:ext>
                </a:extLst>
              </p:cNvPr>
              <p:cNvSpPr txBox="1"/>
              <p:nvPr/>
            </p:nvSpPr>
            <p:spPr>
              <a:xfrm>
                <a:off x="3021811" y="4694424"/>
                <a:ext cx="86409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4A69AE-8393-41B1-91E1-43EA851ED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811" y="4694424"/>
                <a:ext cx="864096" cy="261610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08235C4A-2CAC-4258-88D3-F8877806C3CE}"/>
              </a:ext>
            </a:extLst>
          </p:cNvPr>
          <p:cNvSpPr/>
          <p:nvPr/>
        </p:nvSpPr>
        <p:spPr>
          <a:xfrm>
            <a:off x="4614744" y="2814719"/>
            <a:ext cx="4415486" cy="3517631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E2659E-7608-435F-AA68-D3EF1288BE55}"/>
              </a:ext>
            </a:extLst>
          </p:cNvPr>
          <p:cNvSpPr txBox="1"/>
          <p:nvPr/>
        </p:nvSpPr>
        <p:spPr>
          <a:xfrm>
            <a:off x="4546461" y="2907323"/>
            <a:ext cx="4337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через обобщенную функцию</a:t>
            </a:r>
            <a:r>
              <a:rPr lang="ru-RU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4A99DA-AFA7-4CB0-AE6B-2005E9E03275}"/>
                  </a:ext>
                </a:extLst>
              </p:cNvPr>
              <p:cNvSpPr txBox="1"/>
              <p:nvPr/>
            </p:nvSpPr>
            <p:spPr>
              <a:xfrm>
                <a:off x="4845978" y="3591170"/>
                <a:ext cx="1791451" cy="5988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4A99DA-AFA7-4CB0-AE6B-2005E9E03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978" y="3591170"/>
                <a:ext cx="1791451" cy="598882"/>
              </a:xfrm>
              <a:prstGeom prst="rect">
                <a:avLst/>
              </a:prstGeom>
              <a:blipFill>
                <a:blip r:embed="rId11"/>
                <a:stretch>
                  <a:fillRect b="-10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B7B13A95-E1FD-42C5-97FC-D7B8E67B2363}"/>
              </a:ext>
            </a:extLst>
          </p:cNvPr>
          <p:cNvCxnSpPr>
            <a:cxnSpLocks/>
          </p:cNvCxnSpPr>
          <p:nvPr/>
        </p:nvCxnSpPr>
        <p:spPr>
          <a:xfrm>
            <a:off x="6703612" y="3879291"/>
            <a:ext cx="393480" cy="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68DA5E-6946-442A-BD7C-D42A8E6CB9A7}"/>
                  </a:ext>
                </a:extLst>
              </p:cNvPr>
              <p:cNvSpPr txBox="1"/>
              <p:nvPr/>
            </p:nvSpPr>
            <p:spPr>
              <a:xfrm>
                <a:off x="7056688" y="3771537"/>
                <a:ext cx="1944635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sz="1400" b="0" i="1" dirty="0">
                    <a:latin typeface="Cambria Math" panose="02040503050406030204" pitchFamily="18" charset="0"/>
                  </a:rPr>
                </a:br>
                <a:endParaRPr lang="ru-RU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68DA5E-6946-442A-BD7C-D42A8E6CB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688" y="3771537"/>
                <a:ext cx="1944635" cy="215508"/>
              </a:xfrm>
              <a:prstGeom prst="rect">
                <a:avLst/>
              </a:prstGeom>
              <a:blipFill>
                <a:blip r:embed="rId12"/>
                <a:stretch>
                  <a:fillRect b="-3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E392B2-8D17-4692-BE6B-FDC72ACFA50F}"/>
                  </a:ext>
                </a:extLst>
              </p:cNvPr>
              <p:cNvSpPr txBox="1"/>
              <p:nvPr/>
            </p:nvSpPr>
            <p:spPr>
              <a:xfrm>
                <a:off x="4431686" y="4110161"/>
                <a:ext cx="4878754" cy="641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𝑛𝑇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E392B2-8D17-4692-BE6B-FDC72ACFA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686" y="4110161"/>
                <a:ext cx="4878754" cy="6418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4191555-570E-461D-9B3D-809991C6AB78}"/>
              </a:ext>
            </a:extLst>
          </p:cNvPr>
          <p:cNvSpPr txBox="1"/>
          <p:nvPr/>
        </p:nvSpPr>
        <p:spPr>
          <a:xfrm>
            <a:off x="2938173" y="4812916"/>
            <a:ext cx="4337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МИП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65A44C-9734-4569-9E65-26038C4F47E9}"/>
                  </a:ext>
                </a:extLst>
              </p:cNvPr>
              <p:cNvSpPr txBox="1"/>
              <p:nvPr/>
            </p:nvSpPr>
            <p:spPr>
              <a:xfrm>
                <a:off x="5081310" y="5147608"/>
                <a:ext cx="3579505" cy="684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мип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nary>
                        <m:naryPr>
                          <m:chr m:val="∑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65A44C-9734-4569-9E65-26038C4F4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310" y="5147608"/>
                <a:ext cx="3579505" cy="68435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949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DAD55EF-EB6A-47C9-995C-2F1591B62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Квантование сигнала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1B114D2-2D56-42B5-AE47-FB7920D558F5}"/>
              </a:ext>
            </a:extLst>
          </p:cNvPr>
          <p:cNvCxnSpPr>
            <a:cxnSpLocks/>
          </p:cNvCxnSpPr>
          <p:nvPr/>
        </p:nvCxnSpPr>
        <p:spPr>
          <a:xfrm>
            <a:off x="4302468" y="1383050"/>
            <a:ext cx="748708" cy="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5BC915-8493-4EC7-9139-8A28D5FEA701}"/>
                  </a:ext>
                </a:extLst>
              </p:cNvPr>
              <p:cNvSpPr txBox="1"/>
              <p:nvPr/>
            </p:nvSpPr>
            <p:spPr>
              <a:xfrm>
                <a:off x="5137938" y="1110054"/>
                <a:ext cx="27180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5BC915-8493-4EC7-9139-8A28D5FEA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938" y="1110054"/>
                <a:ext cx="2718048" cy="461665"/>
              </a:xfrm>
              <a:prstGeom prst="rect">
                <a:avLst/>
              </a:prstGeom>
              <a:blipFill>
                <a:blip r:embed="rId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4D88DD-5B94-4716-A048-662B7E65CB14}"/>
                  </a:ext>
                </a:extLst>
              </p:cNvPr>
              <p:cNvSpPr txBox="1"/>
              <p:nvPr/>
            </p:nvSpPr>
            <p:spPr>
              <a:xfrm>
                <a:off x="3150340" y="1095017"/>
                <a:ext cx="701824" cy="491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2400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4D88DD-5B94-4716-A048-662B7E65C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340" y="1095017"/>
                <a:ext cx="701824" cy="491738"/>
              </a:xfrm>
              <a:prstGeom prst="rect">
                <a:avLst/>
              </a:prstGeom>
              <a:blipFill>
                <a:blip r:embed="rId3"/>
                <a:stretch>
                  <a:fillRect l="-7826" r="-11304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C0C3574-A92F-4D52-A905-E6C8DCE7CEED}"/>
              </a:ext>
            </a:extLst>
          </p:cNvPr>
          <p:cNvSpPr txBox="1"/>
          <p:nvPr/>
        </p:nvSpPr>
        <p:spPr>
          <a:xfrm>
            <a:off x="-20289" y="2128021"/>
            <a:ext cx="3384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Связь между дискретным сигналом и квантованной решетчатой функцией 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229846-71B9-4753-83AA-117E8967B431}"/>
                  </a:ext>
                </a:extLst>
              </p:cNvPr>
              <p:cNvSpPr txBox="1"/>
              <p:nvPr/>
            </p:nvSpPr>
            <p:spPr>
              <a:xfrm>
                <a:off x="2005915" y="2299781"/>
                <a:ext cx="4661876" cy="491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ru-RU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229846-71B9-4753-83AA-117E8967B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915" y="2299781"/>
                <a:ext cx="4661876" cy="491738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8376A2D-8D8E-45B4-BD04-497371FF48C5}"/>
              </a:ext>
            </a:extLst>
          </p:cNvPr>
          <p:cNvSpPr txBox="1"/>
          <p:nvPr/>
        </p:nvSpPr>
        <p:spPr>
          <a:xfrm>
            <a:off x="5604371" y="2206030"/>
            <a:ext cx="3384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Невязки – шум квантования:  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3657D7-ECBE-4D40-96B6-741BEEA56E9B}"/>
                  </a:ext>
                </a:extLst>
              </p:cNvPr>
              <p:cNvSpPr txBox="1"/>
              <p:nvPr/>
            </p:nvSpPr>
            <p:spPr>
              <a:xfrm>
                <a:off x="4899225" y="2564954"/>
                <a:ext cx="458176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ru-RU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3657D7-ECBE-4D40-96B6-741BEEA56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225" y="2564954"/>
                <a:ext cx="4581768" cy="390748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137857D-8038-44B3-A61C-2E40EBD65BFC}"/>
              </a:ext>
            </a:extLst>
          </p:cNvPr>
          <p:cNvCxnSpPr/>
          <p:nvPr/>
        </p:nvCxnSpPr>
        <p:spPr>
          <a:xfrm>
            <a:off x="5715750" y="2044522"/>
            <a:ext cx="0" cy="113807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170035-C53E-4391-A1A1-5D8C901679D4}"/>
                  </a:ext>
                </a:extLst>
              </p:cNvPr>
              <p:cNvSpPr txBox="1"/>
              <p:nvPr/>
            </p:nvSpPr>
            <p:spPr>
              <a:xfrm>
                <a:off x="2474454" y="3411814"/>
                <a:ext cx="6876256" cy="1117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ru-RU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при  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                         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 при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 при</m:t>
                              </m:r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        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ru-RU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170035-C53E-4391-A1A1-5D8C9016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454" y="3411814"/>
                <a:ext cx="6876256" cy="1117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7FB14A-9838-450E-86BF-CD0A673DDEAA}"/>
                  </a:ext>
                </a:extLst>
              </p:cNvPr>
              <p:cNvSpPr txBox="1"/>
              <p:nvPr/>
            </p:nvSpPr>
            <p:spPr>
              <a:xfrm>
                <a:off x="314214" y="3606482"/>
                <a:ext cx="252028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может </a:t>
                </a:r>
              </a:p>
              <a:p>
                <a:pPr algn="ctr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иметь следующий вид 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7FB14A-9838-450E-86BF-CD0A673DD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14" y="3606482"/>
                <a:ext cx="2520280" cy="923330"/>
              </a:xfrm>
              <a:prstGeom prst="rect">
                <a:avLst/>
              </a:prstGeom>
              <a:blipFill>
                <a:blip r:embed="rId7"/>
                <a:stretch>
                  <a:fillRect t="-3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78813B5-E9D5-4E85-B326-697F8A6155B3}"/>
              </a:ext>
            </a:extLst>
          </p:cNvPr>
          <p:cNvSpPr txBox="1"/>
          <p:nvPr/>
        </p:nvSpPr>
        <p:spPr>
          <a:xfrm>
            <a:off x="-180528" y="6036716"/>
            <a:ext cx="3860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уровней квантования 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742CD07-7AFF-418E-8A9A-845A25741BB1}"/>
                  </a:ext>
                </a:extLst>
              </p:cNvPr>
              <p:cNvSpPr txBox="1"/>
              <p:nvPr/>
            </p:nvSpPr>
            <p:spPr>
              <a:xfrm>
                <a:off x="3679936" y="6036716"/>
                <a:ext cx="9716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742CD07-7AFF-418E-8A9A-845A25741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936" y="6036716"/>
                <a:ext cx="9716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41503A-06B4-4642-9706-94EEB4480E12}"/>
                  </a:ext>
                </a:extLst>
              </p:cNvPr>
              <p:cNvSpPr txBox="1"/>
              <p:nvPr/>
            </p:nvSpPr>
            <p:spPr>
              <a:xfrm>
                <a:off x="-72008" y="6036716"/>
                <a:ext cx="9716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41503A-06B4-4642-9706-94EEB4480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008" y="6036716"/>
                <a:ext cx="97160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AE2B1B5-5035-420A-A178-A53D97752D1B}"/>
              </a:ext>
            </a:extLst>
          </p:cNvPr>
          <p:cNvSpPr txBox="1"/>
          <p:nvPr/>
        </p:nvSpPr>
        <p:spPr>
          <a:xfrm>
            <a:off x="3563888" y="6036716"/>
            <a:ext cx="3860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наименьшее число разрядов 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3BF16A-C6FF-45CE-9457-EC11810EFC12}"/>
                  </a:ext>
                </a:extLst>
              </p:cNvPr>
              <p:cNvSpPr txBox="1"/>
              <p:nvPr/>
            </p:nvSpPr>
            <p:spPr>
              <a:xfrm>
                <a:off x="323528" y="4992053"/>
                <a:ext cx="230425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Связь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18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18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3BF16A-C6FF-45CE-9457-EC11810EF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992053"/>
                <a:ext cx="2304256" cy="646331"/>
              </a:xfrm>
              <a:prstGeom prst="rect">
                <a:avLst/>
              </a:prstGeom>
              <a:blipFill>
                <a:blip r:embed="rId10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4FEB57-D5B5-4800-A395-3FDBB0BA1551}"/>
                  </a:ext>
                </a:extLst>
              </p:cNvPr>
              <p:cNvSpPr txBox="1"/>
              <p:nvPr/>
            </p:nvSpPr>
            <p:spPr>
              <a:xfrm>
                <a:off x="3563888" y="4992053"/>
                <a:ext cx="48181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𝑖𝑛𝑡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4FEB57-D5B5-4800-A395-3FDBB0BA1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992053"/>
                <a:ext cx="4818184" cy="400110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4C6A231-C2EE-419B-A475-40484D31ED9E}"/>
              </a:ext>
            </a:extLst>
          </p:cNvPr>
          <p:cNvSpPr txBox="1"/>
          <p:nvPr/>
        </p:nvSpPr>
        <p:spPr>
          <a:xfrm>
            <a:off x="529426" y="1034725"/>
            <a:ext cx="23042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Квантованные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25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2125C4C-A937-4247-AB49-D362DA770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endParaRPr lang="ru-RU" sz="3200" b="1" kern="0" dirty="0">
              <a:solidFill>
                <a:srgbClr val="000099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5B81BC-9AF4-4AB5-B21F-D7E4B5ADD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38F6D-E512-4728-804F-6D7EAC821D3E}"/>
              </a:ext>
            </a:extLst>
          </p:cNvPr>
          <p:cNvSpPr txBox="1"/>
          <p:nvPr/>
        </p:nvSpPr>
        <p:spPr>
          <a:xfrm>
            <a:off x="395536" y="1083192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92BBC9-6255-4244-8FDF-BDB7C4776C4C}"/>
                  </a:ext>
                </a:extLst>
              </p:cNvPr>
              <p:cNvSpPr txBox="1"/>
              <p:nvPr/>
            </p:nvSpPr>
            <p:spPr>
              <a:xfrm>
                <a:off x="5591158" y="1544857"/>
                <a:ext cx="3046668" cy="8392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acc>
                        <m:accPr>
                          <m:chr m:val="̃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92BBC9-6255-4244-8FDF-BDB7C477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158" y="1544857"/>
                <a:ext cx="3046668" cy="8392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A22282-C7AC-42C0-9F98-E7A4E386DB63}"/>
              </a:ext>
            </a:extLst>
          </p:cNvPr>
          <p:cNvSpPr txBox="1"/>
          <p:nvPr/>
        </p:nvSpPr>
        <p:spPr>
          <a:xfrm>
            <a:off x="384636" y="3685875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C4C178-B49C-4FF2-A01B-06236256205E}"/>
                  </a:ext>
                </a:extLst>
              </p:cNvPr>
              <p:cNvSpPr txBox="1"/>
              <p:nvPr/>
            </p:nvSpPr>
            <p:spPr>
              <a:xfrm>
                <a:off x="838630" y="1621224"/>
                <a:ext cx="2869503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ru-R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при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при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C4C178-B49C-4FF2-A01B-06236256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30" y="1621224"/>
                <a:ext cx="2869503" cy="686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B81D2B46-B8DB-4708-B057-996736174645}"/>
              </a:ext>
            </a:extLst>
          </p:cNvPr>
          <p:cNvSpPr/>
          <p:nvPr/>
        </p:nvSpPr>
        <p:spPr>
          <a:xfrm>
            <a:off x="3970979" y="1756853"/>
            <a:ext cx="1357333" cy="415275"/>
          </a:xfrm>
          <a:prstGeom prst="rightArrow">
            <a:avLst/>
          </a:prstGeom>
          <a:solidFill>
            <a:srgbClr val="0000FF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5A98B7-61A3-4494-84D8-B5FCB367E92C}"/>
                  </a:ext>
                </a:extLst>
              </p:cNvPr>
              <p:cNvSpPr txBox="1"/>
              <p:nvPr/>
            </p:nvSpPr>
            <p:spPr>
              <a:xfrm>
                <a:off x="5652120" y="4071173"/>
                <a:ext cx="2412071" cy="839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̃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5A98B7-61A3-4494-84D8-B5FCB367E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071173"/>
                <a:ext cx="2412071" cy="8395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8A63F4-4E83-4192-AA81-E723BCD695B5}"/>
                  </a:ext>
                </a:extLst>
              </p:cNvPr>
              <p:cNvSpPr txBox="1"/>
              <p:nvPr/>
            </p:nvSpPr>
            <p:spPr>
              <a:xfrm>
                <a:off x="899592" y="4147540"/>
                <a:ext cx="2988767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при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при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8A63F4-4E83-4192-AA81-E723BCD69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147540"/>
                <a:ext cx="2988767" cy="6865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9D49E868-4148-41F9-9194-C0EBD6AEF724}"/>
              </a:ext>
            </a:extLst>
          </p:cNvPr>
          <p:cNvSpPr/>
          <p:nvPr/>
        </p:nvSpPr>
        <p:spPr>
          <a:xfrm>
            <a:off x="3992187" y="4270598"/>
            <a:ext cx="1357333" cy="415275"/>
          </a:xfrm>
          <a:prstGeom prst="rightArrow">
            <a:avLst/>
          </a:prstGeom>
          <a:solidFill>
            <a:srgbClr val="0000FF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73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Общие формулы</a:t>
            </a:r>
          </a:p>
        </p:txBody>
      </p:sp>
      <p:grpSp>
        <p:nvGrpSpPr>
          <p:cNvPr id="24" name="Группа 23"/>
          <p:cNvGrpSpPr/>
          <p:nvPr/>
        </p:nvGrpSpPr>
        <p:grpSpPr>
          <a:xfrm>
            <a:off x="1428728" y="3143248"/>
            <a:ext cx="6215106" cy="2500330"/>
            <a:chOff x="285720" y="3357562"/>
            <a:chExt cx="6215106" cy="2500330"/>
          </a:xfrm>
        </p:grpSpPr>
        <p:sp>
          <p:nvSpPr>
            <p:cNvPr id="17" name="Скругленный прямоугольник 16"/>
            <p:cNvSpPr/>
            <p:nvPr/>
          </p:nvSpPr>
          <p:spPr>
            <a:xfrm>
              <a:off x="285720" y="3357562"/>
              <a:ext cx="6215106" cy="250033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319496" name="Object 8"/>
            <p:cNvGraphicFramePr>
              <a:graphicFrameLocks noChangeAspect="1"/>
            </p:cNvGraphicFramePr>
            <p:nvPr/>
          </p:nvGraphicFramePr>
          <p:xfrm>
            <a:off x="776284" y="3929070"/>
            <a:ext cx="5268912" cy="957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38280" imgH="444240" progId="Equation.DSMT4">
                    <p:embed/>
                  </p:oleObj>
                </mc:Choice>
                <mc:Fallback>
                  <p:oleObj name="Equation" r:id="rId2" imgW="2438280" imgH="444240" progId="Equation.DSMT4">
                    <p:embed/>
                    <p:pic>
                      <p:nvPicPr>
                        <p:cNvPr id="31949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284" y="3929070"/>
                          <a:ext cx="5268912" cy="957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9497" name="Object 9"/>
            <p:cNvGraphicFramePr>
              <a:graphicFrameLocks noChangeAspect="1"/>
            </p:cNvGraphicFramePr>
            <p:nvPr/>
          </p:nvGraphicFramePr>
          <p:xfrm>
            <a:off x="588405" y="4829191"/>
            <a:ext cx="5568950" cy="957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77960" imgH="444240" progId="Equation.DSMT4">
                    <p:embed/>
                  </p:oleObj>
                </mc:Choice>
                <mc:Fallback>
                  <p:oleObj name="Equation" r:id="rId4" imgW="2577960" imgH="444240" progId="Equation.DSMT4">
                    <p:embed/>
                    <p:pic>
                      <p:nvPicPr>
                        <p:cNvPr id="31949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405" y="4829191"/>
                          <a:ext cx="5568950" cy="957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>
              <a:off x="663180" y="3398840"/>
              <a:ext cx="55871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8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Прямое\обратное дискретное ПФ</a:t>
              </a:r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357158" y="802727"/>
            <a:ext cx="8191530" cy="2071702"/>
            <a:chOff x="357158" y="802727"/>
            <a:chExt cx="8191530" cy="2071702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2591" name="Object 15"/>
                <p:cNvGraphicFramePr>
                  <a:graphicFrameLocks noChangeAspect="1"/>
                </p:cNvGraphicFramePr>
                <p:nvPr/>
              </p:nvGraphicFramePr>
              <p:xfrm>
                <a:off x="357158" y="1659983"/>
                <a:ext cx="933450" cy="4921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431640" imgH="228600" progId="Equation.DSMT4">
                        <p:embed/>
                      </p:oleObj>
                    </mc:Choice>
                    <mc:Fallback>
                      <p:oleObj name="Equation" r:id="rId6" imgW="431640" imgH="228600" progId="Equation.DSMT4">
                        <p:embed/>
                        <p:pic>
                          <p:nvPicPr>
                            <p:cNvPr id="152591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7158" y="1659983"/>
                              <a:ext cx="933450" cy="4921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2591" name="Object 15"/>
                <p:cNvGraphicFramePr>
                  <a:graphicFrameLocks noChangeAspect="1"/>
                </p:cNvGraphicFramePr>
                <p:nvPr/>
              </p:nvGraphicFramePr>
              <p:xfrm>
                <a:off x="357158" y="1659983"/>
                <a:ext cx="933450" cy="4921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8" imgW="431640" imgH="228600" progId="Equation.DSMT4">
                        <p:embed/>
                      </p:oleObj>
                    </mc:Choice>
                    <mc:Fallback>
                      <p:oleObj name="Equation" r:id="rId8" imgW="431640" imgH="228600" progId="Equation.DSMT4">
                        <p:embed/>
                        <p:pic>
                          <p:nvPicPr>
                            <p:cNvPr id="152591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7158" y="1659983"/>
                              <a:ext cx="933450" cy="4921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23" name="Группа 22"/>
            <p:cNvGrpSpPr/>
            <p:nvPr/>
          </p:nvGrpSpPr>
          <p:grpSpPr>
            <a:xfrm>
              <a:off x="1557851" y="802727"/>
              <a:ext cx="4058213" cy="2071702"/>
              <a:chOff x="1942547" y="642918"/>
              <a:chExt cx="4058213" cy="2071702"/>
            </a:xfrm>
          </p:grpSpPr>
          <p:sp>
            <p:nvSpPr>
              <p:cNvPr id="12" name="Скругленный прямоугольник 11"/>
              <p:cNvSpPr/>
              <p:nvPr/>
            </p:nvSpPr>
            <p:spPr>
              <a:xfrm>
                <a:off x="1942547" y="642918"/>
                <a:ext cx="4058213" cy="207170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0541" name="Object 13"/>
                  <p:cNvGraphicFramePr>
                    <a:graphicFrameLocks noChangeAspect="1"/>
                  </p:cNvGraphicFramePr>
                  <p:nvPr/>
                </p:nvGraphicFramePr>
                <p:xfrm>
                  <a:off x="2384431" y="1163101"/>
                  <a:ext cx="3238500" cy="14763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0" imgW="1498320" imgH="685800" progId="Equation.DSMT4">
                          <p:embed/>
                        </p:oleObj>
                      </mc:Choice>
                      <mc:Fallback>
                        <p:oleObj name="Equation" r:id="rId10" imgW="1498320" imgH="685800" progId="Equation.DSMT4">
                          <p:embed/>
                          <p:pic>
                            <p:nvPicPr>
                              <p:cNvPr id="150541" name="Object 1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384431" y="1163101"/>
                                <a:ext cx="3238500" cy="14763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0541" name="Object 13"/>
                  <p:cNvGraphicFramePr>
                    <a:graphicFrameLocks noChangeAspect="1"/>
                  </p:cNvGraphicFramePr>
                  <p:nvPr/>
                </p:nvGraphicFramePr>
                <p:xfrm>
                  <a:off x="2384431" y="1163101"/>
                  <a:ext cx="3238500" cy="14763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2" imgW="1498320" imgH="685800" progId="Equation.DSMT4">
                          <p:embed/>
                        </p:oleObj>
                      </mc:Choice>
                      <mc:Fallback>
                        <p:oleObj name="Equation" r:id="rId12" imgW="1498320" imgH="685800" progId="Equation.DSMT4">
                          <p:embed/>
                          <p:pic>
                            <p:nvPicPr>
                              <p:cNvPr id="150541" name="Object 1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384431" y="1163101"/>
                                <a:ext cx="3238500" cy="147637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6" name="TextBox 15"/>
              <p:cNvSpPr txBox="1"/>
              <p:nvPr/>
            </p:nvSpPr>
            <p:spPr>
              <a:xfrm>
                <a:off x="2357422" y="650541"/>
                <a:ext cx="341926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600" b="1" dirty="0">
                    <a:latin typeface="Times New Roman" pitchFamily="18" charset="0"/>
                    <a:cs typeface="Times New Roman" pitchFamily="18" charset="0"/>
                  </a:rPr>
                  <a:t>Прямое\обратное ПФ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499" name="Object 11"/>
                <p:cNvSpPr txBox="1"/>
                <p:nvPr/>
              </p:nvSpPr>
              <p:spPr bwMode="auto">
                <a:xfrm>
                  <a:off x="6057948" y="1175681"/>
                  <a:ext cx="1955800" cy="47307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сигнал </a:t>
                  </a:r>
                </a:p>
              </p:txBody>
            </p:sp>
          </mc:Choice>
          <mc:Fallback xmlns="">
            <p:sp>
              <p:nvSpPr>
                <p:cNvPr id="31949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57948" y="1175681"/>
                  <a:ext cx="1955800" cy="473075"/>
                </a:xfrm>
                <a:prstGeom prst="rect">
                  <a:avLst/>
                </a:prstGeom>
                <a:blipFill>
                  <a:blip r:embed="rId14"/>
                  <a:stretch>
                    <a:fillRect l="-1558" t="-7792" b="-779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500" name="Object 12"/>
                <p:cNvSpPr txBox="1"/>
                <p:nvPr/>
              </p:nvSpPr>
              <p:spPr bwMode="auto">
                <a:xfrm>
                  <a:off x="6000750" y="1857375"/>
                  <a:ext cx="2547938" cy="47307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</m:oMath>
                  </a14:m>
                  <a:r>
                    <a:rPr lang="ru-RU" sz="2000" dirty="0"/>
                    <a:t> </a:t>
                  </a:r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спектр </a:t>
                  </a:r>
                </a:p>
              </p:txBody>
            </p:sp>
          </mc:Choice>
          <mc:Fallback xmlns="">
            <p:sp>
              <p:nvSpPr>
                <p:cNvPr id="319500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00750" y="1857375"/>
                  <a:ext cx="2547938" cy="473075"/>
                </a:xfrm>
                <a:prstGeom prst="rect">
                  <a:avLst/>
                </a:prstGeom>
                <a:blipFill>
                  <a:blip r:embed="rId15"/>
                  <a:stretch>
                    <a:fillRect t="-7792" b="-779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30FDE8C2-9912-4A03-A16B-5ADD6240D657}"/>
                  </a:ext>
                </a:extLst>
              </p:cNvPr>
              <p:cNvSpPr txBox="1"/>
              <p:nvPr/>
            </p:nvSpPr>
            <p:spPr bwMode="auto">
              <a:xfrm>
                <a:off x="1259632" y="5805264"/>
                <a:ext cx="7494587" cy="4381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количество сигналов </a:t>
                </a:r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⇄</m:t>
                    </m:r>
                    <m:r>
                      <a:rPr lang="ru-RU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количество спектров 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30FDE8C2-9912-4A03-A16B-5ADD6240D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5805264"/>
                <a:ext cx="7494587" cy="438150"/>
              </a:xfrm>
              <a:prstGeom prst="rect">
                <a:avLst/>
              </a:prstGeom>
              <a:blipFill>
                <a:blip r:embed="rId16"/>
                <a:stretch>
                  <a:fillRect t="-6944" b="-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Дискретные сигналы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2" y="672698"/>
            <a:ext cx="9144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Преобразование Фурье справедливо для функций… </a:t>
            </a: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722111"/>
            <a:ext cx="9144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дискретный (цифровой) сигнал – это просто последовательность чисел! 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32" y="1214422"/>
            <a:ext cx="914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НО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500430" y="691202"/>
            <a:ext cx="2151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Хитрость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”</a:t>
            </a:r>
          </a:p>
        </p:txBody>
      </p:sp>
      <p:graphicFrame>
        <p:nvGraphicFramePr>
          <p:cNvPr id="329730" name="Object 2"/>
          <p:cNvGraphicFramePr>
            <a:graphicFrameLocks noChangeAspect="1"/>
          </p:cNvGraphicFramePr>
          <p:nvPr/>
        </p:nvGraphicFramePr>
        <p:xfrm>
          <a:off x="1336603" y="1714488"/>
          <a:ext cx="20875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203040" progId="Equation.DSMT4">
                  <p:embed/>
                </p:oleObj>
              </mc:Choice>
              <mc:Fallback>
                <p:oleObj name="Equation" r:id="rId2" imgW="965160" imgH="203040" progId="Equation.DSMT4">
                  <p:embed/>
                  <p:pic>
                    <p:nvPicPr>
                      <p:cNvPr id="3297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03" y="1714488"/>
                        <a:ext cx="2087563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1" name="Object 3"/>
          <p:cNvGraphicFramePr>
            <a:graphicFrameLocks noChangeAspect="1"/>
          </p:cNvGraphicFramePr>
          <p:nvPr/>
        </p:nvGraphicFramePr>
        <p:xfrm>
          <a:off x="1000100" y="3214686"/>
          <a:ext cx="70516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7760" imgH="431640" progId="Equation.DSMT4">
                  <p:embed/>
                </p:oleObj>
              </mc:Choice>
              <mc:Fallback>
                <p:oleObj name="Equation" r:id="rId4" imgW="3047760" imgH="431640" progId="Equation.DSMT4">
                  <p:embed/>
                  <p:pic>
                    <p:nvPicPr>
                      <p:cNvPr id="329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3214686"/>
                        <a:ext cx="7051675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4929190" y="1285860"/>
          <a:ext cx="2103437" cy="94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57200" progId="Equation.DSMT4">
                  <p:embed/>
                </p:oleObj>
              </mc:Choice>
              <mc:Fallback>
                <p:oleObj name="Equation" r:id="rId6" imgW="1015920" imgH="457200" progId="Equation.DSMT4">
                  <p:embed/>
                  <p:pic>
                    <p:nvPicPr>
                      <p:cNvPr id="1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90" y="1285860"/>
                        <a:ext cx="2103437" cy="94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707904" y="2177914"/>
            <a:ext cx="530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Математически неверное выражение, но физически понятно</a:t>
            </a:r>
          </a:p>
        </p:txBody>
      </p:sp>
      <p:grpSp>
        <p:nvGrpSpPr>
          <p:cNvPr id="24" name="Группа 23"/>
          <p:cNvGrpSpPr/>
          <p:nvPr/>
        </p:nvGrpSpPr>
        <p:grpSpPr>
          <a:xfrm>
            <a:off x="1115616" y="3214686"/>
            <a:ext cx="6885408" cy="1780821"/>
            <a:chOff x="1115616" y="3214686"/>
            <a:chExt cx="6885408" cy="1780821"/>
          </a:xfrm>
        </p:grpSpPr>
        <p:cxnSp>
          <p:nvCxnSpPr>
            <p:cNvPr id="15" name="Прямая со стрелкой 14"/>
            <p:cNvCxnSpPr>
              <a:stCxn id="19" idx="2"/>
            </p:cNvCxnSpPr>
            <p:nvPr/>
          </p:nvCxnSpPr>
          <p:spPr>
            <a:xfrm rot="5400000">
              <a:off x="6393669" y="4036223"/>
              <a:ext cx="428628" cy="78581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Скругленный прямоугольник 18"/>
            <p:cNvSpPr/>
            <p:nvPr/>
          </p:nvSpPr>
          <p:spPr>
            <a:xfrm>
              <a:off x="6000760" y="3214686"/>
              <a:ext cx="2000264" cy="100013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15616" y="4533842"/>
              <a:ext cx="5400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latin typeface="Times New Roman" pitchFamily="18" charset="0"/>
                  <a:cs typeface="Times New Roman" pitchFamily="18" charset="0"/>
                </a:rPr>
                <a:t>Периодический сигнал с периодом </a:t>
              </a:r>
              <a:r>
                <a:rPr lang="el-GR" sz="2400" b="1" dirty="0">
                  <a:latin typeface="Times New Roman" pitchFamily="18" charset="0"/>
                  <a:cs typeface="Times New Roman" pitchFamily="18" charset="0"/>
                </a:rPr>
                <a:t>Δ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t</a:t>
              </a:r>
              <a:endParaRPr lang="ru-RU" sz="24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-35556" y="4995507"/>
            <a:ext cx="8965274" cy="1269402"/>
            <a:chOff x="-106994" y="5071085"/>
            <a:chExt cx="8965274" cy="1269402"/>
          </a:xfrm>
        </p:grpSpPr>
        <p:cxnSp>
          <p:nvCxnSpPr>
            <p:cNvPr id="17" name="Прямая со стрелкой 16"/>
            <p:cNvCxnSpPr/>
            <p:nvPr/>
          </p:nvCxnSpPr>
          <p:spPr>
            <a:xfrm rot="10800000" flipV="1">
              <a:off x="1044178" y="5071085"/>
              <a:ext cx="642942" cy="3571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-106994" y="5436101"/>
              <a:ext cx="24855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latin typeface="Times New Roman" pitchFamily="18" charset="0"/>
                  <a:cs typeface="Times New Roman" pitchFamily="18" charset="0"/>
                </a:rPr>
                <a:t>Раскладывается в ряд Фурье </a:t>
              </a:r>
            </a:p>
          </p:txBody>
        </p:sp>
        <p:graphicFrame>
          <p:nvGraphicFramePr>
            <p:cNvPr id="330757" name="Object 5"/>
            <p:cNvGraphicFramePr>
              <a:graphicFrameLocks noChangeAspect="1"/>
            </p:cNvGraphicFramePr>
            <p:nvPr/>
          </p:nvGraphicFramePr>
          <p:xfrm>
            <a:off x="2571736" y="5282682"/>
            <a:ext cx="4207795" cy="10578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14320" imgH="431640" progId="Equation.DSMT4">
                    <p:embed/>
                  </p:oleObj>
                </mc:Choice>
                <mc:Fallback>
                  <p:oleObj name="Equation" r:id="rId8" imgW="1714320" imgH="431640" progId="Equation.DSMT4">
                    <p:embed/>
                    <p:pic>
                      <p:nvPicPr>
                        <p:cNvPr id="33075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736" y="5282682"/>
                          <a:ext cx="4207795" cy="10578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0758" name="Object 6"/>
            <p:cNvGraphicFramePr>
              <a:graphicFrameLocks noChangeAspect="1"/>
            </p:cNvGraphicFramePr>
            <p:nvPr/>
          </p:nvGraphicFramePr>
          <p:xfrm>
            <a:off x="7061230" y="5635451"/>
            <a:ext cx="1797050" cy="474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63280" imgH="228600" progId="Equation.DSMT4">
                    <p:embed/>
                  </p:oleObj>
                </mc:Choice>
                <mc:Fallback>
                  <p:oleObj name="Equation" r:id="rId10" imgW="863280" imgH="228600" progId="Equation.DSMT4">
                    <p:embed/>
                    <p:pic>
                      <p:nvPicPr>
                        <p:cNvPr id="33075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1230" y="5635451"/>
                          <a:ext cx="1797050" cy="474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Rectangle 2">
            <a:extLst>
              <a:ext uri="{FF2B5EF4-FFF2-40B4-BE49-F238E27FC236}">
                <a16:creationId xmlns:a16="http://schemas.microsoft.com/office/drawing/2014/main" id="{B23C37D3-0CA7-40F4-B3FC-08C33B6DA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Дискретные сигналы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Спектр дискретного сигнала </a:t>
            </a:r>
          </a:p>
        </p:txBody>
      </p:sp>
      <p:graphicFrame>
        <p:nvGraphicFramePr>
          <p:cNvPr id="329731" name="Object 3"/>
          <p:cNvGraphicFramePr>
            <a:graphicFrameLocks noChangeAspect="1"/>
          </p:cNvGraphicFramePr>
          <p:nvPr/>
        </p:nvGraphicFramePr>
        <p:xfrm>
          <a:off x="1735138" y="928670"/>
          <a:ext cx="55816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431640" progId="Equation.DSMT4">
                  <p:embed/>
                </p:oleObj>
              </mc:Choice>
              <mc:Fallback>
                <p:oleObj name="Equation" r:id="rId2" imgW="2412720" imgH="431640" progId="Equation.DSMT4">
                  <p:embed/>
                  <p:pic>
                    <p:nvPicPr>
                      <p:cNvPr id="329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928670"/>
                        <a:ext cx="5581650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0" name="Object 6"/>
          <p:cNvGraphicFramePr>
            <a:graphicFrameLocks noChangeAspect="1"/>
          </p:cNvGraphicFramePr>
          <p:nvPr/>
        </p:nvGraphicFramePr>
        <p:xfrm>
          <a:off x="2578100" y="2626249"/>
          <a:ext cx="39957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431640" progId="Equation.DSMT4">
                  <p:embed/>
                </p:oleObj>
              </mc:Choice>
              <mc:Fallback>
                <p:oleObj name="Equation" r:id="rId4" imgW="1726920" imgH="431640" progId="Equation.DSMT4">
                  <p:embed/>
                  <p:pic>
                    <p:nvPicPr>
                      <p:cNvPr id="3491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2626249"/>
                        <a:ext cx="3995738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Стрелка вниз 19"/>
          <p:cNvSpPr/>
          <p:nvPr/>
        </p:nvSpPr>
        <p:spPr>
          <a:xfrm>
            <a:off x="4500562" y="1928802"/>
            <a:ext cx="285752" cy="714380"/>
          </a:xfrm>
          <a:prstGeom prst="downArrow">
            <a:avLst>
              <a:gd name="adj1" fmla="val 50000"/>
              <a:gd name="adj2" fmla="val 76947"/>
            </a:avLst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4214810" y="1928802"/>
            <a:ext cx="85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(R2)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7" name="Группа 26"/>
          <p:cNvGrpSpPr/>
          <p:nvPr/>
        </p:nvGrpSpPr>
        <p:grpSpPr>
          <a:xfrm>
            <a:off x="947030" y="3994156"/>
            <a:ext cx="7294275" cy="2346319"/>
            <a:chOff x="947030" y="3994156"/>
            <a:chExt cx="7294275" cy="2346319"/>
          </a:xfrm>
        </p:grpSpPr>
        <p:pic>
          <p:nvPicPr>
            <p:cNvPr id="349191" name="Picture 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60000">
              <a:off x="947030" y="4048184"/>
              <a:ext cx="7294275" cy="216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349192" name="Object 8"/>
            <p:cNvGraphicFramePr>
              <a:graphicFrameLocks noChangeAspect="1"/>
            </p:cNvGraphicFramePr>
            <p:nvPr/>
          </p:nvGraphicFramePr>
          <p:xfrm>
            <a:off x="3714744" y="3994156"/>
            <a:ext cx="765196" cy="3209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82400" imgH="203040" progId="Equation.DSMT4">
                    <p:embed/>
                  </p:oleObj>
                </mc:Choice>
                <mc:Fallback>
                  <p:oleObj name="Equation" r:id="rId7" imgW="482400" imgH="203040" progId="Equation.DSMT4">
                    <p:embed/>
                    <p:pic>
                      <p:nvPicPr>
                        <p:cNvPr id="34919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4744" y="3994156"/>
                          <a:ext cx="765196" cy="32096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193" name="Object 9"/>
            <p:cNvGraphicFramePr>
              <a:graphicFrameLocks noChangeAspect="1"/>
            </p:cNvGraphicFramePr>
            <p:nvPr/>
          </p:nvGraphicFramePr>
          <p:xfrm>
            <a:off x="7902600" y="6065858"/>
            <a:ext cx="241300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139680" progId="Equation.DSMT4">
                    <p:embed/>
                  </p:oleObj>
                </mc:Choice>
                <mc:Fallback>
                  <p:oleObj name="Equation" r:id="rId9" imgW="152280" imgH="139680" progId="Equation.DSMT4">
                    <p:embed/>
                    <p:pic>
                      <p:nvPicPr>
                        <p:cNvPr id="34919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2600" y="6065858"/>
                          <a:ext cx="241300" cy="2206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195" name="Object 11"/>
            <p:cNvGraphicFramePr>
              <a:graphicFrameLocks noChangeAspect="1"/>
            </p:cNvGraphicFramePr>
            <p:nvPr/>
          </p:nvGraphicFramePr>
          <p:xfrm>
            <a:off x="6889750" y="5979055"/>
            <a:ext cx="32226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40" imgH="228600" progId="Equation.DSMT4">
                    <p:embed/>
                  </p:oleObj>
                </mc:Choice>
                <mc:Fallback>
                  <p:oleObj name="Equation" r:id="rId11" imgW="203040" imgH="228600" progId="Equation.DSMT4">
                    <p:embed/>
                    <p:pic>
                      <p:nvPicPr>
                        <p:cNvPr id="34919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9750" y="5979055"/>
                          <a:ext cx="322263" cy="3603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196" name="Object 12"/>
            <p:cNvGraphicFramePr>
              <a:graphicFrameLocks noChangeAspect="1"/>
            </p:cNvGraphicFramePr>
            <p:nvPr/>
          </p:nvGraphicFramePr>
          <p:xfrm>
            <a:off x="5456238" y="5980113"/>
            <a:ext cx="625475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93480" imgH="228600" progId="Equation.DSMT4">
                    <p:embed/>
                  </p:oleObj>
                </mc:Choice>
                <mc:Fallback>
                  <p:oleObj name="Equation" r:id="rId13" imgW="393480" imgH="228600" progId="Equation.DSMT4">
                    <p:embed/>
                    <p:pic>
                      <p:nvPicPr>
                        <p:cNvPr id="34919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6238" y="5980113"/>
                          <a:ext cx="625475" cy="3603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197" name="Object 13"/>
            <p:cNvGraphicFramePr>
              <a:graphicFrameLocks noChangeAspect="1"/>
            </p:cNvGraphicFramePr>
            <p:nvPr/>
          </p:nvGraphicFramePr>
          <p:xfrm>
            <a:off x="2879726" y="5964238"/>
            <a:ext cx="76676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82400" imgH="228600" progId="Equation.DSMT4">
                    <p:embed/>
                  </p:oleObj>
                </mc:Choice>
                <mc:Fallback>
                  <p:oleObj name="Equation" r:id="rId15" imgW="482400" imgH="228600" progId="Equation.DSMT4">
                    <p:embed/>
                    <p:pic>
                      <p:nvPicPr>
                        <p:cNvPr id="34919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9726" y="5964238"/>
                          <a:ext cx="766763" cy="3603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198" name="Object 14"/>
            <p:cNvGraphicFramePr>
              <a:graphicFrameLocks noChangeAspect="1"/>
            </p:cNvGraphicFramePr>
            <p:nvPr/>
          </p:nvGraphicFramePr>
          <p:xfrm>
            <a:off x="1822450" y="5967413"/>
            <a:ext cx="46196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91960" imgH="228600" progId="Equation.DSMT4">
                    <p:embed/>
                  </p:oleObj>
                </mc:Choice>
                <mc:Fallback>
                  <p:oleObj name="Equation" r:id="rId17" imgW="291960" imgH="228600" progId="Equation.DSMT4">
                    <p:embed/>
                    <p:pic>
                      <p:nvPicPr>
                        <p:cNvPr id="34919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2450" y="5967413"/>
                          <a:ext cx="461963" cy="3603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9199" name="Object 15"/>
            <p:cNvGraphicFramePr>
              <a:graphicFrameLocks noChangeAspect="1"/>
            </p:cNvGraphicFramePr>
            <p:nvPr/>
          </p:nvGraphicFramePr>
          <p:xfrm>
            <a:off x="4473576" y="6002867"/>
            <a:ext cx="200025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34919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3576" y="6002867"/>
                          <a:ext cx="200025" cy="2794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9194" name="Object 10"/>
          <p:cNvGraphicFramePr>
            <a:graphicFrameLocks noChangeAspect="1"/>
          </p:cNvGraphicFramePr>
          <p:nvPr/>
        </p:nvGraphicFramePr>
        <p:xfrm>
          <a:off x="714348" y="3714752"/>
          <a:ext cx="18494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99920" imgH="228600" progId="Equation.DSMT4">
                  <p:embed/>
                </p:oleObj>
              </mc:Choice>
              <mc:Fallback>
                <p:oleObj name="Equation" r:id="rId21" imgW="799920" imgH="228600" progId="Equation.DSMT4">
                  <p:embed/>
                  <p:pic>
                    <p:nvPicPr>
                      <p:cNvPr id="3491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3714752"/>
                        <a:ext cx="1849437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Приближение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540568" y="582607"/>
            <a:ext cx="58326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реальных случая </a:t>
            </a: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имеет </a:t>
            </a:r>
            <a:b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205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891281"/>
              </p:ext>
            </p:extLst>
          </p:nvPr>
        </p:nvGraphicFramePr>
        <p:xfrm>
          <a:off x="1416772" y="1738575"/>
          <a:ext cx="6375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800" imgH="431640" progId="Equation.DSMT4">
                  <p:embed/>
                </p:oleObj>
              </mc:Choice>
              <mc:Fallback>
                <p:oleObj name="Equation" r:id="rId2" imgW="2755800" imgH="431640" progId="Equation.DSMT4">
                  <p:embed/>
                  <p:pic>
                    <p:nvPicPr>
                      <p:cNvPr id="3205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772" y="1738575"/>
                        <a:ext cx="6375400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Группа 23"/>
          <p:cNvGrpSpPr/>
          <p:nvPr/>
        </p:nvGrpSpPr>
        <p:grpSpPr>
          <a:xfrm>
            <a:off x="827584" y="2636111"/>
            <a:ext cx="3468738" cy="3639282"/>
            <a:chOff x="928662" y="2714620"/>
            <a:chExt cx="3468738" cy="3639282"/>
          </a:xfrm>
        </p:grpSpPr>
        <p:pic>
          <p:nvPicPr>
            <p:cNvPr id="21" name="Рисунок 20" descr="dft_html_1bfefa1c.g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662" y="2786058"/>
              <a:ext cx="3468738" cy="3567844"/>
            </a:xfrm>
            <a:prstGeom prst="rect">
              <a:avLst/>
            </a:prstGeom>
          </p:spPr>
        </p:pic>
        <p:graphicFrame>
          <p:nvGraphicFramePr>
            <p:cNvPr id="320525" name="Object 13"/>
            <p:cNvGraphicFramePr>
              <a:graphicFrameLocks noChangeAspect="1"/>
            </p:cNvGraphicFramePr>
            <p:nvPr/>
          </p:nvGraphicFramePr>
          <p:xfrm>
            <a:off x="1142976" y="2714620"/>
            <a:ext cx="549290" cy="365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04560" imgH="203040" progId="Equation.DSMT4">
                    <p:embed/>
                  </p:oleObj>
                </mc:Choice>
                <mc:Fallback>
                  <p:oleObj name="Equation" r:id="rId5" imgW="304560" imgH="203040" progId="Equation.DSMT4">
                    <p:embed/>
                    <p:pic>
                      <p:nvPicPr>
                        <p:cNvPr id="32052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2976" y="2714620"/>
                          <a:ext cx="549290" cy="36527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0526" name="Object 14"/>
            <p:cNvGraphicFramePr>
              <a:graphicFrameLocks noChangeAspect="1"/>
            </p:cNvGraphicFramePr>
            <p:nvPr/>
          </p:nvGraphicFramePr>
          <p:xfrm>
            <a:off x="1096963" y="5121275"/>
            <a:ext cx="641350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55320" imgH="228600" progId="Equation.DSMT4">
                    <p:embed/>
                  </p:oleObj>
                </mc:Choice>
                <mc:Fallback>
                  <p:oleObj name="Equation" r:id="rId7" imgW="355320" imgH="228600" progId="Equation.DSMT4">
                    <p:embed/>
                    <p:pic>
                      <p:nvPicPr>
                        <p:cNvPr id="32052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6963" y="5121275"/>
                          <a:ext cx="641350" cy="4111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05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751357"/>
              </p:ext>
            </p:extLst>
          </p:nvPr>
        </p:nvGraphicFramePr>
        <p:xfrm>
          <a:off x="6107466" y="977453"/>
          <a:ext cx="24050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77760" imgH="203040" progId="Equation.DSMT4">
                  <p:embed/>
                </p:oleObj>
              </mc:Choice>
              <mc:Fallback>
                <p:oleObj name="Equation" r:id="rId9" imgW="977760" imgH="203040" progId="Equation.DSMT4">
                  <p:embed/>
                  <p:pic>
                    <p:nvPicPr>
                      <p:cNvPr id="3205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466" y="977453"/>
                        <a:ext cx="2405063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Стрелка вниз 14"/>
          <p:cNvSpPr/>
          <p:nvPr/>
        </p:nvSpPr>
        <p:spPr>
          <a:xfrm>
            <a:off x="4500563" y="1443520"/>
            <a:ext cx="428628" cy="571504"/>
          </a:xfrm>
          <a:prstGeom prst="downArrow">
            <a:avLst>
              <a:gd name="adj1" fmla="val 50000"/>
              <a:gd name="adj2" fmla="val 76947"/>
            </a:avLst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529" name="Object 17"/>
              <p:cNvSpPr txBox="1"/>
              <p:nvPr/>
            </p:nvSpPr>
            <p:spPr bwMode="auto">
              <a:xfrm>
                <a:off x="5429250" y="4286250"/>
                <a:ext cx="2217738" cy="5000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ru-RU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20529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9250" y="4286250"/>
                <a:ext cx="2217738" cy="5000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46B7DC1-D0A6-4F99-915C-E986A9EB260B}"/>
              </a:ext>
            </a:extLst>
          </p:cNvPr>
          <p:cNvSpPr txBox="1"/>
          <p:nvPr/>
        </p:nvSpPr>
        <p:spPr>
          <a:xfrm>
            <a:off x="1408614" y="933019"/>
            <a:ext cx="4806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только конечные значения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C70181-6492-4EF1-AB6C-5B470841340E}"/>
              </a:ext>
            </a:extLst>
          </p:cNvPr>
          <p:cNvSpPr txBox="1"/>
          <p:nvPr/>
        </p:nvSpPr>
        <p:spPr>
          <a:xfrm>
            <a:off x="6372200" y="4324648"/>
            <a:ext cx="230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по времени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Прямое ДПФ</a:t>
            </a:r>
          </a:p>
        </p:txBody>
      </p:sp>
      <p:graphicFrame>
        <p:nvGraphicFramePr>
          <p:cNvPr id="152591" name="Object 15"/>
          <p:cNvGraphicFramePr>
            <a:graphicFrameLocks noChangeAspect="1"/>
          </p:cNvGraphicFramePr>
          <p:nvPr/>
        </p:nvGraphicFramePr>
        <p:xfrm>
          <a:off x="762025" y="741353"/>
          <a:ext cx="7453313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431640" progId="Equation.DSMT4">
                  <p:embed/>
                </p:oleObj>
              </mc:Choice>
              <mc:Fallback>
                <p:oleObj name="Equation" r:id="rId2" imgW="3022560" imgH="431640" progId="Equation.DSMT4">
                  <p:embed/>
                  <p:pic>
                    <p:nvPicPr>
                      <p:cNvPr id="1525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25" y="741353"/>
                        <a:ext cx="7453313" cy="1065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3" name="Object 7"/>
          <p:cNvGraphicFramePr>
            <a:graphicFrameLocks noChangeAspect="1"/>
          </p:cNvGraphicFramePr>
          <p:nvPr/>
        </p:nvGraphicFramePr>
        <p:xfrm>
          <a:off x="2588669" y="2517239"/>
          <a:ext cx="388302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431640" progId="Equation.DSMT4">
                  <p:embed/>
                </p:oleObj>
              </mc:Choice>
              <mc:Fallback>
                <p:oleObj name="Equation" r:id="rId4" imgW="1574640" imgH="431640" progId="Equation.DSMT4">
                  <p:embed/>
                  <p:pic>
                    <p:nvPicPr>
                      <p:cNvPr id="3266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8669" y="2517239"/>
                        <a:ext cx="3883025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Стрелка вниз 13"/>
          <p:cNvSpPr/>
          <p:nvPr/>
        </p:nvSpPr>
        <p:spPr>
          <a:xfrm>
            <a:off x="4286248" y="1857364"/>
            <a:ext cx="500066" cy="714380"/>
          </a:xfrm>
          <a:prstGeom prst="downArrow">
            <a:avLst>
              <a:gd name="adj1" fmla="val 50000"/>
              <a:gd name="adj2" fmla="val 57901"/>
            </a:avLst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3838257" y="1806565"/>
            <a:ext cx="1448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свёртка</a:t>
            </a:r>
          </a:p>
        </p:txBody>
      </p:sp>
      <p:graphicFrame>
        <p:nvGraphicFramePr>
          <p:cNvPr id="326665" name="Object 9"/>
          <p:cNvGraphicFramePr>
            <a:graphicFrameLocks noChangeAspect="1"/>
          </p:cNvGraphicFramePr>
          <p:nvPr/>
        </p:nvGraphicFramePr>
        <p:xfrm>
          <a:off x="1714480" y="2802991"/>
          <a:ext cx="5318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03040" progId="Equation.DSMT4">
                  <p:embed/>
                </p:oleObj>
              </mc:Choice>
              <mc:Fallback>
                <p:oleObj name="Equation" r:id="rId6" imgW="215640" imgH="203040" progId="Equation.DSMT4">
                  <p:embed/>
                  <p:pic>
                    <p:nvPicPr>
                      <p:cNvPr id="3266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2802991"/>
                        <a:ext cx="53181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6668" name="Object 12"/>
              <p:cNvSpPr txBox="1"/>
              <p:nvPr/>
            </p:nvSpPr>
            <p:spPr bwMode="auto">
              <a:xfrm>
                <a:off x="2287885" y="3751391"/>
                <a:ext cx="4401592" cy="5016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ru-RU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ru-RU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</a:t>
                </a:r>
                <a:r>
                  <a:rPr lang="ru-RU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 еще 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666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7885" y="3751391"/>
                <a:ext cx="4401592" cy="501650"/>
              </a:xfrm>
              <a:prstGeom prst="rect">
                <a:avLst/>
              </a:prstGeom>
              <a:blipFill>
                <a:blip r:embed="rId8"/>
                <a:stretch>
                  <a:fillRect t="-12048" b="-361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Группа 14"/>
          <p:cNvGrpSpPr/>
          <p:nvPr/>
        </p:nvGrpSpPr>
        <p:grpSpPr>
          <a:xfrm>
            <a:off x="179657" y="4286256"/>
            <a:ext cx="8770688" cy="1803387"/>
            <a:chOff x="179657" y="4286256"/>
            <a:chExt cx="8770688" cy="18033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6666" name="Object 10"/>
                <p:cNvSpPr txBox="1"/>
                <p:nvPr/>
              </p:nvSpPr>
              <p:spPr bwMode="auto">
                <a:xfrm>
                  <a:off x="179657" y="4582656"/>
                  <a:ext cx="5438795" cy="522280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r>
                    <a:rPr lang="ru-RU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Экспонента в </a:t>
                  </a:r>
                  <a14:m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(∗)</m:t>
                      </m:r>
                    </m:oMath>
                  </a14:m>
                  <a:r>
                    <a:rPr lang="ru-RU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является периодической функцией! </a:t>
                  </a:r>
                </a:p>
              </p:txBody>
            </p:sp>
          </mc:Choice>
          <mc:Fallback xmlns="">
            <p:sp>
              <p:nvSpPr>
                <p:cNvPr id="32666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9657" y="4582656"/>
                  <a:ext cx="5438795" cy="522280"/>
                </a:xfrm>
                <a:prstGeom prst="rect">
                  <a:avLst/>
                </a:prstGeom>
                <a:blipFill>
                  <a:blip r:embed="rId9"/>
                  <a:stretch>
                    <a:fillRect l="-896" t="-7059" r="-56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26667" name="Object 11"/>
                <p:cNvGraphicFramePr>
                  <a:graphicFrameLocks noChangeAspect="1"/>
                </p:cNvGraphicFramePr>
                <p:nvPr/>
              </p:nvGraphicFramePr>
              <p:xfrm>
                <a:off x="5581670" y="4286256"/>
                <a:ext cx="1847850" cy="9731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749160" imgH="393480" progId="Equation.DSMT4">
                        <p:embed/>
                      </p:oleObj>
                    </mc:Choice>
                    <mc:Fallback>
                      <p:oleObj name="Equation" r:id="rId10" imgW="749160" imgH="393480" progId="Equation.DSMT4">
                        <p:embed/>
                        <p:pic>
                          <p:nvPicPr>
                            <p:cNvPr id="326667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81670" y="4286256"/>
                              <a:ext cx="1847850" cy="9731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26667" name="Object 11"/>
                <p:cNvGraphicFramePr>
                  <a:graphicFrameLocks noChangeAspect="1"/>
                </p:cNvGraphicFramePr>
                <p:nvPr/>
              </p:nvGraphicFramePr>
              <p:xfrm>
                <a:off x="5581670" y="4286256"/>
                <a:ext cx="1847850" cy="9731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2" imgW="749160" imgH="393480" progId="Equation.DSMT4">
                        <p:embed/>
                      </p:oleObj>
                    </mc:Choice>
                    <mc:Fallback>
                      <p:oleObj name="Equation" r:id="rId12" imgW="749160" imgH="393480" progId="Equation.DSMT4">
                        <p:embed/>
                        <p:pic>
                          <p:nvPicPr>
                            <p:cNvPr id="326667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81670" y="4286256"/>
                              <a:ext cx="1847850" cy="9731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26670" name="Object 14"/>
                <p:cNvGraphicFramePr>
                  <a:graphicFrameLocks noChangeAspect="1"/>
                </p:cNvGraphicFramePr>
                <p:nvPr/>
              </p:nvGraphicFramePr>
              <p:xfrm>
                <a:off x="7500958" y="4616452"/>
                <a:ext cx="1449387" cy="3460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4" imgW="850680" imgH="203040" progId="Equation.DSMT4">
                        <p:embed/>
                      </p:oleObj>
                    </mc:Choice>
                    <mc:Fallback>
                      <p:oleObj name="Equation" r:id="rId14" imgW="850680" imgH="203040" progId="Equation.DSMT4">
                        <p:embed/>
                        <p:pic>
                          <p:nvPicPr>
                            <p:cNvPr id="32667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500958" y="4616452"/>
                              <a:ext cx="1449387" cy="3460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26670" name="Object 14"/>
                <p:cNvGraphicFramePr>
                  <a:graphicFrameLocks noChangeAspect="1"/>
                </p:cNvGraphicFramePr>
                <p:nvPr/>
              </p:nvGraphicFramePr>
              <p:xfrm>
                <a:off x="7500958" y="4616452"/>
                <a:ext cx="1449387" cy="3460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6" imgW="850680" imgH="203040" progId="Equation.DSMT4">
                        <p:embed/>
                      </p:oleObj>
                    </mc:Choice>
                    <mc:Fallback>
                      <p:oleObj name="Equation" r:id="rId16" imgW="850680" imgH="203040" progId="Equation.DSMT4">
                        <p:embed/>
                        <p:pic>
                          <p:nvPicPr>
                            <p:cNvPr id="32667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500958" y="4616452"/>
                              <a:ext cx="1449387" cy="3460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26671" name="Object 15"/>
                <p:cNvGraphicFramePr>
                  <a:graphicFrameLocks noChangeAspect="1"/>
                </p:cNvGraphicFramePr>
                <p:nvPr/>
              </p:nvGraphicFramePr>
              <p:xfrm>
                <a:off x="3143240" y="5116505"/>
                <a:ext cx="2755900" cy="9731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8" imgW="1117440" imgH="393480" progId="Equation.DSMT4">
                        <p:embed/>
                      </p:oleObj>
                    </mc:Choice>
                    <mc:Fallback>
                      <p:oleObj name="Equation" r:id="rId18" imgW="1117440" imgH="393480" progId="Equation.DSMT4">
                        <p:embed/>
                        <p:pic>
                          <p:nvPicPr>
                            <p:cNvPr id="326671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43240" y="5116505"/>
                              <a:ext cx="2755900" cy="9731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26671" name="Object 15"/>
                <p:cNvGraphicFramePr>
                  <a:graphicFrameLocks noChangeAspect="1"/>
                </p:cNvGraphicFramePr>
                <p:nvPr/>
              </p:nvGraphicFramePr>
              <p:xfrm>
                <a:off x="3143240" y="5116505"/>
                <a:ext cx="2755900" cy="9731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0" imgW="1117440" imgH="393480" progId="Equation.DSMT4">
                        <p:embed/>
                      </p:oleObj>
                    </mc:Choice>
                    <mc:Fallback>
                      <p:oleObj name="Equation" r:id="rId20" imgW="1117440" imgH="393480" progId="Equation.DSMT4">
                        <p:embed/>
                        <p:pic>
                          <p:nvPicPr>
                            <p:cNvPr id="326671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43240" y="5116505"/>
                              <a:ext cx="2755900" cy="9731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Дискретный спектр </a:t>
            </a:r>
          </a:p>
        </p:txBody>
      </p:sp>
      <p:sp>
        <p:nvSpPr>
          <p:cNvPr id="320524" name="AutoShape 12" descr="D:\University\Teaching\Gelendzik_2013\Lectures\Data\%D0%94%D0%B8%D1%81%D0%BA%D1%80%D0%B5%D1%82%D0%BD%D0%BE%D0%B5 %D0%BF%D1%80%D0%B5%D0%BE%D0%B1%D1%80%D0%B0%D0%B7%D0%BE%D0%B2%D0%B0%D0%BD%D0%B8%D0%B5 %D0%A4%D1%83%D1%80%D1%8C%D0%B5_files\dft_html_1bfefa1c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0" y="64040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Периодический сигнал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дискретный спектр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1256145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Решение: повторять заданный сигнал бесконечное количество раз с периодом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Рисунок 15" descr="dft_html_772c7802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720" y="2657584"/>
            <a:ext cx="5514975" cy="10572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7224" y="2214554"/>
            <a:ext cx="4348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Повторение с произвольным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T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502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646725"/>
              </p:ext>
            </p:extLst>
          </p:nvPr>
        </p:nvGraphicFramePr>
        <p:xfrm>
          <a:off x="6572250" y="3900488"/>
          <a:ext cx="15859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228600" progId="Equation.DSMT4">
                  <p:embed/>
                </p:oleObj>
              </mc:Choice>
              <mc:Fallback>
                <p:oleObj name="Equation" r:id="rId3" imgW="698400" imgH="228600" progId="Equation.DSMT4">
                  <p:embed/>
                  <p:pic>
                    <p:nvPicPr>
                      <p:cNvPr id="3502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900488"/>
                        <a:ext cx="158591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Рисунок 21" descr="dft_html_e33b323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5720" y="4557843"/>
            <a:ext cx="5553075" cy="11715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7224" y="4071942"/>
            <a:ext cx="4348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Решение с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1" baseline="-25000" dirty="0" err="1">
                <a:latin typeface="Times New Roman" pitchFamily="18" charset="0"/>
                <a:cs typeface="Times New Roman" pitchFamily="18" charset="0"/>
              </a:rPr>
              <a:t>min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24" name="AutoShape 12" descr="D:\University\Teaching\Gelendzik_2013\Lectures\Data\%D0%94%D0%B8%D1%81%D0%BA%D1%80%D0%B5%D1%82%D0%BD%D0%BE%D0%B5 %D0%BF%D1%80%D0%B5%D0%BE%D0%B1%D1%80%D0%B0%D0%B7%D0%BE%D0%B2%D0%B0%D0%BD%D0%B8%D0%B5 %D0%A4%D1%83%D1%80%D1%8C%D0%B5_files\dft_html_1bfefa1c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350218" name="Object 10"/>
          <p:cNvGraphicFramePr>
            <a:graphicFrameLocks noChangeAspect="1"/>
          </p:cNvGraphicFramePr>
          <p:nvPr/>
        </p:nvGraphicFramePr>
        <p:xfrm>
          <a:off x="5564212" y="714356"/>
          <a:ext cx="250825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431640" progId="Equation.DSMT4">
                  <p:embed/>
                </p:oleObj>
              </mc:Choice>
              <mc:Fallback>
                <p:oleObj name="Equation" r:id="rId2" imgW="1104840" imgH="431640" progId="Equation.DSMT4">
                  <p:embed/>
                  <p:pic>
                    <p:nvPicPr>
                      <p:cNvPr id="3502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212" y="714356"/>
                        <a:ext cx="2508250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0" name="AutoShape 12" descr="D:\University\Teaching\Gelendzik_2013\Lectures\Data\%D0%94%D0%B8%D1%81%D0%BA%D1%80%D0%B5%D1%82%D0%BD%D0%BE%D0%B5 %D0%BF%D1%80%D0%B5%D0%BE%D0%B1%D1%80%D0%B0%D0%B7%D0%BE%D0%B2%D0%B0%D0%BD%D0%B8%D0%B5 %D0%A4%D1%83%D1%80%D1%8C%D0%B5_files\dft_html_e33b323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323528" y="740604"/>
            <a:ext cx="4819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Гармоники в дискретном спектре равны: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Стрелка вниз 18"/>
          <p:cNvSpPr/>
          <p:nvPr/>
        </p:nvSpPr>
        <p:spPr>
          <a:xfrm>
            <a:off x="4286248" y="2928934"/>
            <a:ext cx="714380" cy="785818"/>
          </a:xfrm>
          <a:prstGeom prst="downArrow">
            <a:avLst>
              <a:gd name="adj1" fmla="val 50000"/>
              <a:gd name="adj2" fmla="val 57901"/>
            </a:avLst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7620" name="Object 4"/>
              <p:cNvSpPr txBox="1"/>
              <p:nvPr/>
            </p:nvSpPr>
            <p:spPr bwMode="auto">
              <a:xfrm>
                <a:off x="5000625" y="3155950"/>
                <a:ext cx="3747839" cy="4159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ru-RU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Дискретизируя</a:t>
                </a:r>
                <a:r>
                  <a:rPr lang="ru-RU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(∗) 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шагом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36762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0625" y="3155950"/>
                <a:ext cx="3747839" cy="415925"/>
              </a:xfrm>
              <a:prstGeom prst="rect">
                <a:avLst/>
              </a:prstGeom>
              <a:blipFill>
                <a:blip r:embed="rId4"/>
                <a:stretch>
                  <a:fillRect l="-1626" t="-8824" b="-220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7621" name="Object 5"/>
          <p:cNvGraphicFramePr>
            <a:graphicFrameLocks noChangeAspect="1"/>
          </p:cNvGraphicFramePr>
          <p:nvPr/>
        </p:nvGraphicFramePr>
        <p:xfrm>
          <a:off x="431800" y="3857625"/>
          <a:ext cx="49482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431640" progId="Equation.DSMT4">
                  <p:embed/>
                </p:oleObj>
              </mc:Choice>
              <mc:Fallback>
                <p:oleObj name="Equation" r:id="rId5" imgW="2006280" imgH="431640" progId="Equation.DSMT4">
                  <p:embed/>
                  <p:pic>
                    <p:nvPicPr>
                      <p:cNvPr id="3676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3857625"/>
                        <a:ext cx="4948238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2" name="Object 6"/>
          <p:cNvGraphicFramePr>
            <a:graphicFrameLocks noChangeAspect="1"/>
          </p:cNvGraphicFramePr>
          <p:nvPr/>
        </p:nvGraphicFramePr>
        <p:xfrm>
          <a:off x="3929058" y="4976831"/>
          <a:ext cx="29749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444240" progId="Equation.DSMT4">
                  <p:embed/>
                </p:oleObj>
              </mc:Choice>
              <mc:Fallback>
                <p:oleObj name="Equation" r:id="rId7" imgW="1206360" imgH="444240" progId="Equation.DSMT4">
                  <p:embed/>
                  <p:pic>
                    <p:nvPicPr>
                      <p:cNvPr id="3676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58" y="4976831"/>
                        <a:ext cx="2974975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3" name="Object 7"/>
          <p:cNvGraphicFramePr>
            <a:graphicFrameLocks noChangeAspect="1"/>
          </p:cNvGraphicFramePr>
          <p:nvPr/>
        </p:nvGraphicFramePr>
        <p:xfrm>
          <a:off x="7162800" y="5375275"/>
          <a:ext cx="15144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8840" imgH="203040" progId="Equation.DSMT4">
                  <p:embed/>
                </p:oleObj>
              </mc:Choice>
              <mc:Fallback>
                <p:oleObj name="Equation" r:id="rId9" imgW="888840" imgH="203040" progId="Equation.DSMT4">
                  <p:embed/>
                  <p:pic>
                    <p:nvPicPr>
                      <p:cNvPr id="3676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375275"/>
                        <a:ext cx="15144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99BDCD80-ABAB-4500-8FA1-1843CFEC9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Прямое ДПФ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5A3397-35A9-400B-BB07-87CB1A51F84D}"/>
              </a:ext>
            </a:extLst>
          </p:cNvPr>
          <p:cNvSpPr txBox="1"/>
          <p:nvPr/>
        </p:nvSpPr>
        <p:spPr>
          <a:xfrm>
            <a:off x="58662" y="2066736"/>
            <a:ext cx="638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 сегменте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75E2BF-F183-4A5B-B0D5-CBBFDC3D73FC}"/>
                  </a:ext>
                </a:extLst>
              </p:cNvPr>
              <p:cNvSpPr txBox="1"/>
              <p:nvPr/>
            </p:nvSpPr>
            <p:spPr>
              <a:xfrm>
                <a:off x="1763688" y="1873006"/>
                <a:ext cx="4536504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𝜔</m:t>
                      </m:r>
                      <m:r>
                        <a:rPr lang="ru-R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0, 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: 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𝑁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75E2BF-F183-4A5B-B0D5-CBBFDC3D7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873006"/>
                <a:ext cx="4536504" cy="9017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3CEE902-FEBF-4B61-BAC2-74A094378463}"/>
              </a:ext>
            </a:extLst>
          </p:cNvPr>
          <p:cNvSpPr txBox="1"/>
          <p:nvPr/>
        </p:nvSpPr>
        <p:spPr>
          <a:xfrm>
            <a:off x="6156176" y="2076330"/>
            <a:ext cx="2181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количество </a:t>
            </a: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D13C30AF-8E21-4D93-83FD-88CDE9F39F9D}"/>
              </a:ext>
            </a:extLst>
          </p:cNvPr>
          <p:cNvSpPr txBox="1"/>
          <p:nvPr/>
        </p:nvSpPr>
        <p:spPr bwMode="auto">
          <a:xfrm>
            <a:off x="1835696" y="4960346"/>
            <a:ext cx="1663353" cy="608605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(ПДПФ)</a:t>
            </a:r>
            <a:endParaRPr lang="ru-RU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48" name="Object 8"/>
          <p:cNvGraphicFramePr>
            <a:graphicFrameLocks noChangeAspect="1"/>
          </p:cNvGraphicFramePr>
          <p:nvPr/>
        </p:nvGraphicFramePr>
        <p:xfrm>
          <a:off x="1071538" y="1146166"/>
          <a:ext cx="41417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431640" progId="Equation.DSMT4">
                  <p:embed/>
                </p:oleObj>
              </mc:Choice>
              <mc:Fallback>
                <p:oleObj name="Equation" r:id="rId2" imgW="1790640" imgH="431640" progId="Equation.DSMT4">
                  <p:embed/>
                  <p:pic>
                    <p:nvPicPr>
                      <p:cNvPr id="3686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1146166"/>
                        <a:ext cx="4141788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49" name="Object 9"/>
          <p:cNvGraphicFramePr>
            <a:graphicFrameLocks noChangeAspect="1"/>
          </p:cNvGraphicFramePr>
          <p:nvPr/>
        </p:nvGraphicFramePr>
        <p:xfrm>
          <a:off x="6215074" y="1369481"/>
          <a:ext cx="19081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228600" progId="Equation.DSMT4">
                  <p:embed/>
                </p:oleObj>
              </mc:Choice>
              <mc:Fallback>
                <p:oleObj name="Equation" r:id="rId4" imgW="825480" imgH="228600" progId="Equation.DSMT4">
                  <p:embed/>
                  <p:pic>
                    <p:nvPicPr>
                      <p:cNvPr id="3686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1369481"/>
                        <a:ext cx="1908175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0" name="Object 10"/>
          <p:cNvGraphicFramePr>
            <a:graphicFrameLocks noChangeAspect="1"/>
          </p:cNvGraphicFramePr>
          <p:nvPr/>
        </p:nvGraphicFramePr>
        <p:xfrm>
          <a:off x="498475" y="2406650"/>
          <a:ext cx="8075613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57600" imgH="431640" progId="Equation.DSMT4">
                  <p:embed/>
                </p:oleObj>
              </mc:Choice>
              <mc:Fallback>
                <p:oleObj name="Equation" r:id="rId6" imgW="3657600" imgH="431640" progId="Equation.DSMT4">
                  <p:embed/>
                  <p:pic>
                    <p:nvPicPr>
                      <p:cNvPr id="3686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2406650"/>
                        <a:ext cx="8075613" cy="950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1" name="Object 11"/>
          <p:cNvGraphicFramePr>
            <a:graphicFrameLocks noChangeAspect="1"/>
          </p:cNvGraphicFramePr>
          <p:nvPr/>
        </p:nvGraphicFramePr>
        <p:xfrm>
          <a:off x="3333753" y="3605663"/>
          <a:ext cx="2452693" cy="752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2680" imgH="393480" progId="Equation.DSMT4">
                  <p:embed/>
                </p:oleObj>
              </mc:Choice>
              <mc:Fallback>
                <p:oleObj name="Equation" r:id="rId8" imgW="1282680" imgH="393480" progId="Equation.DSMT4">
                  <p:embed/>
                  <p:pic>
                    <p:nvPicPr>
                      <p:cNvPr id="3686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3" y="3605663"/>
                        <a:ext cx="2452693" cy="7520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2" name="Object 12"/>
          <p:cNvGraphicFramePr>
            <a:graphicFrameLocks noChangeAspect="1"/>
          </p:cNvGraphicFramePr>
          <p:nvPr/>
        </p:nvGraphicFramePr>
        <p:xfrm>
          <a:off x="428596" y="4605351"/>
          <a:ext cx="27447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393480" progId="Equation.DSMT4">
                  <p:embed/>
                </p:oleObj>
              </mc:Choice>
              <mc:Fallback>
                <p:oleObj name="Equation" r:id="rId10" imgW="1434960" imgH="393480" progId="Equation.DSMT4">
                  <p:embed/>
                  <p:pic>
                    <p:nvPicPr>
                      <p:cNvPr id="3686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4605351"/>
                        <a:ext cx="2744788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Стрелка вниз 21"/>
          <p:cNvSpPr/>
          <p:nvPr/>
        </p:nvSpPr>
        <p:spPr>
          <a:xfrm rot="-5400000">
            <a:off x="3426877" y="4662493"/>
            <a:ext cx="428628" cy="710151"/>
          </a:xfrm>
          <a:prstGeom prst="downArrow">
            <a:avLst>
              <a:gd name="adj1" fmla="val 50000"/>
              <a:gd name="adj2" fmla="val 85555"/>
            </a:avLst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68654" name="Object 14"/>
          <p:cNvGraphicFramePr>
            <a:graphicFrameLocks noChangeAspect="1"/>
          </p:cNvGraphicFramePr>
          <p:nvPr/>
        </p:nvGraphicFramePr>
        <p:xfrm>
          <a:off x="4143372" y="4500570"/>
          <a:ext cx="401002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15840" imgH="444240" progId="Equation.DSMT4">
                  <p:embed/>
                </p:oleObj>
              </mc:Choice>
              <mc:Fallback>
                <p:oleObj name="Equation" r:id="rId12" imgW="1815840" imgH="444240" progId="Equation.DSMT4">
                  <p:embed/>
                  <p:pic>
                    <p:nvPicPr>
                      <p:cNvPr id="3686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4500570"/>
                        <a:ext cx="4010025" cy="979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5" name="Object 15"/>
          <p:cNvGraphicFramePr>
            <a:graphicFrameLocks noChangeAspect="1"/>
          </p:cNvGraphicFramePr>
          <p:nvPr/>
        </p:nvGraphicFramePr>
        <p:xfrm>
          <a:off x="6919913" y="5429250"/>
          <a:ext cx="14922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76240" imgH="203040" progId="Equation.DSMT4">
                  <p:embed/>
                </p:oleObj>
              </mc:Choice>
              <mc:Fallback>
                <p:oleObj name="Equation" r:id="rId14" imgW="876240" imgH="203040" progId="Equation.DSMT4">
                  <p:embed/>
                  <p:pic>
                    <p:nvPicPr>
                      <p:cNvPr id="3686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5429250"/>
                        <a:ext cx="14922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113E4AA9-A941-4666-A88A-00078C05E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Обратное ДПФ</a:t>
            </a: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E0CB2F32-970F-4BE3-8667-670339C69E1C}"/>
              </a:ext>
            </a:extLst>
          </p:cNvPr>
          <p:cNvSpPr txBox="1"/>
          <p:nvPr/>
        </p:nvSpPr>
        <p:spPr bwMode="auto">
          <a:xfrm>
            <a:off x="4067944" y="5407531"/>
            <a:ext cx="1663353" cy="608605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(ОДПФ)</a:t>
            </a:r>
            <a:endParaRPr lang="ru-RU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698" name="Object 10"/>
          <p:cNvGraphicFramePr>
            <a:graphicFrameLocks noChangeAspect="1"/>
          </p:cNvGraphicFramePr>
          <p:nvPr/>
        </p:nvGraphicFramePr>
        <p:xfrm>
          <a:off x="747713" y="1428750"/>
          <a:ext cx="55784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200" imgH="444240" progId="Equation.DSMT4">
                  <p:embed/>
                </p:oleObj>
              </mc:Choice>
              <mc:Fallback>
                <p:oleObj name="Equation" r:id="rId2" imgW="2527200" imgH="444240" progId="Equation.DSMT4">
                  <p:embed/>
                  <p:pic>
                    <p:nvPicPr>
                      <p:cNvPr id="3706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1428750"/>
                        <a:ext cx="5578475" cy="979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9" name="Object 11"/>
          <p:cNvGraphicFramePr>
            <a:graphicFrameLocks noChangeAspect="1"/>
          </p:cNvGraphicFramePr>
          <p:nvPr/>
        </p:nvGraphicFramePr>
        <p:xfrm>
          <a:off x="336550" y="2500313"/>
          <a:ext cx="14922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203040" progId="Equation.DSMT4">
                  <p:embed/>
                </p:oleObj>
              </mc:Choice>
              <mc:Fallback>
                <p:oleObj name="Equation" r:id="rId4" imgW="876240" imgH="203040" progId="Equation.DSMT4">
                  <p:embed/>
                  <p:pic>
                    <p:nvPicPr>
                      <p:cNvPr id="3706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" y="2500313"/>
                        <a:ext cx="14922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0" name="Object 12"/>
          <p:cNvGraphicFramePr>
            <a:graphicFrameLocks noChangeAspect="1"/>
          </p:cNvGraphicFramePr>
          <p:nvPr/>
        </p:nvGraphicFramePr>
        <p:xfrm>
          <a:off x="4286248" y="2378074"/>
          <a:ext cx="375761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720" imgH="444240" progId="Equation.DSMT4">
                  <p:embed/>
                </p:oleObj>
              </mc:Choice>
              <mc:Fallback>
                <p:oleObj name="Equation" r:id="rId6" imgW="1701720" imgH="444240" progId="Equation.DSMT4">
                  <p:embed/>
                  <p:pic>
                    <p:nvPicPr>
                      <p:cNvPr id="3707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2378074"/>
                        <a:ext cx="3757612" cy="979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222543"/>
              </p:ext>
            </p:extLst>
          </p:nvPr>
        </p:nvGraphicFramePr>
        <p:xfrm>
          <a:off x="400050" y="3568700"/>
          <a:ext cx="470058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82600" imgH="444240" progId="Equation.DSMT4">
                  <p:embed/>
                </p:oleObj>
              </mc:Choice>
              <mc:Fallback>
                <p:oleObj name="Equation" r:id="rId8" imgW="2082600" imgH="444240" progId="Equation.DSMT4">
                  <p:embed/>
                  <p:pic>
                    <p:nvPicPr>
                      <p:cNvPr id="3707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3568700"/>
                        <a:ext cx="470058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414523"/>
              </p:ext>
            </p:extLst>
          </p:nvPr>
        </p:nvGraphicFramePr>
        <p:xfrm>
          <a:off x="3443288" y="4286250"/>
          <a:ext cx="50736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47840" imgH="444240" progId="Equation.DSMT4">
                  <p:embed/>
                </p:oleObj>
              </mc:Choice>
              <mc:Fallback>
                <p:oleObj name="Equation" r:id="rId10" imgW="2247840" imgH="444240" progId="Equation.DSMT4">
                  <p:embed/>
                  <p:pic>
                    <p:nvPicPr>
                      <p:cNvPr id="37070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4286250"/>
                        <a:ext cx="50736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3" name="Object 15"/>
          <p:cNvGraphicFramePr>
            <a:graphicFrameLocks noChangeAspect="1"/>
          </p:cNvGraphicFramePr>
          <p:nvPr/>
        </p:nvGraphicFramePr>
        <p:xfrm>
          <a:off x="1928940" y="5594351"/>
          <a:ext cx="5214828" cy="549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71520" imgH="228600" progId="Equation.DSMT4">
                  <p:embed/>
                </p:oleObj>
              </mc:Choice>
              <mc:Fallback>
                <p:oleObj name="Equation" r:id="rId12" imgW="2171520" imgH="228600" progId="Equation.DSMT4">
                  <p:embed/>
                  <p:pic>
                    <p:nvPicPr>
                      <p:cNvPr id="3707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940" y="5594351"/>
                        <a:ext cx="5214828" cy="5492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4B6419C0-A571-4836-9910-140B8C12B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5" y="3908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Обратное ДПФ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BA3816A1-8ED1-46F7-B634-6C67F4F58C4D}"/>
              </a:ext>
            </a:extLst>
          </p:cNvPr>
          <p:cNvSpPr txBox="1"/>
          <p:nvPr/>
        </p:nvSpPr>
        <p:spPr bwMode="auto">
          <a:xfrm>
            <a:off x="5000628" y="714557"/>
            <a:ext cx="1663353" cy="495191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(ОДПФ)</a:t>
            </a:r>
            <a:endParaRPr lang="ru-RU" sz="2400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E0FD1786-DCC1-4FD0-B9E8-23292BF3B09B}"/>
              </a:ext>
            </a:extLst>
          </p:cNvPr>
          <p:cNvSpPr txBox="1"/>
          <p:nvPr/>
        </p:nvSpPr>
        <p:spPr bwMode="auto">
          <a:xfrm>
            <a:off x="2987825" y="722383"/>
            <a:ext cx="1440160" cy="495191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(ПДПФ)</a:t>
            </a:r>
            <a:endParaRPr lang="ru-RU" sz="2400" dirty="0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EA4AD32B-CAD3-441E-B846-59989E866E62}"/>
              </a:ext>
            </a:extLst>
          </p:cNvPr>
          <p:cNvCxnSpPr>
            <a:cxnSpLocks/>
          </p:cNvCxnSpPr>
          <p:nvPr/>
        </p:nvCxnSpPr>
        <p:spPr>
          <a:xfrm flipV="1">
            <a:off x="4355976" y="962152"/>
            <a:ext cx="572643" cy="7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2125C4C-A937-4247-AB49-D362DA770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endParaRPr lang="ru-RU" sz="3200" b="1" kern="0" dirty="0">
              <a:solidFill>
                <a:srgbClr val="000099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5B81BC-9AF4-4AB5-B21F-D7E4B5ADD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C4C178-B49C-4FF2-A01B-06236256205E}"/>
                  </a:ext>
                </a:extLst>
              </p:cNvPr>
              <p:cNvSpPr txBox="1"/>
              <p:nvPr/>
            </p:nvSpPr>
            <p:spPr>
              <a:xfrm>
                <a:off x="251520" y="2022909"/>
                <a:ext cx="4392356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   0≤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0,           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&lt;0,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C4C178-B49C-4FF2-A01B-06236256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022909"/>
                <a:ext cx="4392356" cy="8238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9D49E868-4148-41F9-9194-C0EBD6AEF724}"/>
              </a:ext>
            </a:extLst>
          </p:cNvPr>
          <p:cNvSpPr/>
          <p:nvPr/>
        </p:nvSpPr>
        <p:spPr>
          <a:xfrm>
            <a:off x="5148064" y="2278707"/>
            <a:ext cx="936104" cy="415275"/>
          </a:xfrm>
          <a:prstGeom prst="rightArrow">
            <a:avLst/>
          </a:prstGeom>
          <a:solidFill>
            <a:srgbClr val="0000FF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FF757E-D0C3-41B3-A83F-2BD61D7DA1F3}"/>
                  </a:ext>
                </a:extLst>
              </p:cNvPr>
              <p:cNvSpPr txBox="1"/>
              <p:nvPr/>
            </p:nvSpPr>
            <p:spPr>
              <a:xfrm>
                <a:off x="2267744" y="3284984"/>
                <a:ext cx="6298776" cy="865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FF757E-D0C3-41B3-A83F-2BD61D7DA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3284984"/>
                <a:ext cx="6298776" cy="865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EE3933-7FDC-4898-AF4A-935EB8605384}"/>
                  </a:ext>
                </a:extLst>
              </p:cNvPr>
              <p:cNvSpPr txBox="1"/>
              <p:nvPr/>
            </p:nvSpPr>
            <p:spPr>
              <a:xfrm>
                <a:off x="5292080" y="4313769"/>
                <a:ext cx="4661876" cy="37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EE3933-7FDC-4898-AF4A-935EB8605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4313769"/>
                <a:ext cx="4661876" cy="3796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269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 ДПФ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0697" name="Object 9"/>
              <p:cNvSpPr txBox="1"/>
              <p:nvPr/>
            </p:nvSpPr>
            <p:spPr bwMode="auto">
              <a:xfrm>
                <a:off x="2084328" y="723130"/>
                <a:ext cx="5518174" cy="82971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</a:t>
                </a:r>
                <a:r>
                  <a:rPr lang="ru-RU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ru-RU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800" dirty="0"/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переодическая </a:t>
                </a:r>
              </a:p>
            </p:txBody>
          </p:sp>
        </mc:Choice>
        <mc:Fallback xmlns="">
          <p:sp>
            <p:nvSpPr>
              <p:cNvPr id="37069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4328" y="723130"/>
                <a:ext cx="5518174" cy="829717"/>
              </a:xfrm>
              <a:prstGeom prst="rect">
                <a:avLst/>
              </a:prstGeom>
              <a:blipFill>
                <a:blip r:embed="rId2"/>
                <a:stretch>
                  <a:fillRect t="-73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17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587779"/>
              </p:ext>
            </p:extLst>
          </p:nvPr>
        </p:nvGraphicFramePr>
        <p:xfrm>
          <a:off x="82550" y="1677988"/>
          <a:ext cx="46926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080" imgH="228600" progId="Equation.DSMT4">
                  <p:embed/>
                </p:oleObj>
              </mc:Choice>
              <mc:Fallback>
                <p:oleObj name="Equation" r:id="rId3" imgW="1981080" imgH="228600" progId="Equation.DSMT4">
                  <p:embed/>
                  <p:pic>
                    <p:nvPicPr>
                      <p:cNvPr id="3717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1677988"/>
                        <a:ext cx="46926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Прямая со стрелкой 11"/>
          <p:cNvCxnSpPr/>
          <p:nvPr/>
        </p:nvCxnSpPr>
        <p:spPr>
          <a:xfrm flipV="1">
            <a:off x="4786314" y="1643050"/>
            <a:ext cx="1428760" cy="1782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4786314" y="2000240"/>
            <a:ext cx="1428760" cy="7143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1722" name="Object 10"/>
          <p:cNvGraphicFramePr>
            <a:graphicFrameLocks noChangeAspect="1"/>
          </p:cNvGraphicFramePr>
          <p:nvPr/>
        </p:nvGraphicFramePr>
        <p:xfrm>
          <a:off x="6286512" y="1425030"/>
          <a:ext cx="1571636" cy="41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203040" progId="Equation.DSMT4">
                  <p:embed/>
                </p:oleObj>
              </mc:Choice>
              <mc:Fallback>
                <p:oleObj name="Equation" r:id="rId5" imgW="774360" imgH="203040" progId="Equation.DSMT4">
                  <p:embed/>
                  <p:pic>
                    <p:nvPicPr>
                      <p:cNvPr id="3717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12" y="1425030"/>
                        <a:ext cx="1571636" cy="4131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23" name="Object 11"/>
          <p:cNvGraphicFramePr>
            <a:graphicFrameLocks noChangeAspect="1"/>
          </p:cNvGraphicFramePr>
          <p:nvPr/>
        </p:nvGraphicFramePr>
        <p:xfrm>
          <a:off x="6279123" y="1857364"/>
          <a:ext cx="27051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440" imgH="228600" progId="Equation.DSMT4">
                  <p:embed/>
                </p:oleObj>
              </mc:Choice>
              <mc:Fallback>
                <p:oleObj name="Equation" r:id="rId7" imgW="1333440" imgH="228600" progId="Equation.DSMT4">
                  <p:embed/>
                  <p:pic>
                    <p:nvPicPr>
                      <p:cNvPr id="3717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123" y="1857364"/>
                        <a:ext cx="2705100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24" name="Object 12"/>
          <p:cNvGraphicFramePr>
            <a:graphicFrameLocks noChangeAspect="1"/>
          </p:cNvGraphicFramePr>
          <p:nvPr/>
        </p:nvGraphicFramePr>
        <p:xfrm>
          <a:off x="6943753" y="2334143"/>
          <a:ext cx="1700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203040" progId="Equation.DSMT4">
                  <p:embed/>
                </p:oleObj>
              </mc:Choice>
              <mc:Fallback>
                <p:oleObj name="Equation" r:id="rId9" imgW="838080" imgH="203040" progId="Equation.DSMT4">
                  <p:embed/>
                  <p:pic>
                    <p:nvPicPr>
                      <p:cNvPr id="3717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753" y="2334143"/>
                        <a:ext cx="170021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25" name="Object 13"/>
          <p:cNvGraphicFramePr>
            <a:graphicFrameLocks noChangeAspect="1"/>
          </p:cNvGraphicFramePr>
          <p:nvPr/>
        </p:nvGraphicFramePr>
        <p:xfrm>
          <a:off x="285720" y="2500306"/>
          <a:ext cx="6132513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89040" imgH="228600" progId="Equation.DSMT4">
                  <p:embed/>
                </p:oleObj>
              </mc:Choice>
              <mc:Fallback>
                <p:oleObj name="Equation" r:id="rId11" imgW="2489040" imgH="228600" progId="Equation.DSMT4">
                  <p:embed/>
                  <p:pic>
                    <p:nvPicPr>
                      <p:cNvPr id="3717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2500306"/>
                        <a:ext cx="6132513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Группа 28"/>
          <p:cNvGrpSpPr/>
          <p:nvPr/>
        </p:nvGrpSpPr>
        <p:grpSpPr>
          <a:xfrm>
            <a:off x="1714480" y="3286124"/>
            <a:ext cx="5915025" cy="2966530"/>
            <a:chOff x="1714480" y="3391428"/>
            <a:chExt cx="5915025" cy="2966530"/>
          </a:xfrm>
        </p:grpSpPr>
        <p:pic>
          <p:nvPicPr>
            <p:cNvPr id="21" name="Рисунок 20" descr="dft_html_2d038923.gif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14480" y="3462358"/>
              <a:ext cx="5915025" cy="2895600"/>
            </a:xfrm>
            <a:prstGeom prst="rect">
              <a:avLst/>
            </a:prstGeom>
          </p:spPr>
        </p:pic>
        <p:graphicFrame>
          <p:nvGraphicFramePr>
            <p:cNvPr id="371726" name="Object 14"/>
            <p:cNvGraphicFramePr>
              <a:graphicFrameLocks noChangeAspect="1"/>
            </p:cNvGraphicFramePr>
            <p:nvPr/>
          </p:nvGraphicFramePr>
          <p:xfrm>
            <a:off x="2782344" y="3391428"/>
            <a:ext cx="654009" cy="357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9040" imgH="228600" progId="Equation.DSMT4">
                    <p:embed/>
                  </p:oleObj>
                </mc:Choice>
                <mc:Fallback>
                  <p:oleObj name="Equation" r:id="rId14" imgW="419040" imgH="228600" progId="Equation.DSMT4">
                    <p:embed/>
                    <p:pic>
                      <p:nvPicPr>
                        <p:cNvPr id="37172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2344" y="3391428"/>
                          <a:ext cx="654009" cy="35718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1728" name="Object 16"/>
            <p:cNvGraphicFramePr>
              <a:graphicFrameLocks noChangeAspect="1"/>
            </p:cNvGraphicFramePr>
            <p:nvPr/>
          </p:nvGraphicFramePr>
          <p:xfrm>
            <a:off x="4500562" y="4714884"/>
            <a:ext cx="654050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19040" imgH="228600" progId="Equation.DSMT4">
                    <p:embed/>
                  </p:oleObj>
                </mc:Choice>
                <mc:Fallback>
                  <p:oleObj name="Equation" r:id="rId16" imgW="419040" imgH="228600" progId="Equation.DSMT4">
                    <p:embed/>
                    <p:pic>
                      <p:nvPicPr>
                        <p:cNvPr id="37172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562" y="4714884"/>
                          <a:ext cx="654050" cy="3571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746" name="Object 10"/>
          <p:cNvGraphicFramePr>
            <a:graphicFrameLocks noChangeAspect="1"/>
          </p:cNvGraphicFramePr>
          <p:nvPr/>
        </p:nvGraphicFramePr>
        <p:xfrm>
          <a:off x="214282" y="1258506"/>
          <a:ext cx="40068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400" imgH="228600" progId="Equation.DSMT4">
                  <p:embed/>
                </p:oleObj>
              </mc:Choice>
              <mc:Fallback>
                <p:oleObj name="Equation" r:id="rId2" imgW="1625400" imgH="228600" progId="Equation.DSMT4">
                  <p:embed/>
                  <p:pic>
                    <p:nvPicPr>
                      <p:cNvPr id="3727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1258506"/>
                        <a:ext cx="4006850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7" name="Object 11"/>
          <p:cNvGraphicFramePr>
            <a:graphicFrameLocks noChangeAspect="1"/>
          </p:cNvGraphicFramePr>
          <p:nvPr/>
        </p:nvGraphicFramePr>
        <p:xfrm>
          <a:off x="214282" y="1941139"/>
          <a:ext cx="876458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5720" imgH="444240" progId="Equation.DSMT4">
                  <p:embed/>
                </p:oleObj>
              </mc:Choice>
              <mc:Fallback>
                <p:oleObj name="Equation" r:id="rId4" imgW="3555720" imgH="444240" progId="Equation.DSMT4">
                  <p:embed/>
                  <p:pic>
                    <p:nvPicPr>
                      <p:cNvPr id="3727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1941139"/>
                        <a:ext cx="8764588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Стрелка вниз 16"/>
          <p:cNvSpPr/>
          <p:nvPr/>
        </p:nvSpPr>
        <p:spPr>
          <a:xfrm>
            <a:off x="4143372" y="3000372"/>
            <a:ext cx="642942" cy="750522"/>
          </a:xfrm>
          <a:prstGeom prst="downArrow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72748" name="Object 12"/>
          <p:cNvGraphicFramePr>
            <a:graphicFrameLocks noChangeAspect="1"/>
          </p:cNvGraphicFramePr>
          <p:nvPr/>
        </p:nvGraphicFramePr>
        <p:xfrm>
          <a:off x="2243151" y="3946533"/>
          <a:ext cx="42576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53800" progId="Equation.DSMT4">
                  <p:embed/>
                </p:oleObj>
              </mc:Choice>
              <mc:Fallback>
                <p:oleObj name="Equation" r:id="rId6" imgW="1726920" imgH="253800" progId="Equation.DSMT4">
                  <p:embed/>
                  <p:pic>
                    <p:nvPicPr>
                      <p:cNvPr id="3727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51" y="3946533"/>
                        <a:ext cx="4257675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14282" y="5036778"/>
            <a:ext cx="864399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Вторая половина спектральных отсчетов является комплексно сопряженной первой. </a:t>
            </a:r>
            <a:endParaRPr lang="ru-RU" sz="26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C545880-515F-4D3D-B29E-128D2F4C2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 ДПФ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Группа 14"/>
          <p:cNvGrpSpPr/>
          <p:nvPr/>
        </p:nvGrpSpPr>
        <p:grpSpPr>
          <a:xfrm>
            <a:off x="159776" y="1357298"/>
            <a:ext cx="7698372" cy="1071570"/>
            <a:chOff x="159776" y="714356"/>
            <a:chExt cx="7698372" cy="1071570"/>
          </a:xfrm>
        </p:grpSpPr>
        <p:graphicFrame>
          <p:nvGraphicFramePr>
            <p:cNvPr id="372748" name="Object 12"/>
            <p:cNvGraphicFramePr>
              <a:graphicFrameLocks noChangeAspect="1"/>
            </p:cNvGraphicFramePr>
            <p:nvPr/>
          </p:nvGraphicFramePr>
          <p:xfrm>
            <a:off x="1408135" y="1285864"/>
            <a:ext cx="6450013" cy="500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16120" imgH="203040" progId="Equation.DSMT4">
                    <p:embed/>
                  </p:oleObj>
                </mc:Choice>
                <mc:Fallback>
                  <p:oleObj name="Equation" r:id="rId2" imgW="2616120" imgH="203040" progId="Equation.DSMT4">
                    <p:embed/>
                    <p:pic>
                      <p:nvPicPr>
                        <p:cNvPr id="37274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135" y="1285864"/>
                          <a:ext cx="6450013" cy="500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7"/>
            <p:cNvSpPr txBox="1"/>
            <p:nvPr/>
          </p:nvSpPr>
          <p:spPr>
            <a:xfrm>
              <a:off x="159776" y="714356"/>
              <a:ext cx="261202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>
                  <a:latin typeface="Times New Roman" pitchFamily="18" charset="0"/>
                  <a:cs typeface="Times New Roman" pitchFamily="18" charset="0"/>
                </a:rPr>
                <a:t>1)  </a:t>
              </a:r>
              <a:r>
                <a:rPr lang="ru-RU" sz="2600" b="1" dirty="0">
                  <a:latin typeface="Times New Roman" pitchFamily="18" charset="0"/>
                  <a:cs typeface="Times New Roman" pitchFamily="18" charset="0"/>
                </a:rPr>
                <a:t>линейность</a:t>
              </a:r>
              <a:endParaRPr lang="ru-RU" sz="26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142844" y="3857628"/>
            <a:ext cx="8358246" cy="2183518"/>
            <a:chOff x="142844" y="3857628"/>
            <a:chExt cx="8358246" cy="2183518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142844" y="3857628"/>
              <a:ext cx="7283481" cy="919163"/>
              <a:chOff x="142844" y="1928802"/>
              <a:chExt cx="7283481" cy="919163"/>
            </a:xfrm>
          </p:grpSpPr>
          <p:graphicFrame>
            <p:nvGraphicFramePr>
              <p:cNvPr id="9" name="Object 12"/>
              <p:cNvGraphicFramePr>
                <a:graphicFrameLocks noChangeAspect="1"/>
              </p:cNvGraphicFramePr>
              <p:nvPr/>
            </p:nvGraphicFramePr>
            <p:xfrm>
              <a:off x="1789113" y="2347903"/>
              <a:ext cx="5637212" cy="5000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286000" imgH="203040" progId="Equation.DSMT4">
                      <p:embed/>
                    </p:oleObj>
                  </mc:Choice>
                  <mc:Fallback>
                    <p:oleObj name="Equation" r:id="rId4" imgW="2286000" imgH="203040" progId="Equation.DSMT4">
                      <p:embed/>
                      <p:pic>
                        <p:nvPicPr>
                          <p:cNvPr id="9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9113" y="2347903"/>
                            <a:ext cx="5637212" cy="5000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Box 9"/>
              <p:cNvSpPr txBox="1"/>
              <p:nvPr/>
            </p:nvSpPr>
            <p:spPr>
              <a:xfrm>
                <a:off x="142844" y="1928802"/>
                <a:ext cx="435714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>
                    <a:latin typeface="Times New Roman" pitchFamily="18" charset="0"/>
                    <a:cs typeface="Times New Roman" pitchFamily="18" charset="0"/>
                  </a:rPr>
                  <a:t>2)  </a:t>
                </a:r>
                <a:r>
                  <a:rPr lang="ru-RU" sz="2600" b="1" dirty="0">
                    <a:latin typeface="Times New Roman" pitchFamily="18" charset="0"/>
                    <a:cs typeface="Times New Roman" pitchFamily="18" charset="0"/>
                  </a:rPr>
                  <a:t>Сдвиг по времени</a:t>
                </a:r>
                <a:endParaRPr lang="ru-RU" sz="26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aphicFrame>
          <p:nvGraphicFramePr>
            <p:cNvPr id="373768" name="Object 8"/>
            <p:cNvGraphicFramePr>
              <a:graphicFrameLocks noChangeAspect="1"/>
            </p:cNvGraphicFramePr>
            <p:nvPr/>
          </p:nvGraphicFramePr>
          <p:xfrm>
            <a:off x="500034" y="5214950"/>
            <a:ext cx="2111390" cy="826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76240" imgH="342720" progId="Equation.DSMT4">
                    <p:embed/>
                  </p:oleObj>
                </mc:Choice>
                <mc:Fallback>
                  <p:oleObj name="Equation" r:id="rId6" imgW="876240" imgH="342720" progId="Equation.DSMT4">
                    <p:embed/>
                    <p:pic>
                      <p:nvPicPr>
                        <p:cNvPr id="37376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5214950"/>
                          <a:ext cx="2111390" cy="826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3769" name="Object 9"/>
            <p:cNvGraphicFramePr>
              <a:graphicFrameLocks noChangeAspect="1"/>
            </p:cNvGraphicFramePr>
            <p:nvPr/>
          </p:nvGraphicFramePr>
          <p:xfrm>
            <a:off x="3629053" y="4883172"/>
            <a:ext cx="4872037" cy="765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84120" imgH="342720" progId="Equation.DSMT4">
                    <p:embed/>
                  </p:oleObj>
                </mc:Choice>
                <mc:Fallback>
                  <p:oleObj name="Equation" r:id="rId8" imgW="2184120" imgH="342720" progId="Equation.DSMT4">
                    <p:embed/>
                    <p:pic>
                      <p:nvPicPr>
                        <p:cNvPr id="37376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9053" y="4883172"/>
                          <a:ext cx="4872037" cy="765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AE93936E-6823-4D8A-A958-4377A353E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 ДПФ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17"/>
          <p:cNvGrpSpPr/>
          <p:nvPr/>
        </p:nvGrpSpPr>
        <p:grpSpPr>
          <a:xfrm>
            <a:off x="142844" y="1500174"/>
            <a:ext cx="7893081" cy="1488034"/>
            <a:chOff x="142844" y="3138479"/>
            <a:chExt cx="7893081" cy="1488034"/>
          </a:xfrm>
        </p:grpSpPr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177925" y="3562888"/>
            <a:ext cx="6858000" cy="1063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81000" imgH="431640" progId="Equation.DSMT4">
                    <p:embed/>
                  </p:oleObj>
                </mc:Choice>
                <mc:Fallback>
                  <p:oleObj name="Equation" r:id="rId2" imgW="2781000" imgH="431640" progId="Equation.DSMT4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7925" y="3562888"/>
                          <a:ext cx="6858000" cy="1063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142844" y="3138479"/>
              <a:ext cx="738148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>
                  <a:latin typeface="Times New Roman" pitchFamily="18" charset="0"/>
                  <a:cs typeface="Times New Roman" pitchFamily="18" charset="0"/>
                </a:rPr>
                <a:t>3)  </a:t>
              </a:r>
              <a:r>
                <a:rPr lang="ru-RU" sz="2600" b="1" dirty="0">
                  <a:latin typeface="Times New Roman" pitchFamily="18" charset="0"/>
                  <a:cs typeface="Times New Roman" pitchFamily="18" charset="0"/>
                </a:rPr>
                <a:t>ДФП для круговой (периодической) свертки </a:t>
              </a:r>
              <a:endParaRPr lang="ru-RU" sz="26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381958" name="Object 6"/>
          <p:cNvGraphicFramePr>
            <a:graphicFrameLocks noChangeAspect="1"/>
          </p:cNvGraphicFramePr>
          <p:nvPr/>
        </p:nvGraphicFramePr>
        <p:xfrm>
          <a:off x="285750" y="2976566"/>
          <a:ext cx="7116763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4840" imgH="457200" progId="Equation.DSMT4">
                  <p:embed/>
                </p:oleObj>
              </mc:Choice>
              <mc:Fallback>
                <p:oleObj name="Equation" r:id="rId4" imgW="3174840" imgH="457200" progId="Equation.DSMT4">
                  <p:embed/>
                  <p:pic>
                    <p:nvPicPr>
                      <p:cNvPr id="3819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976566"/>
                        <a:ext cx="7116763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9" name="Object 7"/>
          <p:cNvGraphicFramePr>
            <a:graphicFrameLocks noChangeAspect="1"/>
          </p:cNvGraphicFramePr>
          <p:nvPr/>
        </p:nvGraphicFramePr>
        <p:xfrm>
          <a:off x="285720" y="4151328"/>
          <a:ext cx="8680450" cy="142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73240" imgH="634680" progId="Equation.DSMT4">
                  <p:embed/>
                </p:oleObj>
              </mc:Choice>
              <mc:Fallback>
                <p:oleObj name="Equation" r:id="rId6" imgW="3873240" imgH="634680" progId="Equation.DSMT4">
                  <p:embed/>
                  <p:pic>
                    <p:nvPicPr>
                      <p:cNvPr id="3819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4151328"/>
                        <a:ext cx="8680450" cy="142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377899D-DCCF-4346-A635-4A9D03CBA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 ДПФ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18"/>
          <p:cNvGrpSpPr/>
          <p:nvPr/>
        </p:nvGrpSpPr>
        <p:grpSpPr>
          <a:xfrm>
            <a:off x="142844" y="857232"/>
            <a:ext cx="8283580" cy="1576405"/>
            <a:chOff x="142844" y="4655610"/>
            <a:chExt cx="8283580" cy="1576405"/>
          </a:xfrm>
        </p:grpSpPr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785786" y="5168390"/>
            <a:ext cx="7640638" cy="1063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98520" imgH="431640" progId="Equation.DSMT4">
                    <p:embed/>
                  </p:oleObj>
                </mc:Choice>
                <mc:Fallback>
                  <p:oleObj name="Equation" r:id="rId2" imgW="3098520" imgH="431640" progId="Equation.DSMT4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786" y="5168390"/>
                          <a:ext cx="7640638" cy="1063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/>
            <p:cNvSpPr txBox="1"/>
            <p:nvPr/>
          </p:nvSpPr>
          <p:spPr>
            <a:xfrm>
              <a:off x="142844" y="4655610"/>
              <a:ext cx="644538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>
                  <a:latin typeface="Times New Roman" pitchFamily="18" charset="0"/>
                  <a:cs typeface="Times New Roman" pitchFamily="18" charset="0"/>
                </a:rPr>
                <a:t>4) </a:t>
              </a:r>
              <a:r>
                <a:rPr lang="ru-RU" sz="2600" b="1" dirty="0">
                  <a:latin typeface="Times New Roman" pitchFamily="18" charset="0"/>
                  <a:cs typeface="Times New Roman" pitchFamily="18" charset="0"/>
                </a:rPr>
                <a:t>Линейная (апериодическая) свертка</a:t>
              </a:r>
              <a:endParaRPr lang="ru-RU" sz="26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382982" name="Object 6"/>
          <p:cNvGraphicFramePr>
            <a:graphicFrameLocks noChangeAspect="1"/>
          </p:cNvGraphicFramePr>
          <p:nvPr/>
        </p:nvGraphicFramePr>
        <p:xfrm>
          <a:off x="428596" y="3900507"/>
          <a:ext cx="8053387" cy="238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93880" imgH="1066680" progId="Equation.DSMT4">
                  <p:embed/>
                </p:oleObj>
              </mc:Choice>
              <mc:Fallback>
                <p:oleObj name="Equation" r:id="rId4" imgW="3593880" imgH="1066680" progId="Equation.DSMT4">
                  <p:embed/>
                  <p:pic>
                    <p:nvPicPr>
                      <p:cNvPr id="3829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3900507"/>
                        <a:ext cx="8053387" cy="238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Группа 17"/>
          <p:cNvGrpSpPr/>
          <p:nvPr/>
        </p:nvGrpSpPr>
        <p:grpSpPr>
          <a:xfrm>
            <a:off x="428596" y="2285992"/>
            <a:ext cx="8429684" cy="1785950"/>
            <a:chOff x="428596" y="2285992"/>
            <a:chExt cx="8429684" cy="1785950"/>
          </a:xfrm>
        </p:grpSpPr>
        <p:graphicFrame>
          <p:nvGraphicFramePr>
            <p:cNvPr id="382983" name="Object 7"/>
            <p:cNvGraphicFramePr>
              <a:graphicFrameLocks noChangeAspect="1"/>
            </p:cNvGraphicFramePr>
            <p:nvPr/>
          </p:nvGraphicFramePr>
          <p:xfrm>
            <a:off x="428596" y="2285992"/>
            <a:ext cx="5721350" cy="966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552400" imgH="431640" progId="Equation.DSMT4">
                    <p:embed/>
                  </p:oleObj>
                </mc:Choice>
                <mc:Fallback>
                  <p:oleObj name="Equation" r:id="rId6" imgW="2552400" imgH="431640" progId="Equation.DSMT4">
                    <p:embed/>
                    <p:pic>
                      <p:nvPicPr>
                        <p:cNvPr id="38298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596" y="2285992"/>
                          <a:ext cx="5721350" cy="966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2984" name="Object 8"/>
            <p:cNvGraphicFramePr>
              <a:graphicFrameLocks noChangeAspect="1"/>
            </p:cNvGraphicFramePr>
            <p:nvPr/>
          </p:nvGraphicFramePr>
          <p:xfrm>
            <a:off x="5300693" y="3105154"/>
            <a:ext cx="3557587" cy="966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87240" imgH="431640" progId="Equation.DSMT4">
                    <p:embed/>
                  </p:oleObj>
                </mc:Choice>
                <mc:Fallback>
                  <p:oleObj name="Equation" r:id="rId8" imgW="1587240" imgH="431640" progId="Equation.DSMT4">
                    <p:embed/>
                    <p:pic>
                      <p:nvPicPr>
                        <p:cNvPr id="38298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0693" y="3105154"/>
                          <a:ext cx="3557587" cy="966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" name="Прямая со стрелкой 16"/>
            <p:cNvCxnSpPr/>
            <p:nvPr/>
          </p:nvCxnSpPr>
          <p:spPr>
            <a:xfrm>
              <a:off x="4572000" y="3000372"/>
              <a:ext cx="714380" cy="50006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049C4BCA-F717-47D2-9D5B-40DD9EDBD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 ДПФ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4790" name="Object 6"/>
          <p:cNvGraphicFramePr>
            <a:graphicFrameLocks noChangeAspect="1"/>
          </p:cNvGraphicFramePr>
          <p:nvPr/>
        </p:nvGraphicFramePr>
        <p:xfrm>
          <a:off x="3286116" y="714356"/>
          <a:ext cx="2737824" cy="107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42720" progId="Equation.DSMT4">
                  <p:embed/>
                </p:oleObj>
              </mc:Choice>
              <mc:Fallback>
                <p:oleObj name="Equation" r:id="rId2" imgW="876240" imgH="342720" progId="Equation.DSMT4">
                  <p:embed/>
                  <p:pic>
                    <p:nvPicPr>
                      <p:cNvPr id="3747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714356"/>
                        <a:ext cx="2737824" cy="107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1" name="Object 7"/>
          <p:cNvGraphicFramePr>
            <a:graphicFrameLocks noChangeAspect="1"/>
          </p:cNvGraphicFramePr>
          <p:nvPr/>
        </p:nvGraphicFramePr>
        <p:xfrm>
          <a:off x="1928794" y="1928802"/>
          <a:ext cx="50815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5080" imgH="203040" progId="Equation.DSMT4">
                  <p:embed/>
                </p:oleObj>
              </mc:Choice>
              <mc:Fallback>
                <p:oleObj name="Equation" r:id="rId4" imgW="1765080" imgH="203040" progId="Equation.DSMT4">
                  <p:embed/>
                  <p:pic>
                    <p:nvPicPr>
                      <p:cNvPr id="3747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794" y="1928802"/>
                        <a:ext cx="508158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2" name="Object 8"/>
          <p:cNvGraphicFramePr>
            <a:graphicFrameLocks noChangeAspect="1"/>
          </p:cNvGraphicFramePr>
          <p:nvPr/>
        </p:nvGraphicFramePr>
        <p:xfrm>
          <a:off x="1838325" y="2714620"/>
          <a:ext cx="5264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203040" progId="Equation.DSMT4">
                  <p:embed/>
                </p:oleObj>
              </mc:Choice>
              <mc:Fallback>
                <p:oleObj name="Equation" r:id="rId6" imgW="1828800" imgH="203040" progId="Equation.DSMT4">
                  <p:embed/>
                  <p:pic>
                    <p:nvPicPr>
                      <p:cNvPr id="3747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2714620"/>
                        <a:ext cx="52641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3" name="Object 9"/>
          <p:cNvGraphicFramePr>
            <a:graphicFrameLocks noChangeAspect="1"/>
          </p:cNvGraphicFramePr>
          <p:nvPr/>
        </p:nvGraphicFramePr>
        <p:xfrm>
          <a:off x="1003285" y="4000504"/>
          <a:ext cx="14255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164880" progId="Equation.DSMT4">
                  <p:embed/>
                </p:oleObj>
              </mc:Choice>
              <mc:Fallback>
                <p:oleObj name="Equation" r:id="rId8" imgW="495000" imgH="164880" progId="Equation.DSMT4">
                  <p:embed/>
                  <p:pic>
                    <p:nvPicPr>
                      <p:cNvPr id="3747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285" y="4000504"/>
                        <a:ext cx="14255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4" name="Object 10"/>
          <p:cNvGraphicFramePr>
            <a:graphicFrameLocks noChangeAspect="1"/>
          </p:cNvGraphicFramePr>
          <p:nvPr/>
        </p:nvGraphicFramePr>
        <p:xfrm>
          <a:off x="3214678" y="3571876"/>
          <a:ext cx="482441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160" imgH="241200" progId="Equation.DSMT4">
                  <p:embed/>
                </p:oleObj>
              </mc:Choice>
              <mc:Fallback>
                <p:oleObj name="Equation" r:id="rId10" imgW="1676160" imgH="241200" progId="Equation.DSMT4">
                  <p:embed/>
                  <p:pic>
                    <p:nvPicPr>
                      <p:cNvPr id="3747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3571876"/>
                        <a:ext cx="4824412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5" name="Object 11"/>
          <p:cNvGraphicFramePr>
            <a:graphicFrameLocks noChangeAspect="1"/>
          </p:cNvGraphicFramePr>
          <p:nvPr/>
        </p:nvGraphicFramePr>
        <p:xfrm>
          <a:off x="4819663" y="4160313"/>
          <a:ext cx="168116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3920" imgH="253800" progId="Equation.DSMT4">
                  <p:embed/>
                </p:oleObj>
              </mc:Choice>
              <mc:Fallback>
                <p:oleObj name="Equation" r:id="rId12" imgW="583920" imgH="253800" progId="Equation.DSMT4">
                  <p:embed/>
                  <p:pic>
                    <p:nvPicPr>
                      <p:cNvPr id="37479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63" y="4160313"/>
                        <a:ext cx="1681163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6" name="Object 12"/>
          <p:cNvGraphicFramePr>
            <a:graphicFrameLocks noChangeAspect="1"/>
          </p:cNvGraphicFramePr>
          <p:nvPr/>
        </p:nvGraphicFramePr>
        <p:xfrm>
          <a:off x="763588" y="5067300"/>
          <a:ext cx="1900237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0240" imgH="393480" progId="Equation.DSMT4">
                  <p:embed/>
                </p:oleObj>
              </mc:Choice>
              <mc:Fallback>
                <p:oleObj name="Equation" r:id="rId14" imgW="660240" imgH="393480" progId="Equation.DSMT4">
                  <p:embed/>
                  <p:pic>
                    <p:nvPicPr>
                      <p:cNvPr id="3747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5067300"/>
                        <a:ext cx="1900237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7" name="Object 13"/>
          <p:cNvGraphicFramePr>
            <a:graphicFrameLocks noChangeAspect="1"/>
          </p:cNvGraphicFramePr>
          <p:nvPr/>
        </p:nvGraphicFramePr>
        <p:xfrm>
          <a:off x="4910138" y="5040313"/>
          <a:ext cx="14255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95000" imgH="190440" progId="Equation.DSMT4">
                  <p:embed/>
                </p:oleObj>
              </mc:Choice>
              <mc:Fallback>
                <p:oleObj name="Equation" r:id="rId16" imgW="495000" imgH="190440" progId="Equation.DSMT4">
                  <p:embed/>
                  <p:pic>
                    <p:nvPicPr>
                      <p:cNvPr id="3747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138" y="5040313"/>
                        <a:ext cx="14255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98" name="Object 14"/>
          <p:cNvGraphicFramePr>
            <a:graphicFrameLocks noChangeAspect="1"/>
          </p:cNvGraphicFramePr>
          <p:nvPr/>
        </p:nvGraphicFramePr>
        <p:xfrm>
          <a:off x="4595828" y="5556250"/>
          <a:ext cx="21193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36560" imgH="253800" progId="Equation.DSMT4">
                  <p:embed/>
                </p:oleObj>
              </mc:Choice>
              <mc:Fallback>
                <p:oleObj name="Equation" r:id="rId18" imgW="736560" imgH="253800" progId="Equation.DSMT4">
                  <p:embed/>
                  <p:pic>
                    <p:nvPicPr>
                      <p:cNvPr id="3747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28" y="5556250"/>
                        <a:ext cx="211931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4329D619-8303-4409-A469-2AC182E80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 ДПФ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Альтернативный подход </a:t>
            </a:r>
          </a:p>
        </p:txBody>
      </p:sp>
      <p:graphicFrame>
        <p:nvGraphicFramePr>
          <p:cNvPr id="379915" name="Object 11"/>
          <p:cNvGraphicFramePr>
            <a:graphicFrameLocks noChangeAspect="1"/>
          </p:cNvGraphicFramePr>
          <p:nvPr/>
        </p:nvGraphicFramePr>
        <p:xfrm>
          <a:off x="2857488" y="785794"/>
          <a:ext cx="3500462" cy="528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03040" progId="Equation.DSMT4">
                  <p:embed/>
                </p:oleObj>
              </mc:Choice>
              <mc:Fallback>
                <p:oleObj name="Equation" r:id="rId2" imgW="1346040" imgH="203040" progId="Equation.DSMT4">
                  <p:embed/>
                  <p:pic>
                    <p:nvPicPr>
                      <p:cNvPr id="3799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88" y="785794"/>
                        <a:ext cx="3500462" cy="528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6" name="Object 12"/>
          <p:cNvGraphicFramePr>
            <a:graphicFrameLocks noChangeAspect="1"/>
          </p:cNvGraphicFramePr>
          <p:nvPr/>
        </p:nvGraphicFramePr>
        <p:xfrm>
          <a:off x="4455002" y="3228135"/>
          <a:ext cx="2317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52280" progId="Equation.DSMT4">
                  <p:embed/>
                </p:oleObj>
              </mc:Choice>
              <mc:Fallback>
                <p:oleObj name="Equation" r:id="rId4" imgW="88560" imgH="152280" progId="Equation.DSMT4">
                  <p:embed/>
                  <p:pic>
                    <p:nvPicPr>
                      <p:cNvPr id="3799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5002" y="3228135"/>
                        <a:ext cx="2317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" name="Группа 60"/>
          <p:cNvGrpSpPr/>
          <p:nvPr/>
        </p:nvGrpSpPr>
        <p:grpSpPr>
          <a:xfrm>
            <a:off x="214282" y="1702059"/>
            <a:ext cx="4429156" cy="1500198"/>
            <a:chOff x="857224" y="1785926"/>
            <a:chExt cx="3071834" cy="1500198"/>
          </a:xfrm>
        </p:grpSpPr>
        <p:cxnSp>
          <p:nvCxnSpPr>
            <p:cNvPr id="14" name="Прямая со стрелкой 13"/>
            <p:cNvCxnSpPr/>
            <p:nvPr/>
          </p:nvCxnSpPr>
          <p:spPr>
            <a:xfrm>
              <a:off x="857224" y="3284536"/>
              <a:ext cx="3071834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Группа 29"/>
            <p:cNvGrpSpPr/>
            <p:nvPr/>
          </p:nvGrpSpPr>
          <p:grpSpPr>
            <a:xfrm>
              <a:off x="1071538" y="2214554"/>
              <a:ext cx="857256" cy="1071570"/>
              <a:chOff x="5000628" y="2214554"/>
              <a:chExt cx="857256" cy="1071570"/>
            </a:xfrm>
          </p:grpSpPr>
          <p:cxnSp>
            <p:nvCxnSpPr>
              <p:cNvPr id="23" name="Прямая соединительная линия 22"/>
              <p:cNvCxnSpPr/>
              <p:nvPr/>
            </p:nvCxnSpPr>
            <p:spPr>
              <a:xfrm rot="5400000" flipH="1" flipV="1">
                <a:off x="4679157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/>
              <p:cNvCxnSpPr/>
              <p:nvPr/>
            </p:nvCxnSpPr>
            <p:spPr>
              <a:xfrm rot="16200000" flipH="1">
                <a:off x="5107785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Группа 30"/>
            <p:cNvGrpSpPr/>
            <p:nvPr/>
          </p:nvGrpSpPr>
          <p:grpSpPr>
            <a:xfrm>
              <a:off x="1492851" y="1785926"/>
              <a:ext cx="857256" cy="1500198"/>
              <a:chOff x="5000628" y="2214554"/>
              <a:chExt cx="857256" cy="1071570"/>
            </a:xfrm>
          </p:grpSpPr>
          <p:cxnSp>
            <p:nvCxnSpPr>
              <p:cNvPr id="32" name="Прямая соединительная линия 31"/>
              <p:cNvCxnSpPr/>
              <p:nvPr/>
            </p:nvCxnSpPr>
            <p:spPr>
              <a:xfrm rot="5400000" flipH="1" flipV="1">
                <a:off x="4679157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/>
              <p:cNvCxnSpPr/>
              <p:nvPr/>
            </p:nvCxnSpPr>
            <p:spPr>
              <a:xfrm rot="16200000" flipH="1">
                <a:off x="5107785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Группа 33"/>
            <p:cNvGrpSpPr/>
            <p:nvPr/>
          </p:nvGrpSpPr>
          <p:grpSpPr>
            <a:xfrm>
              <a:off x="1928794" y="2071678"/>
              <a:ext cx="857256" cy="1214446"/>
              <a:chOff x="5000628" y="2214554"/>
              <a:chExt cx="857256" cy="1071570"/>
            </a:xfrm>
          </p:grpSpPr>
          <p:cxnSp>
            <p:nvCxnSpPr>
              <p:cNvPr id="35" name="Прямая соединительная линия 34"/>
              <p:cNvCxnSpPr/>
              <p:nvPr/>
            </p:nvCxnSpPr>
            <p:spPr>
              <a:xfrm rot="5400000" flipH="1" flipV="1">
                <a:off x="4679157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Прямая соединительная линия 35"/>
              <p:cNvCxnSpPr/>
              <p:nvPr/>
            </p:nvCxnSpPr>
            <p:spPr>
              <a:xfrm rot="16200000" flipH="1">
                <a:off x="5107785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Группа 36"/>
            <p:cNvGrpSpPr/>
            <p:nvPr/>
          </p:nvGrpSpPr>
          <p:grpSpPr>
            <a:xfrm>
              <a:off x="2357422" y="2285992"/>
              <a:ext cx="857256" cy="1000132"/>
              <a:chOff x="5000628" y="2214554"/>
              <a:chExt cx="857256" cy="1071570"/>
            </a:xfrm>
          </p:grpSpPr>
          <p:cxnSp>
            <p:nvCxnSpPr>
              <p:cNvPr id="38" name="Прямая соединительная линия 37"/>
              <p:cNvCxnSpPr/>
              <p:nvPr/>
            </p:nvCxnSpPr>
            <p:spPr>
              <a:xfrm rot="5400000" flipH="1" flipV="1">
                <a:off x="4679157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Прямая соединительная линия 38"/>
              <p:cNvCxnSpPr/>
              <p:nvPr/>
            </p:nvCxnSpPr>
            <p:spPr>
              <a:xfrm rot="16200000" flipH="1">
                <a:off x="5107785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Группа 39"/>
            <p:cNvGrpSpPr/>
            <p:nvPr/>
          </p:nvGrpSpPr>
          <p:grpSpPr>
            <a:xfrm>
              <a:off x="2786050" y="2500306"/>
              <a:ext cx="857256" cy="785818"/>
              <a:chOff x="5000628" y="2214554"/>
              <a:chExt cx="857256" cy="1071570"/>
            </a:xfrm>
          </p:grpSpPr>
          <p:cxnSp>
            <p:nvCxnSpPr>
              <p:cNvPr id="41" name="Прямая соединительная линия 40"/>
              <p:cNvCxnSpPr/>
              <p:nvPr/>
            </p:nvCxnSpPr>
            <p:spPr>
              <a:xfrm rot="5400000" flipH="1" flipV="1">
                <a:off x="4679157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Прямая соединительная линия 41"/>
              <p:cNvCxnSpPr/>
              <p:nvPr/>
            </p:nvCxnSpPr>
            <p:spPr>
              <a:xfrm rot="16200000" flipH="1">
                <a:off x="5107785" y="2536025"/>
                <a:ext cx="1071570" cy="42862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Прямая соединительная линия 43"/>
            <p:cNvCxnSpPr/>
            <p:nvPr/>
          </p:nvCxnSpPr>
          <p:spPr>
            <a:xfrm rot="5400000" flipH="1" flipV="1">
              <a:off x="1500166" y="1785926"/>
              <a:ext cx="428628" cy="428628"/>
            </a:xfrm>
            <a:prstGeom prst="line">
              <a:avLst/>
            </a:prstGeom>
            <a:ln w="381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/>
            <p:cNvCxnSpPr/>
            <p:nvPr/>
          </p:nvCxnSpPr>
          <p:spPr>
            <a:xfrm>
              <a:off x="1928794" y="1785926"/>
              <a:ext cx="428628" cy="285752"/>
            </a:xfrm>
            <a:prstGeom prst="line">
              <a:avLst/>
            </a:prstGeom>
            <a:ln w="381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/>
            <p:cNvCxnSpPr/>
            <p:nvPr/>
          </p:nvCxnSpPr>
          <p:spPr>
            <a:xfrm>
              <a:off x="2357422" y="2071678"/>
              <a:ext cx="428628" cy="214314"/>
            </a:xfrm>
            <a:prstGeom prst="line">
              <a:avLst/>
            </a:prstGeom>
            <a:ln w="381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/>
            <p:cNvCxnSpPr/>
            <p:nvPr/>
          </p:nvCxnSpPr>
          <p:spPr>
            <a:xfrm>
              <a:off x="2786050" y="2285992"/>
              <a:ext cx="428628" cy="214314"/>
            </a:xfrm>
            <a:prstGeom prst="line">
              <a:avLst/>
            </a:prstGeom>
            <a:ln w="381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/>
            <p:cNvCxnSpPr/>
            <p:nvPr/>
          </p:nvCxnSpPr>
          <p:spPr>
            <a:xfrm rot="5400000">
              <a:off x="1178695" y="2536025"/>
              <a:ext cx="150019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/>
            <p:cNvCxnSpPr/>
            <p:nvPr/>
          </p:nvCxnSpPr>
          <p:spPr>
            <a:xfrm rot="5400000">
              <a:off x="1750199" y="2678901"/>
              <a:ext cx="121444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/>
            <p:cNvCxnSpPr/>
            <p:nvPr/>
          </p:nvCxnSpPr>
          <p:spPr>
            <a:xfrm rot="5400000">
              <a:off x="964381" y="2750339"/>
              <a:ext cx="107157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79917" name="Object 13"/>
          <p:cNvGraphicFramePr>
            <a:graphicFrameLocks noChangeAspect="1"/>
          </p:cNvGraphicFramePr>
          <p:nvPr/>
        </p:nvGraphicFramePr>
        <p:xfrm>
          <a:off x="1631986" y="3087689"/>
          <a:ext cx="36353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41200" progId="Equation.DSMT4">
                  <p:embed/>
                </p:oleObj>
              </mc:Choice>
              <mc:Fallback>
                <p:oleObj name="Equation" r:id="rId6" imgW="139680" imgH="241200" progId="Equation.DSMT4">
                  <p:embed/>
                  <p:pic>
                    <p:nvPicPr>
                      <p:cNvPr id="3799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86" y="3087689"/>
                        <a:ext cx="363538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8" name="Object 14"/>
          <p:cNvGraphicFramePr>
            <a:graphicFrameLocks noChangeAspect="1"/>
          </p:cNvGraphicFramePr>
          <p:nvPr/>
        </p:nvGraphicFramePr>
        <p:xfrm>
          <a:off x="2143108" y="3077690"/>
          <a:ext cx="59372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41200" progId="Equation.DSMT4">
                  <p:embed/>
                </p:oleObj>
              </mc:Choice>
              <mc:Fallback>
                <p:oleObj name="Equation" r:id="rId8" imgW="228600" imgH="241200" progId="Equation.DSMT4">
                  <p:embed/>
                  <p:pic>
                    <p:nvPicPr>
                      <p:cNvPr id="3799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3077690"/>
                        <a:ext cx="59372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9" name="Object 15"/>
          <p:cNvGraphicFramePr>
            <a:graphicFrameLocks noChangeAspect="1"/>
          </p:cNvGraphicFramePr>
          <p:nvPr/>
        </p:nvGraphicFramePr>
        <p:xfrm>
          <a:off x="857224" y="3087689"/>
          <a:ext cx="59372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41200" progId="Equation.DSMT4">
                  <p:embed/>
                </p:oleObj>
              </mc:Choice>
              <mc:Fallback>
                <p:oleObj name="Equation" r:id="rId10" imgW="228600" imgH="241200" progId="Equation.DSMT4">
                  <p:embed/>
                  <p:pic>
                    <p:nvPicPr>
                      <p:cNvPr id="3799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3087689"/>
                        <a:ext cx="59372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0" name="Object 16"/>
          <p:cNvGraphicFramePr>
            <a:graphicFrameLocks noChangeAspect="1"/>
          </p:cNvGraphicFramePr>
          <p:nvPr/>
        </p:nvGraphicFramePr>
        <p:xfrm>
          <a:off x="6786578" y="1071546"/>
          <a:ext cx="13208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228600" progId="Equation.DSMT4">
                  <p:embed/>
                </p:oleObj>
              </mc:Choice>
              <mc:Fallback>
                <p:oleObj name="Equation" r:id="rId12" imgW="507960" imgH="228600" progId="Equation.DSMT4">
                  <p:embed/>
                  <p:pic>
                    <p:nvPicPr>
                      <p:cNvPr id="3799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78" y="1071546"/>
                        <a:ext cx="13208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1" name="Object 17"/>
          <p:cNvGraphicFramePr>
            <a:graphicFrameLocks noChangeAspect="1"/>
          </p:cNvGraphicFramePr>
          <p:nvPr/>
        </p:nvGraphicFramePr>
        <p:xfrm>
          <a:off x="1484264" y="1297284"/>
          <a:ext cx="620717" cy="364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280" imgH="241200" progId="Equation.DSMT4">
                  <p:embed/>
                </p:oleObj>
              </mc:Choice>
              <mc:Fallback>
                <p:oleObj name="Equation" r:id="rId14" imgW="368280" imgH="241200" progId="Equation.DSMT4">
                  <p:embed/>
                  <p:pic>
                    <p:nvPicPr>
                      <p:cNvPr id="3799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264" y="1297284"/>
                        <a:ext cx="620717" cy="364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Овал 63"/>
          <p:cNvSpPr>
            <a:spLocks noChangeAspect="1"/>
          </p:cNvSpPr>
          <p:nvPr/>
        </p:nvSpPr>
        <p:spPr>
          <a:xfrm>
            <a:off x="2309837" y="1916373"/>
            <a:ext cx="144000" cy="1440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/>
          <p:cNvSpPr>
            <a:spLocks noChangeAspect="1"/>
          </p:cNvSpPr>
          <p:nvPr/>
        </p:nvSpPr>
        <p:spPr>
          <a:xfrm>
            <a:off x="1682676" y="1638572"/>
            <a:ext cx="144000" cy="1440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/>
          <p:cNvSpPr>
            <a:spLocks noChangeAspect="1"/>
          </p:cNvSpPr>
          <p:nvPr/>
        </p:nvSpPr>
        <p:spPr>
          <a:xfrm>
            <a:off x="1071538" y="2059128"/>
            <a:ext cx="144000" cy="1440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79922" name="Object 18"/>
          <p:cNvGraphicFramePr>
            <a:graphicFrameLocks noChangeAspect="1"/>
          </p:cNvGraphicFramePr>
          <p:nvPr/>
        </p:nvGraphicFramePr>
        <p:xfrm>
          <a:off x="2139950" y="1559197"/>
          <a:ext cx="769937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57200" imgH="241200" progId="Equation.DSMT4">
                  <p:embed/>
                </p:oleObj>
              </mc:Choice>
              <mc:Fallback>
                <p:oleObj name="Equation" r:id="rId16" imgW="457200" imgH="241200" progId="Equation.DSMT4">
                  <p:embed/>
                  <p:pic>
                    <p:nvPicPr>
                      <p:cNvPr id="3799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1559197"/>
                        <a:ext cx="769937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3" name="Object 19"/>
          <p:cNvGraphicFramePr>
            <a:graphicFrameLocks noChangeAspect="1"/>
          </p:cNvGraphicFramePr>
          <p:nvPr/>
        </p:nvGraphicFramePr>
        <p:xfrm>
          <a:off x="631811" y="1717961"/>
          <a:ext cx="77152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241200" progId="Equation.DSMT4">
                  <p:embed/>
                </p:oleObj>
              </mc:Choice>
              <mc:Fallback>
                <p:oleObj name="Equation" r:id="rId18" imgW="457200" imgH="241200" progId="Equation.DSMT4">
                  <p:embed/>
                  <p:pic>
                    <p:nvPicPr>
                      <p:cNvPr id="3799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11" y="1717961"/>
                        <a:ext cx="771525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4" name="Object 20"/>
          <p:cNvGraphicFramePr>
            <a:graphicFrameLocks noChangeAspect="1"/>
          </p:cNvGraphicFramePr>
          <p:nvPr/>
        </p:nvGraphicFramePr>
        <p:xfrm>
          <a:off x="3132607" y="1714488"/>
          <a:ext cx="651770" cy="51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4560" imgH="241200" progId="Equation.DSMT4">
                  <p:embed/>
                </p:oleObj>
              </mc:Choice>
              <mc:Fallback>
                <p:oleObj name="Equation" r:id="rId20" imgW="304560" imgH="241200" progId="Equation.DSMT4">
                  <p:embed/>
                  <p:pic>
                    <p:nvPicPr>
                      <p:cNvPr id="37992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607" y="1714488"/>
                        <a:ext cx="651770" cy="515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5" name="Object 21"/>
          <p:cNvGraphicFramePr>
            <a:graphicFrameLocks noChangeAspect="1"/>
          </p:cNvGraphicFramePr>
          <p:nvPr/>
        </p:nvGraphicFramePr>
        <p:xfrm>
          <a:off x="5357818" y="2786058"/>
          <a:ext cx="2719387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9720" imgH="444240" progId="Equation.DSMT4">
                  <p:embed/>
                </p:oleObj>
              </mc:Choice>
              <mc:Fallback>
                <p:oleObj name="Equation" r:id="rId22" imgW="1269720" imgH="444240" progId="Equation.DSMT4">
                  <p:embed/>
                  <p:pic>
                    <p:nvPicPr>
                      <p:cNvPr id="37992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8" y="2786058"/>
                        <a:ext cx="2719387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6" name="Object 22"/>
          <p:cNvGraphicFramePr>
            <a:graphicFrameLocks noChangeAspect="1"/>
          </p:cNvGraphicFramePr>
          <p:nvPr/>
        </p:nvGraphicFramePr>
        <p:xfrm>
          <a:off x="5654999" y="1714488"/>
          <a:ext cx="1988835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38080" imgH="241200" progId="Equation.DSMT4">
                  <p:embed/>
                </p:oleObj>
              </mc:Choice>
              <mc:Fallback>
                <p:oleObj name="Equation" r:id="rId24" imgW="838080" imgH="241200" progId="Equation.DSMT4">
                  <p:embed/>
                  <p:pic>
                    <p:nvPicPr>
                      <p:cNvPr id="37992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999" y="1714488"/>
                        <a:ext cx="1988835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7" name="Object 23"/>
          <p:cNvGraphicFramePr>
            <a:graphicFrameLocks noChangeAspect="1"/>
          </p:cNvGraphicFramePr>
          <p:nvPr/>
        </p:nvGraphicFramePr>
        <p:xfrm>
          <a:off x="6786578" y="2252086"/>
          <a:ext cx="1643074" cy="34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77760" imgH="203040" progId="Equation.DSMT4">
                  <p:embed/>
                </p:oleObj>
              </mc:Choice>
              <mc:Fallback>
                <p:oleObj name="Equation" r:id="rId26" imgW="977760" imgH="203040" progId="Equation.DSMT4">
                  <p:embed/>
                  <p:pic>
                    <p:nvPicPr>
                      <p:cNvPr id="37992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78" y="2252086"/>
                        <a:ext cx="1643074" cy="34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8" name="Object 24"/>
          <p:cNvGraphicFramePr>
            <a:graphicFrameLocks noChangeAspect="1"/>
          </p:cNvGraphicFramePr>
          <p:nvPr/>
        </p:nvGraphicFramePr>
        <p:xfrm>
          <a:off x="2655221" y="5286388"/>
          <a:ext cx="3833559" cy="1000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701720" imgH="444240" progId="Equation.DSMT4">
                  <p:embed/>
                </p:oleObj>
              </mc:Choice>
              <mc:Fallback>
                <p:oleObj name="Equation" r:id="rId28" imgW="1701720" imgH="444240" progId="Equation.DSMT4">
                  <p:embed/>
                  <p:pic>
                    <p:nvPicPr>
                      <p:cNvPr id="3799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221" y="5286388"/>
                        <a:ext cx="3833559" cy="1000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29" name="Object 25"/>
          <p:cNvGraphicFramePr>
            <a:graphicFrameLocks noChangeAspect="1"/>
          </p:cNvGraphicFramePr>
          <p:nvPr/>
        </p:nvGraphicFramePr>
        <p:xfrm>
          <a:off x="1655763" y="3857625"/>
          <a:ext cx="28321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23880" imgH="660240" progId="Equation.DSMT4">
                  <p:embed/>
                </p:oleObj>
              </mc:Choice>
              <mc:Fallback>
                <p:oleObj name="Equation" r:id="rId30" imgW="1523880" imgH="660240" progId="Equation.DSMT4">
                  <p:embed/>
                  <p:pic>
                    <p:nvPicPr>
                      <p:cNvPr id="37992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3857625"/>
                        <a:ext cx="2832100" cy="1220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4643438" y="4203131"/>
            <a:ext cx="34639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Сплайн шапочка</a:t>
            </a:r>
            <a:endParaRPr lang="ru-RU" sz="26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Рисунок 54" descr="spectru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3488" y="3625695"/>
            <a:ext cx="5891784" cy="2718816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</a:t>
            </a:r>
          </a:p>
        </p:txBody>
      </p:sp>
      <p:pic>
        <p:nvPicPr>
          <p:cNvPr id="47" name="Рисунок 46" descr="time_sign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00556" y="691665"/>
            <a:ext cx="6342888" cy="2599944"/>
          </a:xfrm>
          <a:prstGeom prst="rect">
            <a:avLst/>
          </a:prstGeom>
        </p:spPr>
      </p:pic>
      <p:sp>
        <p:nvSpPr>
          <p:cNvPr id="49" name="Стрелка вниз 48"/>
          <p:cNvSpPr/>
          <p:nvPr/>
        </p:nvSpPr>
        <p:spPr>
          <a:xfrm>
            <a:off x="4071934" y="3000372"/>
            <a:ext cx="1393041" cy="714380"/>
          </a:xfrm>
          <a:prstGeom prst="downArrow">
            <a:avLst>
              <a:gd name="adj1" fmla="val 38416"/>
              <a:gd name="adj2" fmla="val 60006"/>
            </a:avLst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4283968" y="3112897"/>
            <a:ext cx="10715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ДФП</a:t>
            </a:r>
            <a:endParaRPr lang="ru-RU" sz="26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250001" y="1997839"/>
            <a:ext cx="8643997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10000"/>
              </a:spcBef>
            </a:pPr>
            <a:r>
              <a:rPr lang="ru-RU" sz="6000" b="1" dirty="0">
                <a:solidFill>
                  <a:srgbClr val="C00000"/>
                </a:solidFill>
              </a:rPr>
              <a:t>Быстрое преобразование Фурье </a:t>
            </a:r>
            <a:r>
              <a:rPr lang="en-US" sz="6000" b="1" dirty="0">
                <a:solidFill>
                  <a:srgbClr val="C00000"/>
                </a:solidFill>
              </a:rPr>
              <a:t>(</a:t>
            </a:r>
            <a:r>
              <a:rPr lang="ru-RU" sz="6000" b="1" dirty="0">
                <a:solidFill>
                  <a:srgbClr val="C00000"/>
                </a:solidFill>
              </a:rPr>
              <a:t>БПФ</a:t>
            </a:r>
            <a:r>
              <a:rPr lang="en-US" sz="6000" b="1" dirty="0">
                <a:solidFill>
                  <a:srgbClr val="C00000"/>
                </a:solidFill>
              </a:rPr>
              <a:t>)</a:t>
            </a:r>
            <a:endParaRPr lang="ru-RU" sz="6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Общие замечания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5593F1F-C656-4A19-889D-8234F9738C2B}"/>
              </a:ext>
            </a:extLst>
          </p:cNvPr>
          <p:cNvGrpSpPr/>
          <p:nvPr/>
        </p:nvGrpSpPr>
        <p:grpSpPr>
          <a:xfrm>
            <a:off x="1259632" y="1340768"/>
            <a:ext cx="7115730" cy="3582730"/>
            <a:chOff x="285720" y="3357562"/>
            <a:chExt cx="6215106" cy="2500330"/>
          </a:xfrm>
        </p:grpSpPr>
        <p:sp>
          <p:nvSpPr>
            <p:cNvPr id="11" name="Скругленный прямоугольник 16">
              <a:extLst>
                <a:ext uri="{FF2B5EF4-FFF2-40B4-BE49-F238E27FC236}">
                  <a16:creationId xmlns:a16="http://schemas.microsoft.com/office/drawing/2014/main" id="{D4A65F8D-D1C6-4385-84DD-AF42D89B595C}"/>
                </a:ext>
              </a:extLst>
            </p:cNvPr>
            <p:cNvSpPr/>
            <p:nvPr/>
          </p:nvSpPr>
          <p:spPr>
            <a:xfrm>
              <a:off x="285720" y="3357562"/>
              <a:ext cx="6215106" cy="250033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12" name="Object 8">
              <a:extLst>
                <a:ext uri="{FF2B5EF4-FFF2-40B4-BE49-F238E27FC236}">
                  <a16:creationId xmlns:a16="http://schemas.microsoft.com/office/drawing/2014/main" id="{A4A277E6-1536-4366-AEE1-D59AFBFB90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6284" y="3929070"/>
            <a:ext cx="5268912" cy="957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38280" imgH="444240" progId="Equation.DSMT4">
                    <p:embed/>
                  </p:oleObj>
                </mc:Choice>
                <mc:Fallback>
                  <p:oleObj name="Equation" r:id="rId2" imgW="2438280" imgH="444240" progId="Equation.DSMT4">
                    <p:embed/>
                    <p:pic>
                      <p:nvPicPr>
                        <p:cNvPr id="31949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284" y="3929070"/>
                          <a:ext cx="5268912" cy="957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9">
              <a:extLst>
                <a:ext uri="{FF2B5EF4-FFF2-40B4-BE49-F238E27FC236}">
                  <a16:creationId xmlns:a16="http://schemas.microsoft.com/office/drawing/2014/main" id="{E702F45C-B467-403E-9EDF-DD70D35848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8405" y="4829191"/>
            <a:ext cx="5568950" cy="957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77960" imgH="444240" progId="Equation.DSMT4">
                    <p:embed/>
                  </p:oleObj>
                </mc:Choice>
                <mc:Fallback>
                  <p:oleObj name="Equation" r:id="rId4" imgW="2577960" imgH="444240" progId="Equation.DSMT4">
                    <p:embed/>
                    <p:pic>
                      <p:nvPicPr>
                        <p:cNvPr id="31949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405" y="4829191"/>
                          <a:ext cx="5568950" cy="957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9042A6-52AF-4ABF-BC31-F0100FAD0979}"/>
                </a:ext>
              </a:extLst>
            </p:cNvPr>
            <p:cNvSpPr txBox="1"/>
            <p:nvPr/>
          </p:nvSpPr>
          <p:spPr>
            <a:xfrm>
              <a:off x="1016758" y="3398840"/>
              <a:ext cx="4880014" cy="365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8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Прямое\обратное дискретное ПФ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80F897F0-947E-406F-8809-4FDBE33199D0}"/>
                  </a:ext>
                </a:extLst>
              </p:cNvPr>
              <p:cNvSpPr txBox="1"/>
              <p:nvPr/>
            </p:nvSpPr>
            <p:spPr bwMode="auto">
              <a:xfrm>
                <a:off x="0" y="5224671"/>
                <a:ext cx="9144000" cy="62782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количество сигналов </a:t>
                </a: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⇄</m:t>
                    </m:r>
                    <m:r>
                      <a:rPr lang="ru-RU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количество спектров  </a:t>
                </a:r>
                <a14:m>
                  <m:oMath xmlns:m="http://schemas.openxmlformats.org/officeDocument/2006/math"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Object 10">
                <a:extLst>
                  <a:ext uri="{FF2B5EF4-FFF2-40B4-BE49-F238E27FC236}">
                    <a16:creationId xmlns:a16="http://schemas.microsoft.com/office/drawing/2014/main" id="{80F897F0-947E-406F-8809-4FDBE3319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5224671"/>
                <a:ext cx="9144000" cy="627827"/>
              </a:xfrm>
              <a:prstGeom prst="rect">
                <a:avLst/>
              </a:prstGeom>
              <a:blipFill>
                <a:blip r:embed="rId6"/>
                <a:stretch>
                  <a:fillRect t="-77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Основные примечания</a:t>
            </a: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3714744" y="1503038"/>
            <a:ext cx="1714512" cy="214314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2428860" y="1931666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2428860" y="2358706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67245" y="2289844"/>
            <a:ext cx="76174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>
            <a:off x="2428860" y="3217550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59298" y="2078745"/>
            <a:ext cx="14434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ДПФ</a:t>
            </a:r>
          </a:p>
          <a:p>
            <a:pPr algn="ctr"/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точек</a:t>
            </a:r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429256" y="1935869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429256" y="2362909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7641" y="2294047"/>
            <a:ext cx="76174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5429256" y="3221753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Object 10"/>
          <p:cNvGraphicFramePr>
            <a:graphicFrameLocks noChangeAspect="1"/>
          </p:cNvGraphicFramePr>
          <p:nvPr/>
        </p:nvGraphicFramePr>
        <p:xfrm>
          <a:off x="357158" y="2121520"/>
          <a:ext cx="195262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80880" progId="Equation.DSMT4">
                  <p:embed/>
                </p:oleObj>
              </mc:Choice>
              <mc:Fallback>
                <p:oleObj name="Equation" r:id="rId2" imgW="876240" imgH="380880" progId="Equation.DSMT4">
                  <p:embed/>
                  <p:pic>
                    <p:nvPicPr>
                      <p:cNvPr id="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2121520"/>
                        <a:ext cx="1952625" cy="84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02" name="Object 14"/>
          <p:cNvGraphicFramePr>
            <a:graphicFrameLocks noChangeAspect="1"/>
          </p:cNvGraphicFramePr>
          <p:nvPr/>
        </p:nvGraphicFramePr>
        <p:xfrm>
          <a:off x="6845300" y="2118330"/>
          <a:ext cx="19796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380880" progId="Equation.DSMT4">
                  <p:embed/>
                </p:oleObj>
              </mc:Choice>
              <mc:Fallback>
                <p:oleObj name="Equation" r:id="rId4" imgW="888840" imgH="380880" progId="Equation.DSMT4">
                  <p:embed/>
                  <p:pic>
                    <p:nvPicPr>
                      <p:cNvPr id="31950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2118330"/>
                        <a:ext cx="1979613" cy="84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64315" y="3789054"/>
            <a:ext cx="82153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+mj-lt"/>
                <a:cs typeface="Times New Roman" pitchFamily="18" charset="0"/>
              </a:rPr>
              <a:t>N  </a:t>
            </a:r>
            <a:r>
              <a:rPr lang="ru-RU" sz="2600" b="1" dirty="0">
                <a:latin typeface="+mj-lt"/>
                <a:cs typeface="Times New Roman" pitchFamily="18" charset="0"/>
              </a:rPr>
              <a:t>умножений</a:t>
            </a:r>
            <a:r>
              <a:rPr lang="en-US" sz="2600" b="1" dirty="0">
                <a:latin typeface="+mj-lt"/>
                <a:cs typeface="Times New Roman" pitchFamily="18" charset="0"/>
              </a:rPr>
              <a:t>  &amp;  N  </a:t>
            </a:r>
            <a:r>
              <a:rPr lang="ru-RU" sz="2600" b="1" dirty="0">
                <a:latin typeface="+mj-lt"/>
                <a:cs typeface="Times New Roman" pitchFamily="18" charset="0"/>
              </a:rPr>
              <a:t>сложений</a:t>
            </a:r>
            <a:r>
              <a:rPr lang="en-US" sz="2600" b="1" dirty="0">
                <a:latin typeface="+mj-lt"/>
                <a:cs typeface="Times New Roman" pitchFamily="18" charset="0"/>
              </a:rPr>
              <a:t>  = N</a:t>
            </a:r>
            <a:r>
              <a:rPr lang="en-US" sz="2600" b="1" baseline="30000" dirty="0">
                <a:latin typeface="+mj-lt"/>
                <a:cs typeface="Times New Roman" pitchFamily="18" charset="0"/>
              </a:rPr>
              <a:t>2</a:t>
            </a:r>
            <a:r>
              <a:rPr lang="en-US" sz="2600" b="1" dirty="0">
                <a:latin typeface="+mj-lt"/>
                <a:cs typeface="Times New Roman" pitchFamily="18" charset="0"/>
              </a:rPr>
              <a:t> </a:t>
            </a:r>
            <a:r>
              <a:rPr lang="ru-RU" sz="2600" b="1" dirty="0">
                <a:latin typeface="+mj-lt"/>
                <a:cs typeface="Times New Roman" pitchFamily="18" charset="0"/>
              </a:rPr>
              <a:t>операций</a:t>
            </a:r>
            <a:r>
              <a:rPr lang="en-US" sz="2600" b="1" dirty="0">
                <a:latin typeface="+mj-lt"/>
                <a:cs typeface="Times New Roman" pitchFamily="18" charset="0"/>
              </a:rPr>
              <a:t> </a:t>
            </a:r>
            <a:endParaRPr lang="ru-RU" sz="2600" b="1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508937" name="Object 9"/>
          <p:cNvGraphicFramePr>
            <a:graphicFrameLocks noChangeAspect="1"/>
          </p:cNvGraphicFramePr>
          <p:nvPr/>
        </p:nvGraphicFramePr>
        <p:xfrm>
          <a:off x="1549660" y="4857761"/>
          <a:ext cx="6044680" cy="638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45960" imgH="228600" progId="Equation.DSMT4">
                  <p:embed/>
                </p:oleObj>
              </mc:Choice>
              <mc:Fallback>
                <p:oleObj name="Equation" r:id="rId6" imgW="2145960" imgH="228600" progId="Equation.DSMT4">
                  <p:embed/>
                  <p:pic>
                    <p:nvPicPr>
                      <p:cNvPr id="5089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660" y="4857761"/>
                        <a:ext cx="6044680" cy="6381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/>
          <p:cNvSpPr/>
          <p:nvPr/>
        </p:nvSpPr>
        <p:spPr>
          <a:xfrm>
            <a:off x="3871066" y="1157929"/>
            <a:ext cx="1486751" cy="13480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1357290" y="1300805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1357290" y="1799283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23979" y="3029752"/>
            <a:ext cx="5924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37" name="Прямая со стрелкой 36"/>
          <p:cNvCxnSpPr/>
          <p:nvPr/>
        </p:nvCxnSpPr>
        <p:spPr>
          <a:xfrm>
            <a:off x="1357290" y="3870985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>
            <a:off x="1357290" y="2299349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1357290" y="2799415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>
            <a:off x="1357290" y="3299481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8936" name="Object 8"/>
          <p:cNvGraphicFramePr>
            <a:graphicFrameLocks noChangeAspect="1"/>
          </p:cNvGraphicFramePr>
          <p:nvPr/>
        </p:nvGraphicFramePr>
        <p:xfrm>
          <a:off x="214282" y="2260596"/>
          <a:ext cx="902788" cy="53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203040" progId="Equation.DSMT4">
                  <p:embed/>
                </p:oleObj>
              </mc:Choice>
              <mc:Fallback>
                <p:oleObj name="Equation" r:id="rId2" imgW="342720" imgH="203040" progId="Equation.DSMT4">
                  <p:embed/>
                  <p:pic>
                    <p:nvPicPr>
                      <p:cNvPr id="5089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2260596"/>
                        <a:ext cx="902788" cy="53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Прямоугольник 50"/>
          <p:cNvSpPr/>
          <p:nvPr/>
        </p:nvSpPr>
        <p:spPr>
          <a:xfrm>
            <a:off x="2357422" y="1117588"/>
            <a:ext cx="500066" cy="2928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 rot="-5400000">
            <a:off x="1635833" y="2385370"/>
            <a:ext cx="19317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+mj-lt"/>
                <a:cs typeface="Times New Roman" pitchFamily="18" charset="0"/>
              </a:rPr>
              <a:t>Разложение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2845" y="1300805"/>
            <a:ext cx="5924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42" name="Прямая со стрелкой 41"/>
          <p:cNvCxnSpPr/>
          <p:nvPr/>
        </p:nvCxnSpPr>
        <p:spPr>
          <a:xfrm>
            <a:off x="2857488" y="2142038"/>
            <a:ext cx="1000132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2857488" y="1570534"/>
            <a:ext cx="1000132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92845" y="2801003"/>
            <a:ext cx="5924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45" name="Прямая со стрелкой 44"/>
          <p:cNvCxnSpPr/>
          <p:nvPr/>
        </p:nvCxnSpPr>
        <p:spPr>
          <a:xfrm>
            <a:off x="2857488" y="3642236"/>
            <a:ext cx="1000132" cy="1588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>
            <a:off x="2857488" y="3070732"/>
            <a:ext cx="1000132" cy="1588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91486" y="1425396"/>
            <a:ext cx="15031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ДПФ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точек</a:t>
            </a:r>
          </a:p>
        </p:txBody>
      </p:sp>
      <p:sp>
        <p:nvSpPr>
          <p:cNvPr id="50" name="Прямоугольник 49"/>
          <p:cNvSpPr/>
          <p:nvPr/>
        </p:nvSpPr>
        <p:spPr>
          <a:xfrm>
            <a:off x="3871067" y="2671574"/>
            <a:ext cx="1486751" cy="134807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3891487" y="2939041"/>
            <a:ext cx="15031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ДПФ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точек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93175" y="1300805"/>
            <a:ext cx="5924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55" name="Прямая со стрелкой 54"/>
          <p:cNvCxnSpPr/>
          <p:nvPr/>
        </p:nvCxnSpPr>
        <p:spPr>
          <a:xfrm>
            <a:off x="5357818" y="2142038"/>
            <a:ext cx="1000132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>
            <a:off x="5357818" y="1570534"/>
            <a:ext cx="1000132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93175" y="2801003"/>
            <a:ext cx="5924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58" name="Прямая со стрелкой 57"/>
          <p:cNvCxnSpPr/>
          <p:nvPr/>
        </p:nvCxnSpPr>
        <p:spPr>
          <a:xfrm>
            <a:off x="5357818" y="3642236"/>
            <a:ext cx="1000132" cy="1588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/>
          <p:nvPr/>
        </p:nvCxnSpPr>
        <p:spPr>
          <a:xfrm>
            <a:off x="5357818" y="3070732"/>
            <a:ext cx="1000132" cy="1588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6357950" y="1122071"/>
            <a:ext cx="500066" cy="2928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 rot="-5400000">
            <a:off x="6032829" y="2382025"/>
            <a:ext cx="11657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+mj-lt"/>
                <a:cs typeface="Times New Roman" pitchFamily="18" charset="0"/>
              </a:rPr>
              <a:t>Синтез</a:t>
            </a:r>
          </a:p>
        </p:txBody>
      </p:sp>
      <p:cxnSp>
        <p:nvCxnSpPr>
          <p:cNvPr id="62" name="Прямая со стрелкой 61"/>
          <p:cNvCxnSpPr/>
          <p:nvPr/>
        </p:nvCxnSpPr>
        <p:spPr>
          <a:xfrm>
            <a:off x="6858016" y="1300805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/>
          <p:nvPr/>
        </p:nvCxnSpPr>
        <p:spPr>
          <a:xfrm>
            <a:off x="6858016" y="1799283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24705" y="3029752"/>
            <a:ext cx="5924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…</a:t>
            </a:r>
            <a:endParaRPr lang="ru-RU" sz="4500" dirty="0"/>
          </a:p>
        </p:txBody>
      </p:sp>
      <p:cxnSp>
        <p:nvCxnSpPr>
          <p:cNvPr id="65" name="Прямая со стрелкой 64"/>
          <p:cNvCxnSpPr/>
          <p:nvPr/>
        </p:nvCxnSpPr>
        <p:spPr>
          <a:xfrm>
            <a:off x="6858016" y="3870985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/>
          <p:nvPr/>
        </p:nvCxnSpPr>
        <p:spPr>
          <a:xfrm>
            <a:off x="6858016" y="2299349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/>
          <p:nvPr/>
        </p:nvCxnSpPr>
        <p:spPr>
          <a:xfrm>
            <a:off x="6858016" y="2799415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/>
          <p:nvPr/>
        </p:nvCxnSpPr>
        <p:spPr>
          <a:xfrm>
            <a:off x="6858016" y="3299481"/>
            <a:ext cx="10001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9957" name="Object 5"/>
          <p:cNvGraphicFramePr>
            <a:graphicFrameLocks noChangeAspect="1"/>
          </p:cNvGraphicFramePr>
          <p:nvPr/>
        </p:nvGraphicFramePr>
        <p:xfrm>
          <a:off x="7867650" y="2260598"/>
          <a:ext cx="9366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203040" progId="Equation.DSMT4">
                  <p:embed/>
                </p:oleObj>
              </mc:Choice>
              <mc:Fallback>
                <p:oleObj name="Equation" r:id="rId4" imgW="355320" imgH="203040" progId="Equation.DSMT4">
                  <p:embed/>
                  <p:pic>
                    <p:nvPicPr>
                      <p:cNvPr id="5099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650" y="2260598"/>
                        <a:ext cx="936625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09958" name="Object 6"/>
              <p:cNvSpPr txBox="1"/>
              <p:nvPr/>
            </p:nvSpPr>
            <p:spPr bwMode="auto">
              <a:xfrm>
                <a:off x="1908175" y="4438650"/>
                <a:ext cx="5486400" cy="596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2800" dirty="0"/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разложений </a:t>
                </a:r>
              </a:p>
            </p:txBody>
          </p:sp>
        </mc:Choice>
        <mc:Fallback xmlns="">
          <p:sp>
            <p:nvSpPr>
              <p:cNvPr id="5099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175" y="4438650"/>
                <a:ext cx="5486400" cy="596900"/>
              </a:xfrm>
              <a:prstGeom prst="rect">
                <a:avLst/>
              </a:prstGeom>
              <a:blipFill>
                <a:blip r:embed="rId6"/>
                <a:stretch>
                  <a:fillRect t="-10204" b="-153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9959" name="Object 7"/>
              <p:cNvSpPr txBox="1"/>
              <p:nvPr/>
            </p:nvSpPr>
            <p:spPr bwMode="auto">
              <a:xfrm>
                <a:off x="-1" y="5140570"/>
                <a:ext cx="9144000" cy="81335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ru-RU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периодов</a:t>
                </a:r>
                <a:r>
                  <a:rPr lang="ru-RU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2−</m:t>
                    </m:r>
                  </m:oMath>
                </a14:m>
                <a:r>
                  <a:rPr lang="ru-RU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точек ДПФ 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⇒2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800" dirty="0"/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операций 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0995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" y="5140570"/>
                <a:ext cx="9144000" cy="813357"/>
              </a:xfrm>
              <a:prstGeom prst="rect">
                <a:avLst/>
              </a:prstGeom>
              <a:blipFill>
                <a:blip r:embed="rId7"/>
                <a:stretch>
                  <a:fillRect t="-74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2">
            <a:extLst>
              <a:ext uri="{FF2B5EF4-FFF2-40B4-BE49-F238E27FC236}">
                <a16:creationId xmlns:a16="http://schemas.microsoft.com/office/drawing/2014/main" id="{0D2A141C-3885-4507-A2CC-F1A3F7E7D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Основные примечания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0980" name="Object 4"/>
          <p:cNvGraphicFramePr>
            <a:graphicFrameLocks noChangeAspect="1"/>
          </p:cNvGraphicFramePr>
          <p:nvPr/>
        </p:nvGraphicFramePr>
        <p:xfrm>
          <a:off x="1197481" y="1976435"/>
          <a:ext cx="666591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160" imgH="431640" progId="Equation.DSMT4">
                  <p:embed/>
                </p:oleObj>
              </mc:Choice>
              <mc:Fallback>
                <p:oleObj name="Equation" r:id="rId2" imgW="2603160" imgH="431640" progId="Equation.DSMT4">
                  <p:embed/>
                  <p:pic>
                    <p:nvPicPr>
                      <p:cNvPr id="5109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7481" y="1976435"/>
                        <a:ext cx="6665913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0" y="851009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Как использовать БПФ для вычисления </a:t>
            </a:r>
            <a:br>
              <a:rPr lang="ru-RU" sz="28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обратного ДПФ? </a:t>
            </a:r>
          </a:p>
        </p:txBody>
      </p:sp>
      <p:graphicFrame>
        <p:nvGraphicFramePr>
          <p:cNvPr id="510981" name="Object 5"/>
          <p:cNvGraphicFramePr>
            <a:graphicFrameLocks noChangeAspect="1"/>
          </p:cNvGraphicFramePr>
          <p:nvPr/>
        </p:nvGraphicFramePr>
        <p:xfrm>
          <a:off x="214282" y="3429000"/>
          <a:ext cx="8770921" cy="1071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08360" imgH="457200" progId="Equation.DSMT4">
                  <p:embed/>
                </p:oleObj>
              </mc:Choice>
              <mc:Fallback>
                <p:oleObj name="Equation" r:id="rId4" imgW="3708360" imgH="457200" progId="Equation.DSMT4">
                  <p:embed/>
                  <p:pic>
                    <p:nvPicPr>
                      <p:cNvPr id="5109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3429000"/>
                        <a:ext cx="8770921" cy="10715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982" name="Object 6"/>
          <p:cNvGraphicFramePr>
            <a:graphicFrameLocks noChangeAspect="1"/>
          </p:cNvGraphicFramePr>
          <p:nvPr/>
        </p:nvGraphicFramePr>
        <p:xfrm>
          <a:off x="7187824" y="4541846"/>
          <a:ext cx="1670456" cy="387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203040" progId="Equation.DSMT4">
                  <p:embed/>
                </p:oleObj>
              </mc:Choice>
              <mc:Fallback>
                <p:oleObj name="Equation" r:id="rId6" imgW="876240" imgH="203040" progId="Equation.DSMT4">
                  <p:embed/>
                  <p:pic>
                    <p:nvPicPr>
                      <p:cNvPr id="5109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7824" y="4541846"/>
                        <a:ext cx="1670456" cy="387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214282" y="5263234"/>
            <a:ext cx="8715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Решений: сопрягать спектр, а затем и результат!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6E939F5-1E5C-41B3-84A1-D9B33D54A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Основные примечания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время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31784" y="857232"/>
          <a:ext cx="2111390" cy="826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42720" progId="Equation.DSMT4">
                  <p:embed/>
                </p:oleObj>
              </mc:Choice>
              <mc:Fallback>
                <p:oleObj name="Equation" r:id="rId2" imgW="876240" imgH="34272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784" y="857232"/>
                        <a:ext cx="2111390" cy="826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6" name="Object 6"/>
          <p:cNvGraphicFramePr>
            <a:graphicFrameLocks noChangeAspect="1"/>
          </p:cNvGraphicFramePr>
          <p:nvPr/>
        </p:nvGraphicFramePr>
        <p:xfrm>
          <a:off x="3214678" y="872057"/>
          <a:ext cx="5354638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431640" progId="Equation.DSMT4">
                  <p:embed/>
                </p:oleObj>
              </mc:Choice>
              <mc:Fallback>
                <p:oleObj name="Equation" r:id="rId4" imgW="2222280" imgH="431640" progId="Equation.DSMT4">
                  <p:embed/>
                  <p:pic>
                    <p:nvPicPr>
                      <p:cNvPr id="5120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872057"/>
                        <a:ext cx="5354638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7" name="Object 7"/>
          <p:cNvGraphicFramePr>
            <a:graphicFrameLocks noChangeAspect="1"/>
          </p:cNvGraphicFramePr>
          <p:nvPr/>
        </p:nvGraphicFramePr>
        <p:xfrm>
          <a:off x="357158" y="2592385"/>
          <a:ext cx="30289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203040" progId="Equation.DSMT4">
                  <p:embed/>
                </p:oleObj>
              </mc:Choice>
              <mc:Fallback>
                <p:oleObj name="Equation" r:id="rId6" imgW="1257120" imgH="203040" progId="Equation.DSMT4">
                  <p:embed/>
                  <p:pic>
                    <p:nvPicPr>
                      <p:cNvPr id="5120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2592385"/>
                        <a:ext cx="30289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Прямая со стрелкой 11"/>
          <p:cNvCxnSpPr/>
          <p:nvPr/>
        </p:nvCxnSpPr>
        <p:spPr>
          <a:xfrm flipV="1">
            <a:off x="3500430" y="2592385"/>
            <a:ext cx="571504" cy="142876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2008" name="Object 8"/>
          <p:cNvGraphicFramePr>
            <a:graphicFrameLocks noChangeAspect="1"/>
          </p:cNvGraphicFramePr>
          <p:nvPr/>
        </p:nvGraphicFramePr>
        <p:xfrm>
          <a:off x="4071934" y="2235205"/>
          <a:ext cx="217328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440" imgH="228600" progId="Equation.DSMT4">
                  <p:embed/>
                </p:oleObj>
              </mc:Choice>
              <mc:Fallback>
                <p:oleObj name="Equation" r:id="rId8" imgW="901440" imgH="228600" progId="Equation.DSMT4">
                  <p:embed/>
                  <p:pic>
                    <p:nvPicPr>
                      <p:cNvPr id="5120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4" y="2235205"/>
                        <a:ext cx="217328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Прямая со стрелкой 17"/>
          <p:cNvCxnSpPr/>
          <p:nvPr/>
        </p:nvCxnSpPr>
        <p:spPr>
          <a:xfrm>
            <a:off x="3500430" y="2878137"/>
            <a:ext cx="571504" cy="142876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2009" name="Object 9"/>
          <p:cNvGraphicFramePr>
            <a:graphicFrameLocks noChangeAspect="1"/>
          </p:cNvGraphicFramePr>
          <p:nvPr/>
        </p:nvGraphicFramePr>
        <p:xfrm>
          <a:off x="4105800" y="2806699"/>
          <a:ext cx="260191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280" imgH="228600" progId="Equation.DSMT4">
                  <p:embed/>
                </p:oleObj>
              </mc:Choice>
              <mc:Fallback>
                <p:oleObj name="Equation" r:id="rId10" imgW="1079280" imgH="228600" progId="Equation.DSMT4">
                  <p:embed/>
                  <p:pic>
                    <p:nvPicPr>
                      <p:cNvPr id="5120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800" y="2806699"/>
                        <a:ext cx="260191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0" name="Object 10"/>
          <p:cNvGraphicFramePr>
            <a:graphicFrameLocks noChangeAspect="1"/>
          </p:cNvGraphicFramePr>
          <p:nvPr/>
        </p:nvGraphicFramePr>
        <p:xfrm>
          <a:off x="6786578" y="2536439"/>
          <a:ext cx="1949446" cy="413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5920" imgH="215640" progId="Equation.DSMT4">
                  <p:embed/>
                </p:oleObj>
              </mc:Choice>
              <mc:Fallback>
                <p:oleObj name="Equation" r:id="rId12" imgW="1015920" imgH="215640" progId="Equation.DSMT4">
                  <p:embed/>
                  <p:pic>
                    <p:nvPicPr>
                      <p:cNvPr id="5120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78" y="2536439"/>
                        <a:ext cx="1949446" cy="413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1595438" y="3857628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2011" name="Object 11"/>
          <p:cNvGraphicFramePr>
            <a:graphicFrameLocks noChangeAspect="1"/>
          </p:cNvGraphicFramePr>
          <p:nvPr/>
        </p:nvGraphicFramePr>
        <p:xfrm>
          <a:off x="428596" y="3857628"/>
          <a:ext cx="872179" cy="39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3480" imgH="177480" progId="Equation.DSMT4">
                  <p:embed/>
                </p:oleObj>
              </mc:Choice>
              <mc:Fallback>
                <p:oleObj name="Equation" r:id="rId14" imgW="393480" imgH="177480" progId="Equation.DSMT4">
                  <p:embed/>
                  <p:pic>
                    <p:nvPicPr>
                      <p:cNvPr id="5120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3857628"/>
                        <a:ext cx="872179" cy="392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1166810" y="5344176"/>
          <a:ext cx="304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5024462" y="5344176"/>
          <a:ext cx="304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Прямая со стрелкой 34"/>
          <p:cNvCxnSpPr/>
          <p:nvPr/>
        </p:nvCxnSpPr>
        <p:spPr>
          <a:xfrm>
            <a:off x="2787744" y="4239187"/>
            <a:ext cx="2595282" cy="10757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4374497" y="4239187"/>
            <a:ext cx="1761565" cy="10892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/>
          <p:nvPr/>
        </p:nvCxnSpPr>
        <p:spPr>
          <a:xfrm rot="10800000" flipV="1">
            <a:off x="3056686" y="4239186"/>
            <a:ext cx="1963271" cy="110265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rot="16200000" flipH="1">
            <a:off x="5772991" y="4252634"/>
            <a:ext cx="1116106" cy="10623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 rot="10800000" flipV="1">
            <a:off x="3863509" y="4239187"/>
            <a:ext cx="2675964" cy="10892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 rot="16200000" flipH="1">
            <a:off x="6882373" y="4608980"/>
            <a:ext cx="1102659" cy="3630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 rot="5400000">
            <a:off x="1274950" y="4622429"/>
            <a:ext cx="1089212" cy="32272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 rot="10800000" flipV="1">
            <a:off x="2343992" y="4225740"/>
            <a:ext cx="1210235" cy="11161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время</a:t>
            </a:r>
          </a:p>
        </p:txBody>
      </p:sp>
      <p:grpSp>
        <p:nvGrpSpPr>
          <p:cNvPr id="39" name="Группа 38"/>
          <p:cNvGrpSpPr/>
          <p:nvPr/>
        </p:nvGrpSpPr>
        <p:grpSpPr>
          <a:xfrm>
            <a:off x="214282" y="755650"/>
            <a:ext cx="8638167" cy="2030408"/>
            <a:chOff x="214282" y="755650"/>
            <a:chExt cx="8638167" cy="2030408"/>
          </a:xfrm>
        </p:grpSpPr>
        <p:graphicFrame>
          <p:nvGraphicFramePr>
            <p:cNvPr id="512006" name="Object 6"/>
            <p:cNvGraphicFramePr>
              <a:graphicFrameLocks noChangeAspect="1"/>
            </p:cNvGraphicFramePr>
            <p:nvPr/>
          </p:nvGraphicFramePr>
          <p:xfrm>
            <a:off x="214282" y="755650"/>
            <a:ext cx="7231063" cy="1030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24080" imgH="444240" progId="Equation.DSMT4">
                    <p:embed/>
                  </p:oleObj>
                </mc:Choice>
                <mc:Fallback>
                  <p:oleObj name="Equation" r:id="rId2" imgW="3124080" imgH="444240" progId="Equation.DSMT4">
                    <p:embed/>
                    <p:pic>
                      <p:nvPicPr>
                        <p:cNvPr id="51200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282" y="755650"/>
                          <a:ext cx="7231063" cy="1030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33" name="Object 9"/>
            <p:cNvGraphicFramePr>
              <a:graphicFrameLocks noChangeAspect="1"/>
            </p:cNvGraphicFramePr>
            <p:nvPr/>
          </p:nvGraphicFramePr>
          <p:xfrm>
            <a:off x="500034" y="1755771"/>
            <a:ext cx="6261100" cy="1030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05040" imgH="444240" progId="Equation.DSMT4">
                    <p:embed/>
                  </p:oleObj>
                </mc:Choice>
                <mc:Fallback>
                  <p:oleObj name="Equation" r:id="rId4" imgW="2705040" imgH="444240" progId="Equation.DSMT4">
                    <p:embed/>
                    <p:pic>
                      <p:nvPicPr>
                        <p:cNvPr id="51303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1755771"/>
                          <a:ext cx="6261100" cy="1030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34" name="Object 10"/>
            <p:cNvGraphicFramePr>
              <a:graphicFrameLocks noChangeAspect="1"/>
            </p:cNvGraphicFramePr>
            <p:nvPr/>
          </p:nvGraphicFramePr>
          <p:xfrm>
            <a:off x="7147474" y="1539865"/>
            <a:ext cx="1704975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88840" imgH="203040" progId="Equation.DSMT4">
                    <p:embed/>
                  </p:oleObj>
                </mc:Choice>
                <mc:Fallback>
                  <p:oleObj name="Equation" r:id="rId6" imgW="888840" imgH="203040" progId="Equation.DSMT4">
                    <p:embed/>
                    <p:pic>
                      <p:nvPicPr>
                        <p:cNvPr id="51303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7474" y="1539865"/>
                          <a:ext cx="1704975" cy="3889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Группа 19"/>
          <p:cNvGrpSpPr/>
          <p:nvPr/>
        </p:nvGrpSpPr>
        <p:grpSpPr>
          <a:xfrm>
            <a:off x="207992" y="2500306"/>
            <a:ext cx="8817475" cy="1687519"/>
            <a:chOff x="207992" y="2500306"/>
            <a:chExt cx="8817475" cy="1687519"/>
          </a:xfrm>
        </p:grpSpPr>
        <p:graphicFrame>
          <p:nvGraphicFramePr>
            <p:cNvPr id="513035" name="Object 11"/>
            <p:cNvGraphicFramePr>
              <a:graphicFrameLocks noChangeAspect="1"/>
            </p:cNvGraphicFramePr>
            <p:nvPr/>
          </p:nvGraphicFramePr>
          <p:xfrm>
            <a:off x="7038463" y="2500306"/>
            <a:ext cx="1855167" cy="571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25480" imgH="253800" progId="Equation.DSMT4">
                    <p:embed/>
                  </p:oleObj>
                </mc:Choice>
                <mc:Fallback>
                  <p:oleObj name="Equation" r:id="rId8" imgW="825480" imgH="253800" progId="Equation.DSMT4">
                    <p:embed/>
                    <p:pic>
                      <p:nvPicPr>
                        <p:cNvPr id="51303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8463" y="2500306"/>
                          <a:ext cx="1855167" cy="571504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00FF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36" name="Object 12"/>
            <p:cNvGraphicFramePr>
              <a:graphicFrameLocks noChangeAspect="1"/>
            </p:cNvGraphicFramePr>
            <p:nvPr/>
          </p:nvGraphicFramePr>
          <p:xfrm>
            <a:off x="207992" y="3041650"/>
            <a:ext cx="8650288" cy="955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025880" imgH="444240" progId="Equation.DSMT4">
                    <p:embed/>
                  </p:oleObj>
                </mc:Choice>
                <mc:Fallback>
                  <p:oleObj name="Equation" r:id="rId10" imgW="4025880" imgH="444240" progId="Equation.DSMT4">
                    <p:embed/>
                    <p:pic>
                      <p:nvPicPr>
                        <p:cNvPr id="51303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992" y="3041650"/>
                          <a:ext cx="8650288" cy="955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" name="Группа 31"/>
            <p:cNvGrpSpPr/>
            <p:nvPr/>
          </p:nvGrpSpPr>
          <p:grpSpPr>
            <a:xfrm>
              <a:off x="7076017" y="3775075"/>
              <a:ext cx="1949450" cy="412750"/>
              <a:chOff x="7076017" y="3775075"/>
              <a:chExt cx="1949450" cy="412750"/>
            </a:xfrm>
          </p:grpSpPr>
          <p:graphicFrame>
            <p:nvGraphicFramePr>
              <p:cNvPr id="513037" name="Object 13"/>
              <p:cNvGraphicFramePr>
                <a:graphicFrameLocks noChangeAspect="1"/>
              </p:cNvGraphicFramePr>
              <p:nvPr/>
            </p:nvGraphicFramePr>
            <p:xfrm>
              <a:off x="7076017" y="3775075"/>
              <a:ext cx="1949450" cy="412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015920" imgH="215640" progId="Equation.DSMT4">
                      <p:embed/>
                    </p:oleObj>
                  </mc:Choice>
                  <mc:Fallback>
                    <p:oleObj name="Equation" r:id="rId12" imgW="1015920" imgH="215640" progId="Equation.DSMT4">
                      <p:embed/>
                      <p:pic>
                        <p:nvPicPr>
                          <p:cNvPr id="513037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76017" y="3775075"/>
                            <a:ext cx="1949450" cy="4127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0" name="Прямая соединительная линия 29"/>
              <p:cNvCxnSpPr/>
              <p:nvPr/>
            </p:nvCxnSpPr>
            <p:spPr>
              <a:xfrm>
                <a:off x="7092969" y="4177246"/>
                <a:ext cx="1928794" cy="0"/>
              </a:xfrm>
              <a:prstGeom prst="line">
                <a:avLst/>
              </a:prstGeom>
              <a:ln w="2540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Группа 20"/>
          <p:cNvGrpSpPr/>
          <p:nvPr/>
        </p:nvGrpSpPr>
        <p:grpSpPr>
          <a:xfrm>
            <a:off x="642910" y="4429125"/>
            <a:ext cx="7858180" cy="1814530"/>
            <a:chOff x="642910" y="4429125"/>
            <a:chExt cx="7858180" cy="1814530"/>
          </a:xfrm>
        </p:grpSpPr>
        <p:graphicFrame>
          <p:nvGraphicFramePr>
            <p:cNvPr id="51303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0866384"/>
                </p:ext>
              </p:extLst>
            </p:nvPr>
          </p:nvGraphicFramePr>
          <p:xfrm>
            <a:off x="700088" y="4429125"/>
            <a:ext cx="7769225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79760" imgH="228600" progId="Equation.DSMT4">
                    <p:embed/>
                  </p:oleObj>
                </mc:Choice>
                <mc:Fallback>
                  <p:oleObj name="Equation" r:id="rId14" imgW="3479760" imgH="228600" progId="Equation.DSMT4">
                    <p:embed/>
                    <p:pic>
                      <p:nvPicPr>
                        <p:cNvPr id="51303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088" y="4429125"/>
                          <a:ext cx="7769225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39" name="Object 15"/>
            <p:cNvGraphicFramePr>
              <a:graphicFrameLocks noChangeAspect="1"/>
            </p:cNvGraphicFramePr>
            <p:nvPr/>
          </p:nvGraphicFramePr>
          <p:xfrm>
            <a:off x="642910" y="5008582"/>
            <a:ext cx="3166863" cy="1000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409400" imgH="444240" progId="Equation.DSMT4">
                    <p:embed/>
                  </p:oleObj>
                </mc:Choice>
                <mc:Fallback>
                  <p:oleObj name="Equation" r:id="rId16" imgW="1409400" imgH="444240" progId="Equation.DSMT4">
                    <p:embed/>
                    <p:pic>
                      <p:nvPicPr>
                        <p:cNvPr id="51303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10" y="5008582"/>
                          <a:ext cx="3166863" cy="1000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40" name="Object 16"/>
            <p:cNvGraphicFramePr>
              <a:graphicFrameLocks noChangeAspect="1"/>
            </p:cNvGraphicFramePr>
            <p:nvPr/>
          </p:nvGraphicFramePr>
          <p:xfrm>
            <a:off x="5419753" y="5008570"/>
            <a:ext cx="3081337" cy="1000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71600" imgH="444240" progId="Equation.DSMT4">
                    <p:embed/>
                  </p:oleObj>
                </mc:Choice>
                <mc:Fallback>
                  <p:oleObj name="Equation" r:id="rId18" imgW="1371600" imgH="444240" progId="Equation.DSMT4">
                    <p:embed/>
                    <p:pic>
                      <p:nvPicPr>
                        <p:cNvPr id="51304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9753" y="5008570"/>
                          <a:ext cx="3081337" cy="1000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" name="Группа 35"/>
            <p:cNvGrpSpPr/>
            <p:nvPr/>
          </p:nvGrpSpPr>
          <p:grpSpPr>
            <a:xfrm>
              <a:off x="3643306" y="5830905"/>
              <a:ext cx="1949450" cy="412750"/>
              <a:chOff x="7076017" y="3775075"/>
              <a:chExt cx="1949450" cy="412750"/>
            </a:xfrm>
          </p:grpSpPr>
          <p:graphicFrame>
            <p:nvGraphicFramePr>
              <p:cNvPr id="37" name="Object 13"/>
              <p:cNvGraphicFramePr>
                <a:graphicFrameLocks noChangeAspect="1"/>
              </p:cNvGraphicFramePr>
              <p:nvPr/>
            </p:nvGraphicFramePr>
            <p:xfrm>
              <a:off x="7076017" y="3775075"/>
              <a:ext cx="1949450" cy="412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015920" imgH="215640" progId="Equation.DSMT4">
                      <p:embed/>
                    </p:oleObj>
                  </mc:Choice>
                  <mc:Fallback>
                    <p:oleObj name="Equation" r:id="rId20" imgW="1015920" imgH="215640" progId="Equation.DSMT4">
                      <p:embed/>
                      <p:pic>
                        <p:nvPicPr>
                          <p:cNvPr id="37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76017" y="3775075"/>
                            <a:ext cx="1949450" cy="4127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8" name="Прямая соединительная линия 37"/>
              <p:cNvCxnSpPr/>
              <p:nvPr/>
            </p:nvCxnSpPr>
            <p:spPr>
              <a:xfrm>
                <a:off x="7092969" y="4177246"/>
                <a:ext cx="1928794" cy="0"/>
              </a:xfrm>
              <a:prstGeom prst="line">
                <a:avLst/>
              </a:prstGeom>
              <a:ln w="2540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время</a:t>
            </a:r>
          </a:p>
        </p:txBody>
      </p:sp>
      <p:graphicFrame>
        <p:nvGraphicFramePr>
          <p:cNvPr id="513036" name="Object 12"/>
          <p:cNvGraphicFramePr>
            <a:graphicFrameLocks noChangeAspect="1"/>
          </p:cNvGraphicFramePr>
          <p:nvPr/>
        </p:nvGraphicFramePr>
        <p:xfrm>
          <a:off x="214282" y="1285860"/>
          <a:ext cx="875823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76640" imgH="444240" progId="Equation.DSMT4">
                  <p:embed/>
                </p:oleObj>
              </mc:Choice>
              <mc:Fallback>
                <p:oleObj name="Equation" r:id="rId2" imgW="4076640" imgH="444240" progId="Equation.DSMT4">
                  <p:embed/>
                  <p:pic>
                    <p:nvPicPr>
                      <p:cNvPr id="5130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1285860"/>
                        <a:ext cx="875823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Группа 31"/>
          <p:cNvGrpSpPr/>
          <p:nvPr/>
        </p:nvGrpSpPr>
        <p:grpSpPr>
          <a:xfrm>
            <a:off x="7008285" y="2037812"/>
            <a:ext cx="1949450" cy="412750"/>
            <a:chOff x="7076017" y="3775075"/>
            <a:chExt cx="1949450" cy="412750"/>
          </a:xfrm>
        </p:grpSpPr>
        <p:graphicFrame>
          <p:nvGraphicFramePr>
            <p:cNvPr id="513037" name="Object 13"/>
            <p:cNvGraphicFramePr>
              <a:graphicFrameLocks noChangeAspect="1"/>
            </p:cNvGraphicFramePr>
            <p:nvPr/>
          </p:nvGraphicFramePr>
          <p:xfrm>
            <a:off x="7076017" y="3775075"/>
            <a:ext cx="1949450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15920" imgH="215640" progId="Equation.DSMT4">
                    <p:embed/>
                  </p:oleObj>
                </mc:Choice>
                <mc:Fallback>
                  <p:oleObj name="Equation" r:id="rId4" imgW="1015920" imgH="215640" progId="Equation.DSMT4">
                    <p:embed/>
                    <p:pic>
                      <p:nvPicPr>
                        <p:cNvPr id="51303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6017" y="3775075"/>
                          <a:ext cx="1949450" cy="412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0" name="Прямая соединительная линия 29"/>
            <p:cNvCxnSpPr/>
            <p:nvPr/>
          </p:nvCxnSpPr>
          <p:spPr>
            <a:xfrm>
              <a:off x="7092969" y="4177246"/>
              <a:ext cx="1928794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875084" y="714356"/>
            <a:ext cx="73938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Рассмотрим вторую половину спектра</a:t>
            </a:r>
          </a:p>
        </p:txBody>
      </p:sp>
      <p:graphicFrame>
        <p:nvGraphicFramePr>
          <p:cNvPr id="21" name="Object 11"/>
          <p:cNvGraphicFramePr>
            <a:graphicFrameLocks noChangeAspect="1"/>
          </p:cNvGraphicFramePr>
          <p:nvPr/>
        </p:nvGraphicFramePr>
        <p:xfrm>
          <a:off x="928662" y="2368554"/>
          <a:ext cx="44243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253800" progId="Equation.DSMT4">
                  <p:embed/>
                </p:oleObj>
              </mc:Choice>
              <mc:Fallback>
                <p:oleObj name="Equation" r:id="rId6" imgW="1968480" imgH="253800" progId="Equation.DSMT4">
                  <p:embed/>
                  <p:pic>
                    <p:nvPicPr>
                      <p:cNvPr id="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2368554"/>
                        <a:ext cx="44243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Прямая со стрелкой 22"/>
          <p:cNvCxnSpPr/>
          <p:nvPr/>
        </p:nvCxnSpPr>
        <p:spPr>
          <a:xfrm rot="16200000" flipH="1">
            <a:off x="3226818" y="2742668"/>
            <a:ext cx="340257" cy="340257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4061" name="Object 13"/>
          <p:cNvGraphicFramePr>
            <a:graphicFrameLocks noChangeAspect="1"/>
          </p:cNvGraphicFramePr>
          <p:nvPr/>
        </p:nvGraphicFramePr>
        <p:xfrm>
          <a:off x="3550142" y="2919411"/>
          <a:ext cx="482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164880" progId="Equation.DSMT4">
                  <p:embed/>
                </p:oleObj>
              </mc:Choice>
              <mc:Fallback>
                <p:oleObj name="Equation" r:id="rId8" imgW="215640" imgH="164880" progId="Equation.DSMT4">
                  <p:embed/>
                  <p:pic>
                    <p:nvPicPr>
                      <p:cNvPr id="5140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142" y="2919411"/>
                        <a:ext cx="4826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62" name="Object 14"/>
          <p:cNvGraphicFramePr>
            <a:graphicFrameLocks noChangeAspect="1"/>
          </p:cNvGraphicFramePr>
          <p:nvPr/>
        </p:nvGraphicFramePr>
        <p:xfrm>
          <a:off x="5924529" y="2646893"/>
          <a:ext cx="18097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41200" progId="Equation.DSMT4">
                  <p:embed/>
                </p:oleObj>
              </mc:Choice>
              <mc:Fallback>
                <p:oleObj name="Equation" r:id="rId10" imgW="914400" imgH="241200" progId="Equation.DSMT4">
                  <p:embed/>
                  <p:pic>
                    <p:nvPicPr>
                      <p:cNvPr id="5140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29" y="2646893"/>
                        <a:ext cx="18097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69" name="Object 21"/>
          <p:cNvGraphicFramePr>
            <a:graphicFrameLocks noChangeAspect="1"/>
          </p:cNvGraphicFramePr>
          <p:nvPr/>
        </p:nvGraphicFramePr>
        <p:xfrm>
          <a:off x="4506941" y="3214686"/>
          <a:ext cx="40655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92160" imgH="241200" progId="Equation.DSMT4">
                  <p:embed/>
                </p:oleObj>
              </mc:Choice>
              <mc:Fallback>
                <p:oleObj name="Equation" r:id="rId12" imgW="1892160" imgH="241200" progId="Equation.DSMT4">
                  <p:embed/>
                  <p:pic>
                    <p:nvPicPr>
                      <p:cNvPr id="51406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41" y="3214686"/>
                        <a:ext cx="406558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Группа 27"/>
          <p:cNvGrpSpPr/>
          <p:nvPr/>
        </p:nvGrpSpPr>
        <p:grpSpPr>
          <a:xfrm>
            <a:off x="535753" y="3806829"/>
            <a:ext cx="8072494" cy="2462758"/>
            <a:chOff x="535753" y="3806829"/>
            <a:chExt cx="8072494" cy="2462758"/>
          </a:xfrm>
        </p:grpSpPr>
        <p:cxnSp>
          <p:nvCxnSpPr>
            <p:cNvPr id="29" name="Прямая соединительная линия 28"/>
            <p:cNvCxnSpPr/>
            <p:nvPr/>
          </p:nvCxnSpPr>
          <p:spPr>
            <a:xfrm>
              <a:off x="535753" y="3806829"/>
              <a:ext cx="8072494" cy="0"/>
            </a:xfrm>
            <a:prstGeom prst="line">
              <a:avLst/>
            </a:prstGeom>
            <a:ln w="50800">
              <a:solidFill>
                <a:srgbClr val="00FF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Группа 26"/>
            <p:cNvGrpSpPr/>
            <p:nvPr/>
          </p:nvGrpSpPr>
          <p:grpSpPr>
            <a:xfrm>
              <a:off x="1000100" y="3885890"/>
              <a:ext cx="7148042" cy="2383697"/>
              <a:chOff x="1000100" y="3885890"/>
              <a:chExt cx="7148042" cy="2383697"/>
            </a:xfrm>
          </p:grpSpPr>
          <p:sp>
            <p:nvSpPr>
              <p:cNvPr id="31" name="Овал 30"/>
              <p:cNvSpPr>
                <a:spLocks noChangeAspect="1"/>
              </p:cNvSpPr>
              <p:nvPr/>
            </p:nvSpPr>
            <p:spPr>
              <a:xfrm>
                <a:off x="2140991" y="4449771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/>
              <p:cNvSpPr>
                <a:spLocks noChangeAspect="1"/>
              </p:cNvSpPr>
              <p:nvPr/>
            </p:nvSpPr>
            <p:spPr>
              <a:xfrm>
                <a:off x="2140991" y="5912845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36" name="Прямая со стрелкой 35"/>
              <p:cNvCxnSpPr/>
              <p:nvPr/>
            </p:nvCxnSpPr>
            <p:spPr>
              <a:xfrm>
                <a:off x="2320991" y="4544959"/>
                <a:ext cx="1571636" cy="15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Прямая со стрелкой 38"/>
              <p:cNvCxnSpPr/>
              <p:nvPr/>
            </p:nvCxnSpPr>
            <p:spPr>
              <a:xfrm>
                <a:off x="2320991" y="6007944"/>
                <a:ext cx="1571636" cy="15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Овал 39"/>
              <p:cNvSpPr>
                <a:spLocks noChangeAspect="1"/>
              </p:cNvSpPr>
              <p:nvPr/>
            </p:nvSpPr>
            <p:spPr>
              <a:xfrm>
                <a:off x="3867378" y="5914344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/>
              <p:cNvSpPr>
                <a:spLocks noChangeAspect="1"/>
              </p:cNvSpPr>
              <p:nvPr/>
            </p:nvSpPr>
            <p:spPr>
              <a:xfrm>
                <a:off x="3868689" y="4449771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43" name="Прямая со стрелкой 42"/>
              <p:cNvCxnSpPr>
                <a:stCxn id="32" idx="7"/>
                <a:endCxn id="41" idx="3"/>
              </p:cNvCxnSpPr>
              <p:nvPr/>
            </p:nvCxnSpPr>
            <p:spPr>
              <a:xfrm rot="5400000" flipH="1" flipV="1">
                <a:off x="2426943" y="4471099"/>
                <a:ext cx="1335794" cy="16004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 стрелкой 45"/>
              <p:cNvCxnSpPr>
                <a:stCxn id="31" idx="5"/>
                <a:endCxn id="40" idx="1"/>
              </p:cNvCxnSpPr>
              <p:nvPr/>
            </p:nvCxnSpPr>
            <p:spPr>
              <a:xfrm rot="16200000" flipH="1">
                <a:off x="2425538" y="4472503"/>
                <a:ext cx="1337293" cy="159910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14065" name="Object 17"/>
              <p:cNvGraphicFramePr>
                <a:graphicFrameLocks noChangeAspect="1"/>
              </p:cNvGraphicFramePr>
              <p:nvPr/>
            </p:nvGraphicFramePr>
            <p:xfrm>
              <a:off x="1000100" y="5771020"/>
              <a:ext cx="1106577" cy="4778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558720" imgH="241200" progId="Equation.DSMT4">
                      <p:embed/>
                    </p:oleObj>
                  </mc:Choice>
                  <mc:Fallback>
                    <p:oleObj name="Equation" r:id="rId14" imgW="558720" imgH="241200" progId="Equation.DSMT4">
                      <p:embed/>
                      <p:pic>
                        <p:nvPicPr>
                          <p:cNvPr id="514065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0100" y="5771020"/>
                            <a:ext cx="1106577" cy="4778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066" name="Object 18"/>
              <p:cNvGraphicFramePr>
                <a:graphicFrameLocks noChangeAspect="1"/>
              </p:cNvGraphicFramePr>
              <p:nvPr/>
            </p:nvGraphicFramePr>
            <p:xfrm>
              <a:off x="1339357" y="4320657"/>
              <a:ext cx="754062" cy="452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380880" imgH="228600" progId="Equation.DSMT4">
                      <p:embed/>
                    </p:oleObj>
                  </mc:Choice>
                  <mc:Fallback>
                    <p:oleObj name="Equation" r:id="rId16" imgW="380880" imgH="228600" progId="Equation.DSMT4">
                      <p:embed/>
                      <p:pic>
                        <p:nvPicPr>
                          <p:cNvPr id="514066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9357" y="4320657"/>
                            <a:ext cx="754062" cy="452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067" name="Object 19"/>
              <p:cNvGraphicFramePr>
                <a:graphicFrameLocks noChangeAspect="1"/>
              </p:cNvGraphicFramePr>
              <p:nvPr/>
            </p:nvGraphicFramePr>
            <p:xfrm>
              <a:off x="4070937" y="4287849"/>
              <a:ext cx="3192462" cy="519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485720" imgH="241200" progId="Equation.DSMT4">
                      <p:embed/>
                    </p:oleObj>
                  </mc:Choice>
                  <mc:Fallback>
                    <p:oleObj name="Equation" r:id="rId18" imgW="1485720" imgH="241200" progId="Equation.DSMT4">
                      <p:embed/>
                      <p:pic>
                        <p:nvPicPr>
                          <p:cNvPr id="514067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70937" y="4287849"/>
                            <a:ext cx="3192462" cy="519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068" name="Object 20"/>
              <p:cNvGraphicFramePr>
                <a:graphicFrameLocks noChangeAspect="1"/>
              </p:cNvGraphicFramePr>
              <p:nvPr/>
            </p:nvGraphicFramePr>
            <p:xfrm>
              <a:off x="4082555" y="5750474"/>
              <a:ext cx="4065587" cy="519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892160" imgH="241200" progId="Equation.DSMT4">
                      <p:embed/>
                    </p:oleObj>
                  </mc:Choice>
                  <mc:Fallback>
                    <p:oleObj name="Equation" r:id="rId20" imgW="1892160" imgH="241200" progId="Equation.DSMT4">
                      <p:embed/>
                      <p:pic>
                        <p:nvPicPr>
                          <p:cNvPr id="514068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2555" y="5750474"/>
                            <a:ext cx="4065587" cy="5191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" name="TextBox 49"/>
              <p:cNvSpPr txBox="1"/>
              <p:nvPr/>
            </p:nvSpPr>
            <p:spPr>
              <a:xfrm>
                <a:off x="1960054" y="3885890"/>
                <a:ext cx="221457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latin typeface="Times New Roman" pitchFamily="18" charset="0"/>
                    <a:cs typeface="Times New Roman" pitchFamily="18" charset="0"/>
                  </a:rPr>
                  <a:t>“</a:t>
                </a:r>
                <a:r>
                  <a:rPr lang="ru-RU" sz="2600" b="1" dirty="0">
                    <a:latin typeface="Times New Roman" pitchFamily="18" charset="0"/>
                    <a:cs typeface="Times New Roman" pitchFamily="18" charset="0"/>
                  </a:rPr>
                  <a:t>Бабочка</a:t>
                </a:r>
                <a:r>
                  <a:rPr lang="en-US" sz="2600" b="1" dirty="0">
                    <a:latin typeface="Times New Roman" pitchFamily="18" charset="0"/>
                    <a:cs typeface="Times New Roman" pitchFamily="18" charset="0"/>
                  </a:rPr>
                  <a:t>”</a:t>
                </a:r>
                <a:endParaRPr lang="ru-RU" sz="26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время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4" y="714356"/>
            <a:ext cx="7393833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Пример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= 8</a:t>
            </a:r>
            <a:endParaRPr lang="ru-RU" sz="26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331232" y="1912439"/>
          <a:ext cx="571504" cy="34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1218648" y="1920348"/>
          <a:ext cx="571504" cy="34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2150714" y="1920348"/>
          <a:ext cx="571504" cy="34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5" name="Прямая со стрелкой 34"/>
          <p:cNvCxnSpPr/>
          <p:nvPr/>
        </p:nvCxnSpPr>
        <p:spPr>
          <a:xfrm>
            <a:off x="855785" y="2138995"/>
            <a:ext cx="428628" cy="794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 flipV="1">
            <a:off x="845152" y="2607162"/>
            <a:ext cx="428628" cy="35719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 rot="5400000" flipH="1" flipV="1">
            <a:off x="692002" y="3219870"/>
            <a:ext cx="733646" cy="46783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 rot="5400000" flipH="1" flipV="1">
            <a:off x="516050" y="3820103"/>
            <a:ext cx="1105792" cy="490121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/>
          <p:nvPr/>
        </p:nvCxnSpPr>
        <p:spPr>
          <a:xfrm rot="16200000" flipH="1">
            <a:off x="415556" y="3017850"/>
            <a:ext cx="1318437" cy="43593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/>
          <p:nvPr/>
        </p:nvCxnSpPr>
        <p:spPr>
          <a:xfrm rot="16200000" flipH="1">
            <a:off x="622890" y="3618590"/>
            <a:ext cx="882502" cy="47846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/>
          <p:nvPr/>
        </p:nvCxnSpPr>
        <p:spPr>
          <a:xfrm rot="16200000" flipH="1">
            <a:off x="830226" y="4261860"/>
            <a:ext cx="467833" cy="45720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/>
          <p:nvPr/>
        </p:nvCxnSpPr>
        <p:spPr>
          <a:xfrm>
            <a:off x="846174" y="5117781"/>
            <a:ext cx="45720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/>
          <p:cNvCxnSpPr/>
          <p:nvPr/>
        </p:nvCxnSpPr>
        <p:spPr>
          <a:xfrm>
            <a:off x="1739309" y="2151298"/>
            <a:ext cx="446568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/>
          <p:nvPr/>
        </p:nvCxnSpPr>
        <p:spPr>
          <a:xfrm>
            <a:off x="1749942" y="2565967"/>
            <a:ext cx="414670" cy="40403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/>
          <p:nvPr/>
        </p:nvCxnSpPr>
        <p:spPr>
          <a:xfrm flipV="1">
            <a:off x="1749942" y="2565967"/>
            <a:ext cx="446567" cy="42530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/>
          <p:nvPr/>
        </p:nvCxnSpPr>
        <p:spPr>
          <a:xfrm>
            <a:off x="1739309" y="3427204"/>
            <a:ext cx="435935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>
            <a:off x="1753480" y="4303733"/>
            <a:ext cx="414670" cy="404037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flipV="1">
            <a:off x="1753480" y="4303733"/>
            <a:ext cx="446567" cy="42530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>
            <a:off x="1752580" y="3853507"/>
            <a:ext cx="435935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>
            <a:off x="1752580" y="5128758"/>
            <a:ext cx="435935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Группа 86"/>
          <p:cNvGrpSpPr/>
          <p:nvPr/>
        </p:nvGrpSpPr>
        <p:grpSpPr>
          <a:xfrm>
            <a:off x="2752712" y="2089154"/>
            <a:ext cx="117525" cy="3100409"/>
            <a:chOff x="2605074" y="2043103"/>
            <a:chExt cx="117525" cy="3100409"/>
          </a:xfrm>
        </p:grpSpPr>
        <p:sp>
          <p:nvSpPr>
            <p:cNvPr id="79" name="Овал 78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Овал 79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Овал 80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Овал 81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Овал 82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Овал 83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Овал 84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Овал 85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3744857" y="2089154"/>
            <a:ext cx="117525" cy="3100409"/>
            <a:chOff x="2605074" y="2043103"/>
            <a:chExt cx="117525" cy="3100409"/>
          </a:xfrm>
        </p:grpSpPr>
        <p:sp>
          <p:nvSpPr>
            <p:cNvPr id="89" name="Овал 88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Овал 89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Овал 90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Овал 91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Овал 92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Овал 93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Овал 94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Овал 95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7" name="Группа 96"/>
          <p:cNvGrpSpPr/>
          <p:nvPr/>
        </p:nvGrpSpPr>
        <p:grpSpPr>
          <a:xfrm>
            <a:off x="4816427" y="2089154"/>
            <a:ext cx="117525" cy="3100409"/>
            <a:chOff x="2605074" y="2043103"/>
            <a:chExt cx="117525" cy="3100409"/>
          </a:xfrm>
        </p:grpSpPr>
        <p:sp>
          <p:nvSpPr>
            <p:cNvPr id="98" name="Овал 97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99" name="Овал 98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00" name="Овал 99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01" name="Овал 100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02" name="Овал 101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03" name="Овал 102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04" name="Овал 103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05" name="Овал 104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</p:grpSp>
      <p:cxnSp>
        <p:nvCxnSpPr>
          <p:cNvPr id="109" name="Прямая со стрелкой 108"/>
          <p:cNvCxnSpPr/>
          <p:nvPr/>
        </p:nvCxnSpPr>
        <p:spPr>
          <a:xfrm>
            <a:off x="3995728" y="2138995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/>
          <p:cNvCxnSpPr/>
          <p:nvPr/>
        </p:nvCxnSpPr>
        <p:spPr>
          <a:xfrm>
            <a:off x="3995728" y="2568990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/>
          <p:cNvCxnSpPr/>
          <p:nvPr/>
        </p:nvCxnSpPr>
        <p:spPr>
          <a:xfrm>
            <a:off x="3988424" y="2985618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/>
          <p:cNvCxnSpPr/>
          <p:nvPr/>
        </p:nvCxnSpPr>
        <p:spPr>
          <a:xfrm>
            <a:off x="3995728" y="3403613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/>
          <p:nvPr/>
        </p:nvCxnSpPr>
        <p:spPr>
          <a:xfrm>
            <a:off x="3995728" y="3847234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 стрелкой 113"/>
          <p:cNvCxnSpPr/>
          <p:nvPr/>
        </p:nvCxnSpPr>
        <p:spPr>
          <a:xfrm>
            <a:off x="3996064" y="4283502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/>
          <p:nvPr/>
        </p:nvCxnSpPr>
        <p:spPr>
          <a:xfrm>
            <a:off x="3988424" y="4704490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/>
          <p:nvPr/>
        </p:nvCxnSpPr>
        <p:spPr>
          <a:xfrm>
            <a:off x="3988424" y="5130125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/>
          <p:cNvCxnSpPr/>
          <p:nvPr/>
        </p:nvCxnSpPr>
        <p:spPr>
          <a:xfrm>
            <a:off x="2967026" y="2138995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/>
          <p:cNvCxnSpPr/>
          <p:nvPr/>
        </p:nvCxnSpPr>
        <p:spPr>
          <a:xfrm>
            <a:off x="2964033" y="2573675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/>
          <p:cNvCxnSpPr/>
          <p:nvPr/>
        </p:nvCxnSpPr>
        <p:spPr>
          <a:xfrm>
            <a:off x="2967026" y="2996251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 стрелкой 125"/>
          <p:cNvCxnSpPr/>
          <p:nvPr/>
        </p:nvCxnSpPr>
        <p:spPr>
          <a:xfrm>
            <a:off x="2959931" y="3412658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/>
          <p:cNvCxnSpPr/>
          <p:nvPr/>
        </p:nvCxnSpPr>
        <p:spPr>
          <a:xfrm>
            <a:off x="2956393" y="3851919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>
            <a:off x="2956393" y="4280547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>
            <a:off x="2956393" y="4698542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>
            <a:off x="2956393" y="5137803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 стрелкой 131"/>
          <p:cNvCxnSpPr/>
          <p:nvPr/>
        </p:nvCxnSpPr>
        <p:spPr>
          <a:xfrm flipV="1">
            <a:off x="2967026" y="2189167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/>
          <p:cNvCxnSpPr/>
          <p:nvPr/>
        </p:nvCxnSpPr>
        <p:spPr>
          <a:xfrm>
            <a:off x="2971800" y="2141551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 стрелкой 138"/>
          <p:cNvCxnSpPr/>
          <p:nvPr/>
        </p:nvCxnSpPr>
        <p:spPr>
          <a:xfrm flipV="1">
            <a:off x="2967026" y="3046423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139"/>
          <p:cNvCxnSpPr/>
          <p:nvPr/>
        </p:nvCxnSpPr>
        <p:spPr>
          <a:xfrm>
            <a:off x="2971800" y="2998807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 стрелкой 140"/>
          <p:cNvCxnSpPr/>
          <p:nvPr/>
        </p:nvCxnSpPr>
        <p:spPr>
          <a:xfrm flipV="1">
            <a:off x="2967026" y="3913204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Прямая со стрелкой 141"/>
          <p:cNvCxnSpPr/>
          <p:nvPr/>
        </p:nvCxnSpPr>
        <p:spPr>
          <a:xfrm>
            <a:off x="2971800" y="3865588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/>
          <p:cNvCxnSpPr/>
          <p:nvPr/>
        </p:nvCxnSpPr>
        <p:spPr>
          <a:xfrm flipV="1">
            <a:off x="2967026" y="4756163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/>
          <p:cNvCxnSpPr/>
          <p:nvPr/>
        </p:nvCxnSpPr>
        <p:spPr>
          <a:xfrm>
            <a:off x="2971800" y="4708547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 стрелкой 145"/>
          <p:cNvCxnSpPr/>
          <p:nvPr/>
        </p:nvCxnSpPr>
        <p:spPr>
          <a:xfrm rot="16200000" flipH="1">
            <a:off x="3948113" y="2212988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 стрелкой 146"/>
          <p:cNvCxnSpPr/>
          <p:nvPr/>
        </p:nvCxnSpPr>
        <p:spPr>
          <a:xfrm rot="16200000" flipH="1">
            <a:off x="3948109" y="2646375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 стрелкой 147"/>
          <p:cNvCxnSpPr/>
          <p:nvPr/>
        </p:nvCxnSpPr>
        <p:spPr>
          <a:xfrm rot="16200000" flipH="1">
            <a:off x="3948113" y="3927500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Прямая со стрелкой 148"/>
          <p:cNvCxnSpPr/>
          <p:nvPr/>
        </p:nvCxnSpPr>
        <p:spPr>
          <a:xfrm rot="16200000" flipH="1">
            <a:off x="3948109" y="4360887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Прямая со стрелкой 152"/>
          <p:cNvCxnSpPr/>
          <p:nvPr/>
        </p:nvCxnSpPr>
        <p:spPr>
          <a:xfrm rot="5400000" flipH="1" flipV="1">
            <a:off x="3957637" y="2241564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 стрелкой 153"/>
          <p:cNvCxnSpPr/>
          <p:nvPr/>
        </p:nvCxnSpPr>
        <p:spPr>
          <a:xfrm rot="5400000" flipH="1" flipV="1">
            <a:off x="3952871" y="2641614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Прямая со стрелкой 154"/>
          <p:cNvCxnSpPr/>
          <p:nvPr/>
        </p:nvCxnSpPr>
        <p:spPr>
          <a:xfrm rot="5400000" flipH="1" flipV="1">
            <a:off x="3957637" y="3956074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Прямая со стрелкой 155"/>
          <p:cNvCxnSpPr/>
          <p:nvPr/>
        </p:nvCxnSpPr>
        <p:spPr>
          <a:xfrm rot="5400000" flipH="1" flipV="1">
            <a:off x="3952871" y="4375174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Группа 156"/>
          <p:cNvGrpSpPr/>
          <p:nvPr/>
        </p:nvGrpSpPr>
        <p:grpSpPr>
          <a:xfrm>
            <a:off x="5778459" y="2090433"/>
            <a:ext cx="117525" cy="3100409"/>
            <a:chOff x="2605074" y="2043103"/>
            <a:chExt cx="117525" cy="3100409"/>
          </a:xfrm>
        </p:grpSpPr>
        <p:sp>
          <p:nvSpPr>
            <p:cNvPr id="158" name="Овал 157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9" name="Овал 158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60" name="Овал 159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61" name="Овал 160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62" name="Овал 161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63" name="Овал 162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64" name="Овал 163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65" name="Овал 164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</p:grpSp>
      <p:cxnSp>
        <p:nvCxnSpPr>
          <p:cNvPr id="166" name="Прямая со стрелкой 165"/>
          <p:cNvCxnSpPr/>
          <p:nvPr/>
        </p:nvCxnSpPr>
        <p:spPr>
          <a:xfrm>
            <a:off x="5011432" y="2141267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Прямая со стрелкой 166"/>
          <p:cNvCxnSpPr/>
          <p:nvPr/>
        </p:nvCxnSpPr>
        <p:spPr>
          <a:xfrm>
            <a:off x="5008439" y="2575947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Прямая со стрелкой 167"/>
          <p:cNvCxnSpPr/>
          <p:nvPr/>
        </p:nvCxnSpPr>
        <p:spPr>
          <a:xfrm>
            <a:off x="5011432" y="2998523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Прямая со стрелкой 168"/>
          <p:cNvCxnSpPr/>
          <p:nvPr/>
        </p:nvCxnSpPr>
        <p:spPr>
          <a:xfrm>
            <a:off x="5004337" y="3414930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Прямая со стрелкой 169"/>
          <p:cNvCxnSpPr/>
          <p:nvPr/>
        </p:nvCxnSpPr>
        <p:spPr>
          <a:xfrm>
            <a:off x="5000799" y="3854191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Прямая со стрелкой 170"/>
          <p:cNvCxnSpPr/>
          <p:nvPr/>
        </p:nvCxnSpPr>
        <p:spPr>
          <a:xfrm>
            <a:off x="5000799" y="4282819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 стрелкой 171"/>
          <p:cNvCxnSpPr/>
          <p:nvPr/>
        </p:nvCxnSpPr>
        <p:spPr>
          <a:xfrm>
            <a:off x="5000799" y="4700814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Прямая со стрелкой 172"/>
          <p:cNvCxnSpPr/>
          <p:nvPr/>
        </p:nvCxnSpPr>
        <p:spPr>
          <a:xfrm>
            <a:off x="5000799" y="5140075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Прямая со стрелкой 174"/>
          <p:cNvCxnSpPr/>
          <p:nvPr/>
        </p:nvCxnSpPr>
        <p:spPr>
          <a:xfrm rot="5400000" flipH="1" flipV="1">
            <a:off x="4514684" y="2654079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Прямая со стрелкой 175"/>
          <p:cNvCxnSpPr/>
          <p:nvPr/>
        </p:nvCxnSpPr>
        <p:spPr>
          <a:xfrm rot="5400000" flipH="1" flipV="1">
            <a:off x="4520657" y="3068173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Прямая со стрелкой 176"/>
          <p:cNvCxnSpPr/>
          <p:nvPr/>
        </p:nvCxnSpPr>
        <p:spPr>
          <a:xfrm rot="5400000" flipH="1" flipV="1">
            <a:off x="4522015" y="3481141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Прямая со стрелкой 177"/>
          <p:cNvCxnSpPr/>
          <p:nvPr/>
        </p:nvCxnSpPr>
        <p:spPr>
          <a:xfrm rot="5400000" flipH="1" flipV="1">
            <a:off x="4523346" y="3925429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Прямая со стрелкой 179"/>
          <p:cNvCxnSpPr/>
          <p:nvPr/>
        </p:nvCxnSpPr>
        <p:spPr>
          <a:xfrm rot="16200000" flipH="1">
            <a:off x="4506733" y="2662029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Прямая со стрелкой 180"/>
          <p:cNvCxnSpPr/>
          <p:nvPr/>
        </p:nvCxnSpPr>
        <p:spPr>
          <a:xfrm rot="16200000" flipH="1">
            <a:off x="4505991" y="3092714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Прямая со стрелкой 181"/>
          <p:cNvCxnSpPr/>
          <p:nvPr/>
        </p:nvCxnSpPr>
        <p:spPr>
          <a:xfrm rot="16200000" flipH="1">
            <a:off x="4507322" y="3504753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Прямая со стрелкой 182"/>
          <p:cNvCxnSpPr/>
          <p:nvPr/>
        </p:nvCxnSpPr>
        <p:spPr>
          <a:xfrm rot="16200000" flipH="1">
            <a:off x="4505991" y="3941332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5084" name="Object 12"/>
          <p:cNvGraphicFramePr>
            <a:graphicFrameLocks noChangeAspect="1"/>
          </p:cNvGraphicFramePr>
          <p:nvPr/>
        </p:nvGraphicFramePr>
        <p:xfrm>
          <a:off x="6038860" y="1903426"/>
          <a:ext cx="2714644" cy="44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241200" progId="Equation.DSMT4">
                  <p:embed/>
                </p:oleObj>
              </mc:Choice>
              <mc:Fallback>
                <p:oleObj name="Equation" r:id="rId2" imgW="1460160" imgH="241200" progId="Equation.DSMT4">
                  <p:embed/>
                  <p:pic>
                    <p:nvPicPr>
                      <p:cNvPr id="5150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60" y="1903426"/>
                        <a:ext cx="2714644" cy="44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86" name="Object 14"/>
          <p:cNvGraphicFramePr>
            <a:graphicFrameLocks noChangeAspect="1"/>
          </p:cNvGraphicFramePr>
          <p:nvPr/>
        </p:nvGraphicFramePr>
        <p:xfrm>
          <a:off x="6051550" y="2344751"/>
          <a:ext cx="25495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241200" progId="Equation.DSMT4">
                  <p:embed/>
                </p:oleObj>
              </mc:Choice>
              <mc:Fallback>
                <p:oleObj name="Equation" r:id="rId4" imgW="1371600" imgH="241200" progId="Equation.DSMT4">
                  <p:embed/>
                  <p:pic>
                    <p:nvPicPr>
                      <p:cNvPr id="51508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550" y="2344751"/>
                        <a:ext cx="25495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87" name="Object 15"/>
          <p:cNvGraphicFramePr>
            <a:graphicFrameLocks noChangeAspect="1"/>
          </p:cNvGraphicFramePr>
          <p:nvPr/>
        </p:nvGraphicFramePr>
        <p:xfrm>
          <a:off x="6021388" y="2797189"/>
          <a:ext cx="273843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73120" imgH="241200" progId="Equation.DSMT4">
                  <p:embed/>
                </p:oleObj>
              </mc:Choice>
              <mc:Fallback>
                <p:oleObj name="Equation" r:id="rId6" imgW="1473120" imgH="241200" progId="Equation.DSMT4">
                  <p:embed/>
                  <p:pic>
                    <p:nvPicPr>
                      <p:cNvPr id="51508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388" y="2797189"/>
                        <a:ext cx="273843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88" name="Object 16"/>
          <p:cNvGraphicFramePr>
            <a:graphicFrameLocks noChangeAspect="1"/>
          </p:cNvGraphicFramePr>
          <p:nvPr/>
        </p:nvGraphicFramePr>
        <p:xfrm>
          <a:off x="6042025" y="3203589"/>
          <a:ext cx="266858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241200" progId="Equation.DSMT4">
                  <p:embed/>
                </p:oleObj>
              </mc:Choice>
              <mc:Fallback>
                <p:oleObj name="Equation" r:id="rId8" imgW="1434960" imgH="241200" progId="Equation.DSMT4">
                  <p:embed/>
                  <p:pic>
                    <p:nvPicPr>
                      <p:cNvPr id="51508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2025" y="3203589"/>
                        <a:ext cx="266858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89" name="Object 17"/>
          <p:cNvGraphicFramePr>
            <a:graphicFrameLocks noChangeAspect="1"/>
          </p:cNvGraphicFramePr>
          <p:nvPr/>
        </p:nvGraphicFramePr>
        <p:xfrm>
          <a:off x="6024563" y="3621101"/>
          <a:ext cx="27162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241200" progId="Equation.DSMT4">
                  <p:embed/>
                </p:oleObj>
              </mc:Choice>
              <mc:Fallback>
                <p:oleObj name="Equation" r:id="rId10" imgW="1460160" imgH="241200" progId="Equation.DSMT4">
                  <p:embed/>
                  <p:pic>
                    <p:nvPicPr>
                      <p:cNvPr id="5150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621101"/>
                        <a:ext cx="27162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0" name="Object 18"/>
          <p:cNvGraphicFramePr>
            <a:graphicFrameLocks noChangeAspect="1"/>
          </p:cNvGraphicFramePr>
          <p:nvPr/>
        </p:nvGraphicFramePr>
        <p:xfrm>
          <a:off x="6037263" y="4065601"/>
          <a:ext cx="266858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960" imgH="241200" progId="Equation.DSMT4">
                  <p:embed/>
                </p:oleObj>
              </mc:Choice>
              <mc:Fallback>
                <p:oleObj name="Equation" r:id="rId12" imgW="1434960" imgH="241200" progId="Equation.DSMT4">
                  <p:embed/>
                  <p:pic>
                    <p:nvPicPr>
                      <p:cNvPr id="51509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263" y="4065601"/>
                        <a:ext cx="2668587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1" name="Object 19"/>
          <p:cNvGraphicFramePr>
            <a:graphicFrameLocks noChangeAspect="1"/>
          </p:cNvGraphicFramePr>
          <p:nvPr/>
        </p:nvGraphicFramePr>
        <p:xfrm>
          <a:off x="6016625" y="4483114"/>
          <a:ext cx="27400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241200" progId="Equation.DSMT4">
                  <p:embed/>
                </p:oleObj>
              </mc:Choice>
              <mc:Fallback>
                <p:oleObj name="Equation" r:id="rId14" imgW="1473120" imgH="241200" progId="Equation.DSMT4">
                  <p:embed/>
                  <p:pic>
                    <p:nvPicPr>
                      <p:cNvPr id="5150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5" y="4483114"/>
                        <a:ext cx="27400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2" name="Object 20"/>
          <p:cNvGraphicFramePr>
            <a:graphicFrameLocks noChangeAspect="1"/>
          </p:cNvGraphicFramePr>
          <p:nvPr/>
        </p:nvGraphicFramePr>
        <p:xfrm>
          <a:off x="6016625" y="4908564"/>
          <a:ext cx="26924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47560" imgH="241200" progId="Equation.DSMT4">
                  <p:embed/>
                </p:oleObj>
              </mc:Choice>
              <mc:Fallback>
                <p:oleObj name="Equation" r:id="rId16" imgW="1447560" imgH="241200" progId="Equation.DSMT4">
                  <p:embed/>
                  <p:pic>
                    <p:nvPicPr>
                      <p:cNvPr id="51509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5" y="4908564"/>
                        <a:ext cx="26924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3" name="Object 21"/>
          <p:cNvGraphicFramePr>
            <a:graphicFrameLocks noChangeAspect="1"/>
          </p:cNvGraphicFramePr>
          <p:nvPr/>
        </p:nvGraphicFramePr>
        <p:xfrm>
          <a:off x="3590918" y="1666889"/>
          <a:ext cx="4238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8600" imgH="228600" progId="Equation.DSMT4">
                  <p:embed/>
                </p:oleObj>
              </mc:Choice>
              <mc:Fallback>
                <p:oleObj name="Equation" r:id="rId18" imgW="228600" imgH="228600" progId="Equation.DSMT4">
                  <p:embed/>
                  <p:pic>
                    <p:nvPicPr>
                      <p:cNvPr id="51509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18" y="1666889"/>
                        <a:ext cx="4238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4" name="Object 22"/>
          <p:cNvGraphicFramePr>
            <a:graphicFrameLocks noChangeAspect="1"/>
          </p:cNvGraphicFramePr>
          <p:nvPr/>
        </p:nvGraphicFramePr>
        <p:xfrm>
          <a:off x="3582988" y="2565414"/>
          <a:ext cx="4000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5640" imgH="228600" progId="Equation.DSMT4">
                  <p:embed/>
                </p:oleObj>
              </mc:Choice>
              <mc:Fallback>
                <p:oleObj name="Equation" r:id="rId20" imgW="215640" imgH="228600" progId="Equation.DSMT4">
                  <p:embed/>
                  <p:pic>
                    <p:nvPicPr>
                      <p:cNvPr id="51509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988" y="2565414"/>
                        <a:ext cx="4000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5" name="Object 23"/>
          <p:cNvGraphicFramePr>
            <a:graphicFrameLocks noChangeAspect="1"/>
          </p:cNvGraphicFramePr>
          <p:nvPr/>
        </p:nvGraphicFramePr>
        <p:xfrm>
          <a:off x="3608388" y="3425841"/>
          <a:ext cx="4000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5640" imgH="228600" progId="Equation.DSMT4">
                  <p:embed/>
                </p:oleObj>
              </mc:Choice>
              <mc:Fallback>
                <p:oleObj name="Equation" r:id="rId22" imgW="215640" imgH="228600" progId="Equation.DSMT4">
                  <p:embed/>
                  <p:pic>
                    <p:nvPicPr>
                      <p:cNvPr id="51509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3425841"/>
                        <a:ext cx="4000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6" name="Object 24"/>
          <p:cNvGraphicFramePr>
            <a:graphicFrameLocks noChangeAspect="1"/>
          </p:cNvGraphicFramePr>
          <p:nvPr/>
        </p:nvGraphicFramePr>
        <p:xfrm>
          <a:off x="3616325" y="4289439"/>
          <a:ext cx="3778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3040" imgH="228600" progId="Equation.DSMT4">
                  <p:embed/>
                </p:oleObj>
              </mc:Choice>
              <mc:Fallback>
                <p:oleObj name="Equation" r:id="rId24" imgW="203040" imgH="228600" progId="Equation.DSMT4">
                  <p:embed/>
                  <p:pic>
                    <p:nvPicPr>
                      <p:cNvPr id="51509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4289439"/>
                        <a:ext cx="3778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7" name="Object 25"/>
          <p:cNvGraphicFramePr>
            <a:graphicFrameLocks noChangeAspect="1"/>
          </p:cNvGraphicFramePr>
          <p:nvPr/>
        </p:nvGraphicFramePr>
        <p:xfrm>
          <a:off x="4684713" y="1674826"/>
          <a:ext cx="3317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480" imgH="228600" progId="Equation.DSMT4">
                  <p:embed/>
                </p:oleObj>
              </mc:Choice>
              <mc:Fallback>
                <p:oleObj name="Equation" r:id="rId26" imgW="177480" imgH="228600" progId="Equation.DSMT4">
                  <p:embed/>
                  <p:pic>
                    <p:nvPicPr>
                      <p:cNvPr id="51509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1674826"/>
                        <a:ext cx="3317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98" name="Object 26"/>
          <p:cNvGraphicFramePr>
            <a:graphicFrameLocks noChangeAspect="1"/>
          </p:cNvGraphicFramePr>
          <p:nvPr/>
        </p:nvGraphicFramePr>
        <p:xfrm>
          <a:off x="4718050" y="3440126"/>
          <a:ext cx="3079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4880" imgH="228600" progId="Equation.DSMT4">
                  <p:embed/>
                </p:oleObj>
              </mc:Choice>
              <mc:Fallback>
                <p:oleObj name="Equation" r:id="rId28" imgW="164880" imgH="228600" progId="Equation.DSMT4">
                  <p:embed/>
                  <p:pic>
                    <p:nvPicPr>
                      <p:cNvPr id="51509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050" y="3440126"/>
                        <a:ext cx="3079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время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4" y="657206"/>
            <a:ext cx="7393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Эффективность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6108" name="Object 12"/>
              <p:cNvSpPr txBox="1"/>
              <p:nvPr/>
            </p:nvSpPr>
            <p:spPr bwMode="auto">
              <a:xfrm>
                <a:off x="1303636" y="2420397"/>
                <a:ext cx="6336704" cy="574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algn="ctr"/>
                <a:r>
                  <a:rPr lang="ru-RU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уровней: 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51610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3636" y="2420397"/>
                <a:ext cx="6336704" cy="574675"/>
              </a:xfrm>
              <a:prstGeom prst="rect">
                <a:avLst/>
              </a:prstGeom>
              <a:blipFill>
                <a:blip r:embed="rId2"/>
                <a:stretch>
                  <a:fillRect t="-10638" b="-202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Стрелка вниз 27"/>
          <p:cNvSpPr/>
          <p:nvPr/>
        </p:nvSpPr>
        <p:spPr>
          <a:xfrm>
            <a:off x="4086224" y="3214679"/>
            <a:ext cx="771528" cy="1071570"/>
          </a:xfrm>
          <a:prstGeom prst="downArrow">
            <a:avLst>
              <a:gd name="adj1" fmla="val 50000"/>
              <a:gd name="adj2" fmla="val 69753"/>
            </a:avLst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16109" name="Object 13"/>
          <p:cNvGraphicFramePr>
            <a:graphicFrameLocks noChangeAspect="1"/>
          </p:cNvGraphicFramePr>
          <p:nvPr/>
        </p:nvGraphicFramePr>
        <p:xfrm>
          <a:off x="3452445" y="4357687"/>
          <a:ext cx="2010149" cy="7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228600" progId="Equation.DSMT4">
                  <p:embed/>
                </p:oleObj>
              </mc:Choice>
              <mc:Fallback>
                <p:oleObj name="Equation" r:id="rId3" imgW="583920" imgH="228600" progId="Equation.DSMT4">
                  <p:embed/>
                  <p:pic>
                    <p:nvPicPr>
                      <p:cNvPr id="5161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445" y="4357687"/>
                        <a:ext cx="2010149" cy="7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62AA98B-1500-41A0-A704-1F0A05587A67}"/>
              </a:ext>
            </a:extLst>
          </p:cNvPr>
          <p:cNvSpPr txBox="1"/>
          <p:nvPr/>
        </p:nvSpPr>
        <p:spPr>
          <a:xfrm>
            <a:off x="467544" y="1529973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следующем уровне: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умножений и сложений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частоты 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31784" y="857232"/>
          <a:ext cx="2111390" cy="826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42720" progId="Equation.DSMT4">
                  <p:embed/>
                </p:oleObj>
              </mc:Choice>
              <mc:Fallback>
                <p:oleObj name="Equation" r:id="rId2" imgW="876240" imgH="34272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784" y="857232"/>
                        <a:ext cx="2111390" cy="826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6" name="Object 6"/>
          <p:cNvGraphicFramePr>
            <a:graphicFrameLocks noChangeAspect="1"/>
          </p:cNvGraphicFramePr>
          <p:nvPr/>
        </p:nvGraphicFramePr>
        <p:xfrm>
          <a:off x="3214678" y="872057"/>
          <a:ext cx="5354638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431640" progId="Equation.DSMT4">
                  <p:embed/>
                </p:oleObj>
              </mc:Choice>
              <mc:Fallback>
                <p:oleObj name="Equation" r:id="rId4" imgW="2222280" imgH="431640" progId="Equation.DSMT4">
                  <p:embed/>
                  <p:pic>
                    <p:nvPicPr>
                      <p:cNvPr id="5120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872057"/>
                        <a:ext cx="5354638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7" name="Object 7"/>
          <p:cNvGraphicFramePr>
            <a:graphicFrameLocks noChangeAspect="1"/>
          </p:cNvGraphicFramePr>
          <p:nvPr/>
        </p:nvGraphicFramePr>
        <p:xfrm>
          <a:off x="407976" y="2592385"/>
          <a:ext cx="30289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203040" progId="Equation.DSMT4">
                  <p:embed/>
                </p:oleObj>
              </mc:Choice>
              <mc:Fallback>
                <p:oleObj name="Equation" r:id="rId6" imgW="1257120" imgH="203040" progId="Equation.DSMT4">
                  <p:embed/>
                  <p:pic>
                    <p:nvPicPr>
                      <p:cNvPr id="5120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6" y="2592385"/>
                        <a:ext cx="30289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Прямая со стрелкой 11"/>
          <p:cNvCxnSpPr/>
          <p:nvPr/>
        </p:nvCxnSpPr>
        <p:spPr>
          <a:xfrm flipV="1">
            <a:off x="3551248" y="2592385"/>
            <a:ext cx="571504" cy="142876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2008" name="Object 8"/>
          <p:cNvGraphicFramePr>
            <a:graphicFrameLocks noChangeAspect="1"/>
          </p:cNvGraphicFramePr>
          <p:nvPr/>
        </p:nvGraphicFramePr>
        <p:xfrm>
          <a:off x="4133868" y="2235200"/>
          <a:ext cx="19589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228600" progId="Equation.DSMT4">
                  <p:embed/>
                </p:oleObj>
              </mc:Choice>
              <mc:Fallback>
                <p:oleObj name="Equation" r:id="rId8" imgW="812520" imgH="228600" progId="Equation.DSMT4">
                  <p:embed/>
                  <p:pic>
                    <p:nvPicPr>
                      <p:cNvPr id="5120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868" y="2235200"/>
                        <a:ext cx="195897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Прямая со стрелкой 17"/>
          <p:cNvCxnSpPr/>
          <p:nvPr/>
        </p:nvCxnSpPr>
        <p:spPr>
          <a:xfrm>
            <a:off x="3551248" y="2878137"/>
            <a:ext cx="571504" cy="142876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2009" name="Object 9"/>
          <p:cNvGraphicFramePr>
            <a:graphicFrameLocks noChangeAspect="1"/>
          </p:cNvGraphicFramePr>
          <p:nvPr/>
        </p:nvGraphicFramePr>
        <p:xfrm>
          <a:off x="4157698" y="2806700"/>
          <a:ext cx="29083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6360" imgH="228600" progId="Equation.DSMT4">
                  <p:embed/>
                </p:oleObj>
              </mc:Choice>
              <mc:Fallback>
                <p:oleObj name="Equation" r:id="rId10" imgW="1206360" imgH="228600" progId="Equation.DSMT4">
                  <p:embed/>
                  <p:pic>
                    <p:nvPicPr>
                      <p:cNvPr id="5120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698" y="2806700"/>
                        <a:ext cx="29083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0" name="Object 10"/>
          <p:cNvGraphicFramePr>
            <a:graphicFrameLocks noChangeAspect="1"/>
          </p:cNvGraphicFramePr>
          <p:nvPr/>
        </p:nvGraphicFramePr>
        <p:xfrm>
          <a:off x="6765958" y="2357430"/>
          <a:ext cx="1949446" cy="413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5920" imgH="215640" progId="Equation.DSMT4">
                  <p:embed/>
                </p:oleObj>
              </mc:Choice>
              <mc:Fallback>
                <p:oleObj name="Equation" r:id="rId12" imgW="1015920" imgH="215640" progId="Equation.DSMT4">
                  <p:embed/>
                  <p:pic>
                    <p:nvPicPr>
                      <p:cNvPr id="5120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5958" y="2357430"/>
                        <a:ext cx="1949446" cy="413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1595438" y="3857628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2011" name="Object 11"/>
          <p:cNvGraphicFramePr>
            <a:graphicFrameLocks noChangeAspect="1"/>
          </p:cNvGraphicFramePr>
          <p:nvPr/>
        </p:nvGraphicFramePr>
        <p:xfrm>
          <a:off x="428596" y="3857628"/>
          <a:ext cx="872179" cy="39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3480" imgH="177480" progId="Equation.DSMT4">
                  <p:embed/>
                </p:oleObj>
              </mc:Choice>
              <mc:Fallback>
                <p:oleObj name="Equation" r:id="rId14" imgW="393480" imgH="177480" progId="Equation.DSMT4">
                  <p:embed/>
                  <p:pic>
                    <p:nvPicPr>
                      <p:cNvPr id="5120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3857628"/>
                        <a:ext cx="872179" cy="392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1166810" y="5344176"/>
          <a:ext cx="304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5024462" y="5344176"/>
          <a:ext cx="3048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Прямая со стрелкой 34"/>
          <p:cNvCxnSpPr/>
          <p:nvPr/>
        </p:nvCxnSpPr>
        <p:spPr>
          <a:xfrm rot="5400000">
            <a:off x="2013264" y="4583345"/>
            <a:ext cx="1118639" cy="43032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 rot="5400000">
            <a:off x="3556740" y="4540068"/>
            <a:ext cx="1118639" cy="51687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/>
          <p:nvPr/>
        </p:nvCxnSpPr>
        <p:spPr>
          <a:xfrm rot="16200000" flipH="1">
            <a:off x="4629568" y="4629576"/>
            <a:ext cx="1118640" cy="3378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rot="16200000" flipH="1">
            <a:off x="5444612" y="4581012"/>
            <a:ext cx="1125196" cy="414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 rot="16200000" flipH="1">
            <a:off x="6175144" y="4603515"/>
            <a:ext cx="1118639" cy="38998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 rot="16200000" flipH="1">
            <a:off x="6882373" y="4608980"/>
            <a:ext cx="1102659" cy="3630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 rot="5400000">
            <a:off x="1274950" y="4622429"/>
            <a:ext cx="1089212" cy="32272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 rot="5400000">
            <a:off x="2746972" y="4550570"/>
            <a:ext cx="1132086" cy="48242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8153" name="Object 9"/>
          <p:cNvGraphicFramePr>
            <a:graphicFrameLocks noChangeAspect="1"/>
          </p:cNvGraphicFramePr>
          <p:nvPr/>
        </p:nvGraphicFramePr>
        <p:xfrm>
          <a:off x="279418" y="714375"/>
          <a:ext cx="6935788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7000" imgH="444240" progId="Equation.DSMT4">
                  <p:embed/>
                </p:oleObj>
              </mc:Choice>
              <mc:Fallback>
                <p:oleObj name="Equation" r:id="rId2" imgW="2997000" imgH="444240" progId="Equation.DSMT4">
                  <p:embed/>
                  <p:pic>
                    <p:nvPicPr>
                      <p:cNvPr id="5181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18" y="714375"/>
                        <a:ext cx="6935788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4" name="Object 10"/>
          <p:cNvGraphicFramePr>
            <a:graphicFrameLocks noChangeAspect="1"/>
          </p:cNvGraphicFramePr>
          <p:nvPr/>
        </p:nvGraphicFramePr>
        <p:xfrm>
          <a:off x="2844830" y="1500174"/>
          <a:ext cx="6084888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720" imgH="444240" progId="Equation.DSMT4">
                  <p:embed/>
                </p:oleObj>
              </mc:Choice>
              <mc:Fallback>
                <p:oleObj name="Equation" r:id="rId4" imgW="2628720" imgH="444240" progId="Equation.DSMT4">
                  <p:embed/>
                  <p:pic>
                    <p:nvPicPr>
                      <p:cNvPr id="5181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30" y="1500174"/>
                        <a:ext cx="6084888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6" name="Object 12"/>
          <p:cNvGraphicFramePr>
            <a:graphicFrameLocks noChangeAspect="1"/>
          </p:cNvGraphicFramePr>
          <p:nvPr/>
        </p:nvGraphicFramePr>
        <p:xfrm>
          <a:off x="142844" y="2344203"/>
          <a:ext cx="2714644" cy="481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241200" progId="Equation.DSMT4">
                  <p:embed/>
                </p:oleObj>
              </mc:Choice>
              <mc:Fallback>
                <p:oleObj name="Equation" r:id="rId6" imgW="1358640" imgH="241200" progId="Equation.DSMT4">
                  <p:embed/>
                  <p:pic>
                    <p:nvPicPr>
                      <p:cNvPr id="5181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2344203"/>
                        <a:ext cx="2714644" cy="481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Группа 30"/>
          <p:cNvGrpSpPr/>
          <p:nvPr/>
        </p:nvGrpSpPr>
        <p:grpSpPr>
          <a:xfrm>
            <a:off x="581009" y="1897054"/>
            <a:ext cx="1704975" cy="388938"/>
            <a:chOff x="500034" y="1897054"/>
            <a:chExt cx="1704975" cy="388938"/>
          </a:xfrm>
        </p:grpSpPr>
        <p:graphicFrame>
          <p:nvGraphicFramePr>
            <p:cNvPr id="518155" name="Object 11"/>
            <p:cNvGraphicFramePr>
              <a:graphicFrameLocks noChangeAspect="1"/>
            </p:cNvGraphicFramePr>
            <p:nvPr/>
          </p:nvGraphicFramePr>
          <p:xfrm>
            <a:off x="500034" y="1897054"/>
            <a:ext cx="1704975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8840" imgH="203040" progId="Equation.DSMT4">
                    <p:embed/>
                  </p:oleObj>
                </mc:Choice>
                <mc:Fallback>
                  <p:oleObj name="Equation" r:id="rId8" imgW="888840" imgH="203040" progId="Equation.DSMT4">
                    <p:embed/>
                    <p:pic>
                      <p:nvPicPr>
                        <p:cNvPr id="51815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1897054"/>
                          <a:ext cx="1704975" cy="38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0" name="Прямая соединительная линия 29"/>
            <p:cNvCxnSpPr/>
            <p:nvPr/>
          </p:nvCxnSpPr>
          <p:spPr>
            <a:xfrm>
              <a:off x="537606" y="2285992"/>
              <a:ext cx="1620000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Группа 45"/>
          <p:cNvGrpSpPr/>
          <p:nvPr/>
        </p:nvGrpSpPr>
        <p:grpSpPr>
          <a:xfrm>
            <a:off x="1142976" y="2357430"/>
            <a:ext cx="7143800" cy="1500198"/>
            <a:chOff x="1142976" y="2357430"/>
            <a:chExt cx="7143800" cy="1500198"/>
          </a:xfrm>
        </p:grpSpPr>
        <p:graphicFrame>
          <p:nvGraphicFramePr>
            <p:cNvPr id="518157" name="Object 13"/>
            <p:cNvGraphicFramePr>
              <a:graphicFrameLocks noChangeAspect="1"/>
            </p:cNvGraphicFramePr>
            <p:nvPr/>
          </p:nvGraphicFramePr>
          <p:xfrm>
            <a:off x="1557364" y="2827341"/>
            <a:ext cx="6729412" cy="1030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08080" imgH="444240" progId="Equation.DSMT4">
                    <p:embed/>
                  </p:oleObj>
                </mc:Choice>
                <mc:Fallback>
                  <p:oleObj name="Equation" r:id="rId10" imgW="2908080" imgH="444240" progId="Equation.DSMT4">
                    <p:embed/>
                    <p:pic>
                      <p:nvPicPr>
                        <p:cNvPr id="51815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7364" y="2827341"/>
                          <a:ext cx="6729412" cy="1030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7" name="Прямая со стрелкой 36"/>
            <p:cNvCxnSpPr/>
            <p:nvPr/>
          </p:nvCxnSpPr>
          <p:spPr>
            <a:xfrm rot="16200000" flipH="1">
              <a:off x="1107257" y="2821777"/>
              <a:ext cx="500066" cy="42862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 rot="5400000">
              <a:off x="3821901" y="2464587"/>
              <a:ext cx="642942" cy="42862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Группа 50"/>
          <p:cNvGrpSpPr/>
          <p:nvPr/>
        </p:nvGrpSpPr>
        <p:grpSpPr>
          <a:xfrm>
            <a:off x="281003" y="3929066"/>
            <a:ext cx="8505839" cy="1438833"/>
            <a:chOff x="281003" y="3929066"/>
            <a:chExt cx="8505839" cy="1438833"/>
          </a:xfrm>
        </p:grpSpPr>
        <p:cxnSp>
          <p:nvCxnSpPr>
            <p:cNvPr id="41" name="Прямая соединительная линия 40"/>
            <p:cNvCxnSpPr/>
            <p:nvPr/>
          </p:nvCxnSpPr>
          <p:spPr>
            <a:xfrm>
              <a:off x="285720" y="3929066"/>
              <a:ext cx="8501122" cy="0"/>
            </a:xfrm>
            <a:prstGeom prst="line">
              <a:avLst/>
            </a:prstGeom>
            <a:ln w="50800">
              <a:solidFill>
                <a:srgbClr val="00FF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Группа 46"/>
            <p:cNvGrpSpPr/>
            <p:nvPr/>
          </p:nvGrpSpPr>
          <p:grpSpPr>
            <a:xfrm>
              <a:off x="281003" y="3935173"/>
              <a:ext cx="6425386" cy="1432726"/>
              <a:chOff x="281003" y="3935173"/>
              <a:chExt cx="6425386" cy="14327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8158" name="Object 14"/>
                  <p:cNvSpPr txBox="1"/>
                  <p:nvPr/>
                </p:nvSpPr>
                <p:spPr bwMode="auto">
                  <a:xfrm>
                    <a:off x="287457" y="3935173"/>
                    <a:ext cx="6418932" cy="59636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92500" lnSpcReduction="10000"/>
                  </a:bodyPr>
                  <a:lstStyle/>
                  <a:p>
                    <a:r>
                      <a:rPr lang="ru-RU" sz="19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Считаем </a:t>
                    </a:r>
                    <a:r>
                      <a:rPr lang="ru-RU" sz="19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нечетные </a:t>
                    </a:r>
                    <a:r>
                      <a:rPr lang="ru-RU" sz="19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подсчеты</a:t>
                    </a:r>
                    <a:r>
                      <a:rPr lang="ru-RU" sz="1900" dirty="0">
                        <a:solidFill>
                          <a:srgbClr val="000000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ru-RU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ru-RU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ru-RU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ru-RU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=0,...</m:t>
                        </m:r>
                        <m:f>
                          <m:fPr>
                            <m:ctrlPr>
                              <a:rPr lang="ru-RU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ru-RU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518158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7457" y="3935173"/>
                    <a:ext cx="6418932" cy="59636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760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518159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281003" y="4429125"/>
                  <a:ext cx="5862633" cy="93877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3" imgW="2781000" imgH="444240" progId="Equation.DSMT4">
                          <p:embed/>
                        </p:oleObj>
                      </mc:Choice>
                      <mc:Fallback>
                        <p:oleObj name="Equation" r:id="rId13" imgW="2781000" imgH="444240" progId="Equation.DSMT4">
                          <p:embed/>
                          <p:pic>
                            <p:nvPicPr>
                              <p:cNvPr id="518159" name="Object 1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1003" y="4429125"/>
                                <a:ext cx="5862633" cy="93877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518159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281003" y="4429125"/>
                  <a:ext cx="5862633" cy="93877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5" imgW="2781000" imgH="444240" progId="Equation.DSMT4">
                          <p:embed/>
                        </p:oleObj>
                      </mc:Choice>
                      <mc:Fallback>
                        <p:oleObj name="Equation" r:id="rId15" imgW="2781000" imgH="444240" progId="Equation.DSMT4">
                          <p:embed/>
                          <p:pic>
                            <p:nvPicPr>
                              <p:cNvPr id="518159" name="Object 1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1003" y="4429125"/>
                                <a:ext cx="5862633" cy="93877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</p:grpSp>
      <p:grpSp>
        <p:nvGrpSpPr>
          <p:cNvPr id="49" name="Группа 48"/>
          <p:cNvGrpSpPr/>
          <p:nvPr/>
        </p:nvGrpSpPr>
        <p:grpSpPr>
          <a:xfrm>
            <a:off x="1714480" y="4677312"/>
            <a:ext cx="7213017" cy="1646760"/>
            <a:chOff x="1714480" y="4677312"/>
            <a:chExt cx="7213017" cy="1646760"/>
          </a:xfrm>
        </p:grpSpPr>
        <p:graphicFrame>
          <p:nvGraphicFramePr>
            <p:cNvPr id="44" name="Object 11"/>
            <p:cNvGraphicFramePr>
              <a:graphicFrameLocks noChangeAspect="1"/>
            </p:cNvGraphicFramePr>
            <p:nvPr/>
          </p:nvGraphicFramePr>
          <p:xfrm>
            <a:off x="7072330" y="4677312"/>
            <a:ext cx="1855167" cy="571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825480" imgH="253800" progId="Equation.DSMT4">
                    <p:embed/>
                  </p:oleObj>
                </mc:Choice>
                <mc:Fallback>
                  <p:oleObj name="Equation" r:id="rId17" imgW="825480" imgH="253800" progId="Equation.DSMT4">
                    <p:embed/>
                    <p:pic>
                      <p:nvPicPr>
                        <p:cNvPr id="4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2330" y="4677312"/>
                          <a:ext cx="1855167" cy="571504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00FF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161" name="Object 17"/>
            <p:cNvGraphicFramePr>
              <a:graphicFrameLocks noChangeAspect="1"/>
            </p:cNvGraphicFramePr>
            <p:nvPr/>
          </p:nvGraphicFramePr>
          <p:xfrm>
            <a:off x="1714480" y="5293784"/>
            <a:ext cx="5554662" cy="1030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400120" imgH="444240" progId="Equation.DSMT4">
                    <p:embed/>
                  </p:oleObj>
                </mc:Choice>
                <mc:Fallback>
                  <p:oleObj name="Equation" r:id="rId19" imgW="2400120" imgH="444240" progId="Equation.DSMT4">
                    <p:embed/>
                    <p:pic>
                      <p:nvPicPr>
                        <p:cNvPr id="51816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480" y="5293784"/>
                          <a:ext cx="5554662" cy="1030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2">
            <a:extLst>
              <a:ext uri="{FF2B5EF4-FFF2-40B4-BE49-F238E27FC236}">
                <a16:creationId xmlns:a16="http://schemas.microsoft.com/office/drawing/2014/main" id="{F26ABF5F-A1B7-4331-8A56-40A521285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частоты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8158" name="Object 14"/>
              <p:cNvSpPr txBox="1"/>
              <p:nvPr/>
            </p:nvSpPr>
            <p:spPr bwMode="auto">
              <a:xfrm>
                <a:off x="262879" y="808039"/>
                <a:ext cx="7841629" cy="468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Считаем </a:t>
                </a:r>
                <a:r>
                  <a:rPr lang="ru-RU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нечетные </a:t>
                </a:r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подсчеты</a:t>
                </a:r>
                <a:r>
                  <a:rPr lang="ru-RU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(2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+1),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=0,...</m:t>
                    </m:r>
                    <m:f>
                      <m:f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815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79" y="808039"/>
                <a:ext cx="7841629" cy="468313"/>
              </a:xfrm>
              <a:prstGeom prst="rect">
                <a:avLst/>
              </a:prstGeom>
              <a:blipFill>
                <a:blip r:embed="rId2"/>
                <a:stretch>
                  <a:fillRect l="-778" b="-355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8159" name="Object 15"/>
          <p:cNvGraphicFramePr>
            <a:graphicFrameLocks noChangeAspect="1"/>
          </p:cNvGraphicFramePr>
          <p:nvPr/>
        </p:nvGraphicFramePr>
        <p:xfrm>
          <a:off x="344508" y="1357313"/>
          <a:ext cx="7227888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9000" imgH="444240" progId="Equation.DSMT4">
                  <p:embed/>
                </p:oleObj>
              </mc:Choice>
              <mc:Fallback>
                <p:oleObj name="Equation" r:id="rId3" imgW="3429000" imgH="444240" progId="Equation.DSMT4">
                  <p:embed/>
                  <p:pic>
                    <p:nvPicPr>
                      <p:cNvPr id="51815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08" y="1357313"/>
                        <a:ext cx="7227888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9" name="Object 11"/>
          <p:cNvGraphicFramePr>
            <a:graphicFrameLocks noChangeAspect="1"/>
          </p:cNvGraphicFramePr>
          <p:nvPr/>
        </p:nvGraphicFramePr>
        <p:xfrm>
          <a:off x="857224" y="2143125"/>
          <a:ext cx="618331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33640" imgH="444240" progId="Equation.DSMT4">
                  <p:embed/>
                </p:oleObj>
              </mc:Choice>
              <mc:Fallback>
                <p:oleObj name="Equation" r:id="rId5" imgW="2933640" imgH="444240" progId="Equation.DSMT4">
                  <p:embed/>
                  <p:pic>
                    <p:nvPicPr>
                      <p:cNvPr id="5191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2143125"/>
                        <a:ext cx="6183313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80" name="Object 12"/>
          <p:cNvGraphicFramePr>
            <a:graphicFrameLocks noChangeAspect="1"/>
          </p:cNvGraphicFramePr>
          <p:nvPr/>
        </p:nvGraphicFramePr>
        <p:xfrm>
          <a:off x="2624138" y="2957513"/>
          <a:ext cx="47117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34880" imgH="444240" progId="Equation.DSMT4">
                  <p:embed/>
                </p:oleObj>
              </mc:Choice>
              <mc:Fallback>
                <p:oleObj name="Equation" r:id="rId7" imgW="2234880" imgH="444240" progId="Equation.DSMT4">
                  <p:embed/>
                  <p:pic>
                    <p:nvPicPr>
                      <p:cNvPr id="5191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2957513"/>
                        <a:ext cx="47117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Группа 22"/>
          <p:cNvGrpSpPr/>
          <p:nvPr/>
        </p:nvGrpSpPr>
        <p:grpSpPr>
          <a:xfrm>
            <a:off x="7252778" y="2201863"/>
            <a:ext cx="1620000" cy="414337"/>
            <a:chOff x="537606" y="1884363"/>
            <a:chExt cx="1620000" cy="414337"/>
          </a:xfrm>
        </p:grpSpPr>
        <p:graphicFrame>
          <p:nvGraphicFramePr>
            <p:cNvPr id="24" name="Object 11"/>
            <p:cNvGraphicFramePr>
              <a:graphicFrameLocks noChangeAspect="1"/>
            </p:cNvGraphicFramePr>
            <p:nvPr/>
          </p:nvGraphicFramePr>
          <p:xfrm>
            <a:off x="560341" y="1884363"/>
            <a:ext cx="1584325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25480" imgH="215640" progId="Equation.DSMT4">
                    <p:embed/>
                  </p:oleObj>
                </mc:Choice>
                <mc:Fallback>
                  <p:oleObj name="Equation" r:id="rId9" imgW="825480" imgH="215640" progId="Equation.DSMT4">
                    <p:embed/>
                    <p:pic>
                      <p:nvPicPr>
                        <p:cNvPr id="2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341" y="1884363"/>
                          <a:ext cx="1584325" cy="414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Прямая соединительная линия 24"/>
            <p:cNvCxnSpPr/>
            <p:nvPr/>
          </p:nvCxnSpPr>
          <p:spPr>
            <a:xfrm>
              <a:off x="537606" y="2285992"/>
              <a:ext cx="1620000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Прямая соединительная линия 25"/>
          <p:cNvCxnSpPr/>
          <p:nvPr/>
        </p:nvCxnSpPr>
        <p:spPr>
          <a:xfrm>
            <a:off x="285720" y="3929066"/>
            <a:ext cx="8501122" cy="0"/>
          </a:xfrm>
          <a:prstGeom prst="line">
            <a:avLst/>
          </a:prstGeom>
          <a:ln w="508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9182" name="Object 14"/>
          <p:cNvGraphicFramePr>
            <a:graphicFrameLocks noChangeAspect="1"/>
          </p:cNvGraphicFramePr>
          <p:nvPr/>
        </p:nvGraphicFramePr>
        <p:xfrm>
          <a:off x="285720" y="4071942"/>
          <a:ext cx="5554663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00120" imgH="444240" progId="Equation.DSMT4">
                  <p:embed/>
                </p:oleObj>
              </mc:Choice>
              <mc:Fallback>
                <p:oleObj name="Equation" r:id="rId11" imgW="2400120" imgH="444240" progId="Equation.DSMT4">
                  <p:embed/>
                  <p:pic>
                    <p:nvPicPr>
                      <p:cNvPr id="5191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4071942"/>
                        <a:ext cx="5554663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83" name="Object 15"/>
          <p:cNvGraphicFramePr>
            <a:graphicFrameLocks noChangeAspect="1"/>
          </p:cNvGraphicFramePr>
          <p:nvPr/>
        </p:nvGraphicFramePr>
        <p:xfrm>
          <a:off x="2201863" y="5143500"/>
          <a:ext cx="6583362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44720" imgH="444240" progId="Equation.DSMT4">
                  <p:embed/>
                </p:oleObj>
              </mc:Choice>
              <mc:Fallback>
                <p:oleObj name="Equation" r:id="rId13" imgW="2844720" imgH="444240" progId="Equation.DSMT4">
                  <p:embed/>
                  <p:pic>
                    <p:nvPicPr>
                      <p:cNvPr id="5191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5143500"/>
                        <a:ext cx="6583362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AB219955-FED8-48EF-9675-1D7EFE6D7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частоты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26"/>
          <p:cNvGrpSpPr/>
          <p:nvPr/>
        </p:nvGrpSpPr>
        <p:grpSpPr>
          <a:xfrm>
            <a:off x="1142976" y="2214554"/>
            <a:ext cx="6956981" cy="2398731"/>
            <a:chOff x="1339357" y="3885890"/>
            <a:chExt cx="6956981" cy="2398731"/>
          </a:xfrm>
        </p:grpSpPr>
        <p:sp>
          <p:nvSpPr>
            <p:cNvPr id="31" name="Овал 30"/>
            <p:cNvSpPr>
              <a:spLocks noChangeAspect="1"/>
            </p:cNvSpPr>
            <p:nvPr/>
          </p:nvSpPr>
          <p:spPr>
            <a:xfrm>
              <a:off x="2140991" y="4449771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Овал 31"/>
            <p:cNvSpPr>
              <a:spLocks noChangeAspect="1"/>
            </p:cNvSpPr>
            <p:nvPr/>
          </p:nvSpPr>
          <p:spPr>
            <a:xfrm>
              <a:off x="2140991" y="5912845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6" name="Прямая со стрелкой 35"/>
            <p:cNvCxnSpPr/>
            <p:nvPr/>
          </p:nvCxnSpPr>
          <p:spPr>
            <a:xfrm>
              <a:off x="2320991" y="4544959"/>
              <a:ext cx="1571636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2320991" y="6007944"/>
              <a:ext cx="1571636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Овал 39"/>
            <p:cNvSpPr>
              <a:spLocks noChangeAspect="1"/>
            </p:cNvSpPr>
            <p:nvPr/>
          </p:nvSpPr>
          <p:spPr>
            <a:xfrm>
              <a:off x="3867378" y="5914344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/>
            <p:cNvSpPr>
              <a:spLocks noChangeAspect="1"/>
            </p:cNvSpPr>
            <p:nvPr/>
          </p:nvSpPr>
          <p:spPr>
            <a:xfrm>
              <a:off x="3868689" y="4449771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3" name="Прямая со стрелкой 42"/>
            <p:cNvCxnSpPr>
              <a:stCxn id="32" idx="7"/>
              <a:endCxn id="41" idx="3"/>
            </p:cNvCxnSpPr>
            <p:nvPr/>
          </p:nvCxnSpPr>
          <p:spPr>
            <a:xfrm rot="5400000" flipH="1" flipV="1">
              <a:off x="2426943" y="4471099"/>
              <a:ext cx="1335794" cy="16004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 стрелкой 45"/>
            <p:cNvCxnSpPr>
              <a:stCxn id="31" idx="5"/>
              <a:endCxn id="40" idx="1"/>
            </p:cNvCxnSpPr>
            <p:nvPr/>
          </p:nvCxnSpPr>
          <p:spPr>
            <a:xfrm rot="16200000" flipH="1">
              <a:off x="2425538" y="4472503"/>
              <a:ext cx="1337293" cy="15991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14065" name="Object 17"/>
            <p:cNvGraphicFramePr>
              <a:graphicFrameLocks noChangeAspect="1"/>
            </p:cNvGraphicFramePr>
            <p:nvPr/>
          </p:nvGraphicFramePr>
          <p:xfrm>
            <a:off x="1356780" y="5781384"/>
            <a:ext cx="7302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68280" imgH="228600" progId="Equation.DSMT4">
                    <p:embed/>
                  </p:oleObj>
                </mc:Choice>
                <mc:Fallback>
                  <p:oleObj name="Equation" r:id="rId2" imgW="368280" imgH="228600" progId="Equation.DSMT4">
                    <p:embed/>
                    <p:pic>
                      <p:nvPicPr>
                        <p:cNvPr id="51406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780" y="5781384"/>
                          <a:ext cx="730250" cy="454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066" name="Object 18"/>
            <p:cNvGraphicFramePr>
              <a:graphicFrameLocks noChangeAspect="1"/>
            </p:cNvGraphicFramePr>
            <p:nvPr/>
          </p:nvGraphicFramePr>
          <p:xfrm>
            <a:off x="1339357" y="4320657"/>
            <a:ext cx="754062" cy="452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80880" imgH="228600" progId="Equation.DSMT4">
                    <p:embed/>
                  </p:oleObj>
                </mc:Choice>
                <mc:Fallback>
                  <p:oleObj name="Equation" r:id="rId4" imgW="380880" imgH="228600" progId="Equation.DSMT4">
                    <p:embed/>
                    <p:pic>
                      <p:nvPicPr>
                        <p:cNvPr id="51406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9357" y="4320657"/>
                          <a:ext cx="754062" cy="452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067" name="Object 19"/>
            <p:cNvGraphicFramePr>
              <a:graphicFrameLocks noChangeAspect="1"/>
            </p:cNvGraphicFramePr>
            <p:nvPr/>
          </p:nvGraphicFramePr>
          <p:xfrm>
            <a:off x="4179888" y="4301834"/>
            <a:ext cx="2973387" cy="490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84200" imgH="228600" progId="Equation.DSMT4">
                    <p:embed/>
                  </p:oleObj>
                </mc:Choice>
                <mc:Fallback>
                  <p:oleObj name="Equation" r:id="rId6" imgW="1384200" imgH="228600" progId="Equation.DSMT4">
                    <p:embed/>
                    <p:pic>
                      <p:nvPicPr>
                        <p:cNvPr id="51406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9888" y="4301834"/>
                          <a:ext cx="2973387" cy="490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068" name="Object 20"/>
            <p:cNvGraphicFramePr>
              <a:graphicFrameLocks noChangeAspect="1"/>
            </p:cNvGraphicFramePr>
            <p:nvPr/>
          </p:nvGraphicFramePr>
          <p:xfrm>
            <a:off x="4203763" y="5738521"/>
            <a:ext cx="4092575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4760" imgH="253800" progId="Equation.DSMT4">
                    <p:embed/>
                  </p:oleObj>
                </mc:Choice>
                <mc:Fallback>
                  <p:oleObj name="Equation" r:id="rId8" imgW="1904760" imgH="253800" progId="Equation.DSMT4">
                    <p:embed/>
                    <p:pic>
                      <p:nvPicPr>
                        <p:cNvPr id="51406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3763" y="5738521"/>
                          <a:ext cx="4092575" cy="546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TextBox 49"/>
            <p:cNvSpPr txBox="1"/>
            <p:nvPr/>
          </p:nvSpPr>
          <p:spPr>
            <a:xfrm>
              <a:off x="1960054" y="3885890"/>
              <a:ext cx="221457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 dirty="0">
                  <a:latin typeface="Times New Roman" pitchFamily="18" charset="0"/>
                  <a:cs typeface="Times New Roman" pitchFamily="18" charset="0"/>
                </a:rPr>
                <a:t>“</a:t>
              </a:r>
              <a:r>
                <a:rPr lang="ru-RU" sz="2600" b="1" dirty="0">
                  <a:latin typeface="Times New Roman" pitchFamily="18" charset="0"/>
                  <a:cs typeface="Times New Roman" pitchFamily="18" charset="0"/>
                </a:rPr>
                <a:t>Бабочка</a:t>
              </a:r>
              <a:r>
                <a:rPr lang="en-US" sz="2600" b="1" dirty="0">
                  <a:latin typeface="Times New Roman" pitchFamily="18" charset="0"/>
                  <a:cs typeface="Times New Roman" pitchFamily="18" charset="0"/>
                </a:rPr>
                <a:t>”</a:t>
              </a:r>
              <a:endParaRPr lang="ru-RU" sz="26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9D9E78B3-A9CC-4E86-9E4E-F52EE679E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частоты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75084" y="642918"/>
            <a:ext cx="7393833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Пример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= 8</a:t>
            </a:r>
            <a:endParaRPr lang="ru-RU" sz="26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7" name="Группа 156"/>
          <p:cNvGrpSpPr/>
          <p:nvPr/>
        </p:nvGrpSpPr>
        <p:grpSpPr>
          <a:xfrm>
            <a:off x="1596955" y="1536407"/>
            <a:ext cx="117525" cy="3100409"/>
            <a:chOff x="2605074" y="2043103"/>
            <a:chExt cx="117525" cy="3100409"/>
          </a:xfrm>
        </p:grpSpPr>
        <p:sp>
          <p:nvSpPr>
            <p:cNvPr id="118" name="Овал 117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19" name="Овал 118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20" name="Овал 119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21" name="Овал 120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23" name="Овал 122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31" name="Овал 130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33" name="Овал 132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35" name="Овал 134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</p:grpSp>
      <p:graphicFrame>
        <p:nvGraphicFramePr>
          <p:cNvPr id="136" name="Таблица 135"/>
          <p:cNvGraphicFramePr>
            <a:graphicFrameLocks noGrp="1"/>
          </p:cNvGraphicFramePr>
          <p:nvPr/>
        </p:nvGraphicFramePr>
        <p:xfrm>
          <a:off x="1000100" y="1358413"/>
          <a:ext cx="571504" cy="34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7" name="Группа 156"/>
          <p:cNvGrpSpPr/>
          <p:nvPr/>
        </p:nvGrpSpPr>
        <p:grpSpPr>
          <a:xfrm>
            <a:off x="2668525" y="1536407"/>
            <a:ext cx="117525" cy="3100409"/>
            <a:chOff x="2605074" y="2043103"/>
            <a:chExt cx="117525" cy="3100409"/>
          </a:xfrm>
        </p:grpSpPr>
        <p:sp>
          <p:nvSpPr>
            <p:cNvPr id="138" name="Овал 137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45" name="Овал 144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0" name="Овал 149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1" name="Овал 150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2" name="Овал 151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57" name="Овал 156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74" name="Овал 173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179" name="Овал 178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</p:grpSp>
      <p:cxnSp>
        <p:nvCxnSpPr>
          <p:cNvPr id="184" name="Прямая со стрелкой 183"/>
          <p:cNvCxnSpPr/>
          <p:nvPr/>
        </p:nvCxnSpPr>
        <p:spPr>
          <a:xfrm>
            <a:off x="1839006" y="1587241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Прямая со стрелкой 184"/>
          <p:cNvCxnSpPr/>
          <p:nvPr/>
        </p:nvCxnSpPr>
        <p:spPr>
          <a:xfrm>
            <a:off x="1836013" y="2021921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Прямая со стрелкой 185"/>
          <p:cNvCxnSpPr/>
          <p:nvPr/>
        </p:nvCxnSpPr>
        <p:spPr>
          <a:xfrm>
            <a:off x="1839006" y="2444497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Прямая со стрелкой 186"/>
          <p:cNvCxnSpPr/>
          <p:nvPr/>
        </p:nvCxnSpPr>
        <p:spPr>
          <a:xfrm>
            <a:off x="1831911" y="2860904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Прямая со стрелкой 187"/>
          <p:cNvCxnSpPr/>
          <p:nvPr/>
        </p:nvCxnSpPr>
        <p:spPr>
          <a:xfrm>
            <a:off x="1828373" y="3300165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Прямая со стрелкой 188"/>
          <p:cNvCxnSpPr/>
          <p:nvPr/>
        </p:nvCxnSpPr>
        <p:spPr>
          <a:xfrm>
            <a:off x="1828373" y="3728793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Прямая со стрелкой 189"/>
          <p:cNvCxnSpPr/>
          <p:nvPr/>
        </p:nvCxnSpPr>
        <p:spPr>
          <a:xfrm>
            <a:off x="1828373" y="4146788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Прямая со стрелкой 190"/>
          <p:cNvCxnSpPr/>
          <p:nvPr/>
        </p:nvCxnSpPr>
        <p:spPr>
          <a:xfrm>
            <a:off x="1828373" y="4586049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Прямая со стрелкой 191"/>
          <p:cNvCxnSpPr/>
          <p:nvPr/>
        </p:nvCxnSpPr>
        <p:spPr>
          <a:xfrm rot="5400000" flipH="1" flipV="1">
            <a:off x="1342258" y="2100053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Прямая со стрелкой 192"/>
          <p:cNvCxnSpPr/>
          <p:nvPr/>
        </p:nvCxnSpPr>
        <p:spPr>
          <a:xfrm rot="5400000" flipH="1" flipV="1">
            <a:off x="1348231" y="2514147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Прямая со стрелкой 193"/>
          <p:cNvCxnSpPr/>
          <p:nvPr/>
        </p:nvCxnSpPr>
        <p:spPr>
          <a:xfrm rot="5400000" flipH="1" flipV="1">
            <a:off x="1349589" y="2927115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Прямая со стрелкой 194"/>
          <p:cNvCxnSpPr/>
          <p:nvPr/>
        </p:nvCxnSpPr>
        <p:spPr>
          <a:xfrm rot="5400000" flipH="1" flipV="1">
            <a:off x="1350920" y="3371403"/>
            <a:ext cx="1693628" cy="707666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Прямая со стрелкой 195"/>
          <p:cNvCxnSpPr/>
          <p:nvPr/>
        </p:nvCxnSpPr>
        <p:spPr>
          <a:xfrm rot="16200000" flipH="1">
            <a:off x="1334307" y="2108003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 стрелкой 196"/>
          <p:cNvCxnSpPr/>
          <p:nvPr/>
        </p:nvCxnSpPr>
        <p:spPr>
          <a:xfrm rot="16200000" flipH="1">
            <a:off x="1333565" y="2538688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Прямая со стрелкой 197"/>
          <p:cNvCxnSpPr/>
          <p:nvPr/>
        </p:nvCxnSpPr>
        <p:spPr>
          <a:xfrm rot="16200000" flipH="1">
            <a:off x="1334896" y="2950727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Прямая со стрелкой 198"/>
          <p:cNvCxnSpPr/>
          <p:nvPr/>
        </p:nvCxnSpPr>
        <p:spPr>
          <a:xfrm rot="16200000" flipH="1">
            <a:off x="1333565" y="3387306"/>
            <a:ext cx="1701579" cy="66790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Прямая со стрелкой 208"/>
          <p:cNvCxnSpPr/>
          <p:nvPr/>
        </p:nvCxnSpPr>
        <p:spPr>
          <a:xfrm>
            <a:off x="2956869" y="1601902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Прямая со стрелкой 209"/>
          <p:cNvCxnSpPr/>
          <p:nvPr/>
        </p:nvCxnSpPr>
        <p:spPr>
          <a:xfrm>
            <a:off x="2956869" y="2031897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Прямая со стрелкой 210"/>
          <p:cNvCxnSpPr/>
          <p:nvPr/>
        </p:nvCxnSpPr>
        <p:spPr>
          <a:xfrm>
            <a:off x="2949565" y="2448525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Прямая со стрелкой 211"/>
          <p:cNvCxnSpPr/>
          <p:nvPr/>
        </p:nvCxnSpPr>
        <p:spPr>
          <a:xfrm>
            <a:off x="2956869" y="2866520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Прямая со стрелкой 212"/>
          <p:cNvCxnSpPr/>
          <p:nvPr/>
        </p:nvCxnSpPr>
        <p:spPr>
          <a:xfrm>
            <a:off x="2956869" y="3310141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Прямая со стрелкой 213"/>
          <p:cNvCxnSpPr/>
          <p:nvPr/>
        </p:nvCxnSpPr>
        <p:spPr>
          <a:xfrm>
            <a:off x="2957205" y="3746409"/>
            <a:ext cx="725349" cy="627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рямая со стрелкой 214"/>
          <p:cNvCxnSpPr/>
          <p:nvPr/>
        </p:nvCxnSpPr>
        <p:spPr>
          <a:xfrm>
            <a:off x="2949565" y="4167397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рямая со стрелкой 215"/>
          <p:cNvCxnSpPr/>
          <p:nvPr/>
        </p:nvCxnSpPr>
        <p:spPr>
          <a:xfrm>
            <a:off x="2949565" y="4593032"/>
            <a:ext cx="725349" cy="627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Прямая со стрелкой 216"/>
          <p:cNvCxnSpPr/>
          <p:nvPr/>
        </p:nvCxnSpPr>
        <p:spPr>
          <a:xfrm rot="16200000" flipH="1">
            <a:off x="2909254" y="1675895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рямая со стрелкой 217"/>
          <p:cNvCxnSpPr/>
          <p:nvPr/>
        </p:nvCxnSpPr>
        <p:spPr>
          <a:xfrm rot="16200000" flipH="1">
            <a:off x="2909250" y="2109282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рямая со стрелкой 218"/>
          <p:cNvCxnSpPr/>
          <p:nvPr/>
        </p:nvCxnSpPr>
        <p:spPr>
          <a:xfrm rot="16200000" flipH="1">
            <a:off x="2909254" y="3390407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/>
          <p:cNvCxnSpPr/>
          <p:nvPr/>
        </p:nvCxnSpPr>
        <p:spPr>
          <a:xfrm rot="16200000" flipH="1">
            <a:off x="2909250" y="3823794"/>
            <a:ext cx="809625" cy="685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рямая со стрелкой 220"/>
          <p:cNvCxnSpPr/>
          <p:nvPr/>
        </p:nvCxnSpPr>
        <p:spPr>
          <a:xfrm rot="5400000" flipH="1" flipV="1">
            <a:off x="2918778" y="1704471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рямая со стрелкой 221"/>
          <p:cNvCxnSpPr/>
          <p:nvPr/>
        </p:nvCxnSpPr>
        <p:spPr>
          <a:xfrm rot="5400000" flipH="1" flipV="1">
            <a:off x="2914012" y="2104521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рямая со стрелкой 222"/>
          <p:cNvCxnSpPr/>
          <p:nvPr/>
        </p:nvCxnSpPr>
        <p:spPr>
          <a:xfrm rot="5400000" flipH="1" flipV="1">
            <a:off x="2918778" y="3418981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рямая со стрелкой 223"/>
          <p:cNvCxnSpPr/>
          <p:nvPr/>
        </p:nvCxnSpPr>
        <p:spPr>
          <a:xfrm rot="5400000" flipH="1" flipV="1">
            <a:off x="2914012" y="3838081"/>
            <a:ext cx="800100" cy="69532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5" name="Object 25"/>
          <p:cNvGraphicFramePr>
            <a:graphicFrameLocks noChangeAspect="1"/>
          </p:cNvGraphicFramePr>
          <p:nvPr/>
        </p:nvGraphicFramePr>
        <p:xfrm>
          <a:off x="2553748" y="1120800"/>
          <a:ext cx="3317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228600" progId="Equation.DSMT4">
                  <p:embed/>
                </p:oleObj>
              </mc:Choice>
              <mc:Fallback>
                <p:oleObj name="Equation" r:id="rId2" imgW="177480" imgH="228600" progId="Equation.DSMT4">
                  <p:embed/>
                  <p:pic>
                    <p:nvPicPr>
                      <p:cNvPr id="22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748" y="1120800"/>
                        <a:ext cx="3317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" name="Object 26"/>
          <p:cNvGraphicFramePr>
            <a:graphicFrameLocks noChangeAspect="1"/>
          </p:cNvGraphicFramePr>
          <p:nvPr/>
        </p:nvGraphicFramePr>
        <p:xfrm>
          <a:off x="2587085" y="2903033"/>
          <a:ext cx="3079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28600" progId="Equation.DSMT4">
                  <p:embed/>
                </p:oleObj>
              </mc:Choice>
              <mc:Fallback>
                <p:oleObj name="Equation" r:id="rId4" imgW="164880" imgH="228600" progId="Equation.DSMT4">
                  <p:embed/>
                  <p:pic>
                    <p:nvPicPr>
                      <p:cNvPr id="2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085" y="2903033"/>
                        <a:ext cx="3079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7" name="Группа 87"/>
          <p:cNvGrpSpPr/>
          <p:nvPr/>
        </p:nvGrpSpPr>
        <p:grpSpPr>
          <a:xfrm>
            <a:off x="3805175" y="1543582"/>
            <a:ext cx="117525" cy="3100409"/>
            <a:chOff x="2605074" y="2043103"/>
            <a:chExt cx="117525" cy="3100409"/>
          </a:xfrm>
        </p:grpSpPr>
        <p:sp>
          <p:nvSpPr>
            <p:cNvPr id="228" name="Овал 227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9" name="Овал 228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0" name="Овал 229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1" name="Овал 230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2" name="Овал 231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3" name="Овал 232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4" name="Овал 233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5" name="Овал 234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236" name="Object 21"/>
          <p:cNvGraphicFramePr>
            <a:graphicFrameLocks noChangeAspect="1"/>
          </p:cNvGraphicFramePr>
          <p:nvPr/>
        </p:nvGraphicFramePr>
        <p:xfrm>
          <a:off x="3651236" y="1121317"/>
          <a:ext cx="4238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228600" progId="Equation.DSMT4">
                  <p:embed/>
                </p:oleObj>
              </mc:Choice>
              <mc:Fallback>
                <p:oleObj name="Equation" r:id="rId6" imgW="228600" imgH="228600" progId="Equation.DSMT4">
                  <p:embed/>
                  <p:pic>
                    <p:nvPicPr>
                      <p:cNvPr id="23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36" y="1121317"/>
                        <a:ext cx="4238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" name="Object 22"/>
          <p:cNvGraphicFramePr>
            <a:graphicFrameLocks noChangeAspect="1"/>
          </p:cNvGraphicFramePr>
          <p:nvPr/>
        </p:nvGraphicFramePr>
        <p:xfrm>
          <a:off x="3643306" y="2019842"/>
          <a:ext cx="4000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228600" progId="Equation.DSMT4">
                  <p:embed/>
                </p:oleObj>
              </mc:Choice>
              <mc:Fallback>
                <p:oleObj name="Equation" r:id="rId8" imgW="215640" imgH="228600" progId="Equation.DSMT4">
                  <p:embed/>
                  <p:pic>
                    <p:nvPicPr>
                      <p:cNvPr id="23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06" y="2019842"/>
                        <a:ext cx="4000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" name="Object 23"/>
          <p:cNvGraphicFramePr>
            <a:graphicFrameLocks noChangeAspect="1"/>
          </p:cNvGraphicFramePr>
          <p:nvPr/>
        </p:nvGraphicFramePr>
        <p:xfrm>
          <a:off x="3668706" y="2880269"/>
          <a:ext cx="4000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228600" progId="Equation.DSMT4">
                  <p:embed/>
                </p:oleObj>
              </mc:Choice>
              <mc:Fallback>
                <p:oleObj name="Equation" r:id="rId10" imgW="215640" imgH="228600" progId="Equation.DSMT4">
                  <p:embed/>
                  <p:pic>
                    <p:nvPicPr>
                      <p:cNvPr id="23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06" y="2880269"/>
                        <a:ext cx="4000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" name="Object 24"/>
          <p:cNvGraphicFramePr>
            <a:graphicFrameLocks noChangeAspect="1"/>
          </p:cNvGraphicFramePr>
          <p:nvPr/>
        </p:nvGraphicFramePr>
        <p:xfrm>
          <a:off x="3676643" y="3743867"/>
          <a:ext cx="3778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40" imgH="228600" progId="Equation.DSMT4">
                  <p:embed/>
                </p:oleObj>
              </mc:Choice>
              <mc:Fallback>
                <p:oleObj name="Equation" r:id="rId12" imgW="203040" imgH="228600" progId="Equation.DSMT4">
                  <p:embed/>
                  <p:pic>
                    <p:nvPicPr>
                      <p:cNvPr id="23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43" y="3743867"/>
                        <a:ext cx="3778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0" name="Группа 87"/>
          <p:cNvGrpSpPr/>
          <p:nvPr/>
        </p:nvGrpSpPr>
        <p:grpSpPr>
          <a:xfrm>
            <a:off x="4954541" y="1535128"/>
            <a:ext cx="117525" cy="3100409"/>
            <a:chOff x="2605074" y="2043103"/>
            <a:chExt cx="117525" cy="3100409"/>
          </a:xfrm>
        </p:grpSpPr>
        <p:sp>
          <p:nvSpPr>
            <p:cNvPr id="241" name="Овал 240"/>
            <p:cNvSpPr>
              <a:spLocks noChangeAspect="1"/>
            </p:cNvSpPr>
            <p:nvPr/>
          </p:nvSpPr>
          <p:spPr>
            <a:xfrm>
              <a:off x="2606612" y="2043103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2" name="Овал 241"/>
            <p:cNvSpPr>
              <a:spLocks noChangeAspect="1"/>
            </p:cNvSpPr>
            <p:nvPr/>
          </p:nvSpPr>
          <p:spPr>
            <a:xfrm>
              <a:off x="2614599" y="2473269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3" name="Овал 242"/>
            <p:cNvSpPr>
              <a:spLocks noChangeAspect="1"/>
            </p:cNvSpPr>
            <p:nvPr/>
          </p:nvSpPr>
          <p:spPr>
            <a:xfrm>
              <a:off x="2614599" y="289237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4" name="Овал 243"/>
            <p:cNvSpPr>
              <a:spLocks noChangeAspect="1"/>
            </p:cNvSpPr>
            <p:nvPr/>
          </p:nvSpPr>
          <p:spPr>
            <a:xfrm>
              <a:off x="2614599" y="3321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5" name="Овал 244"/>
            <p:cNvSpPr>
              <a:spLocks noChangeAspect="1"/>
            </p:cNvSpPr>
            <p:nvPr/>
          </p:nvSpPr>
          <p:spPr>
            <a:xfrm>
              <a:off x="2609836" y="3749628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6" name="Овал 245"/>
            <p:cNvSpPr>
              <a:spLocks noChangeAspect="1"/>
            </p:cNvSpPr>
            <p:nvPr/>
          </p:nvSpPr>
          <p:spPr>
            <a:xfrm>
              <a:off x="2609836" y="4178256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7" name="Овал 246"/>
            <p:cNvSpPr>
              <a:spLocks noChangeAspect="1"/>
            </p:cNvSpPr>
            <p:nvPr/>
          </p:nvSpPr>
          <p:spPr>
            <a:xfrm>
              <a:off x="2605074" y="4606884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8" name="Овал 247"/>
            <p:cNvSpPr>
              <a:spLocks noChangeAspect="1"/>
            </p:cNvSpPr>
            <p:nvPr/>
          </p:nvSpPr>
          <p:spPr>
            <a:xfrm>
              <a:off x="2606612" y="503551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49" name="Прямая со стрелкой 248"/>
          <p:cNvCxnSpPr/>
          <p:nvPr/>
        </p:nvCxnSpPr>
        <p:spPr>
          <a:xfrm>
            <a:off x="4105272" y="1601902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Прямая со стрелкой 249"/>
          <p:cNvCxnSpPr/>
          <p:nvPr/>
        </p:nvCxnSpPr>
        <p:spPr>
          <a:xfrm>
            <a:off x="4102279" y="2036582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Прямая со стрелкой 250"/>
          <p:cNvCxnSpPr/>
          <p:nvPr/>
        </p:nvCxnSpPr>
        <p:spPr>
          <a:xfrm>
            <a:off x="4105272" y="2459158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Прямая со стрелкой 251"/>
          <p:cNvCxnSpPr/>
          <p:nvPr/>
        </p:nvCxnSpPr>
        <p:spPr>
          <a:xfrm>
            <a:off x="4098177" y="2875565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Прямая со стрелкой 252"/>
          <p:cNvCxnSpPr/>
          <p:nvPr/>
        </p:nvCxnSpPr>
        <p:spPr>
          <a:xfrm>
            <a:off x="4094639" y="3314826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Прямая со стрелкой 253"/>
          <p:cNvCxnSpPr/>
          <p:nvPr/>
        </p:nvCxnSpPr>
        <p:spPr>
          <a:xfrm>
            <a:off x="4094639" y="3743454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Прямая со стрелкой 254"/>
          <p:cNvCxnSpPr/>
          <p:nvPr/>
        </p:nvCxnSpPr>
        <p:spPr>
          <a:xfrm>
            <a:off x="4094639" y="4161449"/>
            <a:ext cx="714380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Прямая со стрелкой 255"/>
          <p:cNvCxnSpPr/>
          <p:nvPr/>
        </p:nvCxnSpPr>
        <p:spPr>
          <a:xfrm>
            <a:off x="4094639" y="4600710"/>
            <a:ext cx="71438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Прямая со стрелкой 256"/>
          <p:cNvCxnSpPr/>
          <p:nvPr/>
        </p:nvCxnSpPr>
        <p:spPr>
          <a:xfrm flipV="1">
            <a:off x="4105272" y="1652074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Прямая со стрелкой 257"/>
          <p:cNvCxnSpPr/>
          <p:nvPr/>
        </p:nvCxnSpPr>
        <p:spPr>
          <a:xfrm>
            <a:off x="4110046" y="1604458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Прямая со стрелкой 258"/>
          <p:cNvCxnSpPr/>
          <p:nvPr/>
        </p:nvCxnSpPr>
        <p:spPr>
          <a:xfrm flipV="1">
            <a:off x="4105272" y="2509330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Прямая со стрелкой 259"/>
          <p:cNvCxnSpPr/>
          <p:nvPr/>
        </p:nvCxnSpPr>
        <p:spPr>
          <a:xfrm>
            <a:off x="4110046" y="2461714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Прямая со стрелкой 260"/>
          <p:cNvCxnSpPr/>
          <p:nvPr/>
        </p:nvCxnSpPr>
        <p:spPr>
          <a:xfrm flipV="1">
            <a:off x="4105272" y="3376111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Прямая со стрелкой 261"/>
          <p:cNvCxnSpPr/>
          <p:nvPr/>
        </p:nvCxnSpPr>
        <p:spPr>
          <a:xfrm>
            <a:off x="4110046" y="3328495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262"/>
          <p:cNvCxnSpPr/>
          <p:nvPr/>
        </p:nvCxnSpPr>
        <p:spPr>
          <a:xfrm flipV="1">
            <a:off x="4105272" y="4219070"/>
            <a:ext cx="714380" cy="35719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Прямая со стрелкой 263"/>
          <p:cNvCxnSpPr/>
          <p:nvPr/>
        </p:nvCxnSpPr>
        <p:spPr>
          <a:xfrm>
            <a:off x="4110046" y="4171454"/>
            <a:ext cx="709606" cy="40480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5" name="Таблица 264"/>
          <p:cNvGraphicFramePr>
            <a:graphicFrameLocks noGrp="1"/>
          </p:cNvGraphicFramePr>
          <p:nvPr/>
        </p:nvGraphicFramePr>
        <p:xfrm>
          <a:off x="5143504" y="1366322"/>
          <a:ext cx="612000" cy="34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6" name="Таблица 265"/>
          <p:cNvGraphicFramePr>
            <a:graphicFrameLocks noGrp="1"/>
          </p:cNvGraphicFramePr>
          <p:nvPr/>
        </p:nvGraphicFramePr>
        <p:xfrm>
          <a:off x="6286512" y="1366322"/>
          <a:ext cx="612000" cy="34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67" name="Прямая со стрелкой 266"/>
          <p:cNvCxnSpPr/>
          <p:nvPr/>
        </p:nvCxnSpPr>
        <p:spPr>
          <a:xfrm>
            <a:off x="5786446" y="1597272"/>
            <a:ext cx="446568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Прямая со стрелкой 267"/>
          <p:cNvCxnSpPr/>
          <p:nvPr/>
        </p:nvCxnSpPr>
        <p:spPr>
          <a:xfrm>
            <a:off x="5797079" y="2011941"/>
            <a:ext cx="414670" cy="40403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Прямая со стрелкой 268"/>
          <p:cNvCxnSpPr/>
          <p:nvPr/>
        </p:nvCxnSpPr>
        <p:spPr>
          <a:xfrm flipV="1">
            <a:off x="5797079" y="2011941"/>
            <a:ext cx="446567" cy="425303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Прямая со стрелкой 269"/>
          <p:cNvCxnSpPr/>
          <p:nvPr/>
        </p:nvCxnSpPr>
        <p:spPr>
          <a:xfrm>
            <a:off x="5786446" y="2873178"/>
            <a:ext cx="435935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Прямая со стрелкой 270"/>
          <p:cNvCxnSpPr/>
          <p:nvPr/>
        </p:nvCxnSpPr>
        <p:spPr>
          <a:xfrm>
            <a:off x="5800617" y="3749707"/>
            <a:ext cx="414670" cy="404037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Прямая со стрелкой 271"/>
          <p:cNvCxnSpPr/>
          <p:nvPr/>
        </p:nvCxnSpPr>
        <p:spPr>
          <a:xfrm flipV="1">
            <a:off x="5800617" y="3749707"/>
            <a:ext cx="446567" cy="42530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Прямая со стрелкой 272"/>
          <p:cNvCxnSpPr/>
          <p:nvPr/>
        </p:nvCxnSpPr>
        <p:spPr>
          <a:xfrm>
            <a:off x="5799717" y="3299481"/>
            <a:ext cx="435935" cy="158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Прямая со стрелкой 273"/>
          <p:cNvCxnSpPr/>
          <p:nvPr/>
        </p:nvCxnSpPr>
        <p:spPr>
          <a:xfrm>
            <a:off x="5799717" y="4574732"/>
            <a:ext cx="435935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5" name="Таблица 274"/>
          <p:cNvGraphicFramePr>
            <a:graphicFrameLocks noGrp="1"/>
          </p:cNvGraphicFramePr>
          <p:nvPr/>
        </p:nvGraphicFramePr>
        <p:xfrm>
          <a:off x="7460462" y="1358413"/>
          <a:ext cx="612000" cy="34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F(0)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F(1)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F(2)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F(3)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F(4)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F(5)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F(6)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F(7)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76" name="Прямая со стрелкой 275"/>
          <p:cNvCxnSpPr/>
          <p:nvPr/>
        </p:nvCxnSpPr>
        <p:spPr>
          <a:xfrm>
            <a:off x="6944421" y="1601902"/>
            <a:ext cx="428628" cy="794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Прямая со стрелкой 276"/>
          <p:cNvCxnSpPr/>
          <p:nvPr/>
        </p:nvCxnSpPr>
        <p:spPr>
          <a:xfrm flipV="1">
            <a:off x="6933788" y="2070069"/>
            <a:ext cx="428628" cy="35719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Прямая со стрелкой 277"/>
          <p:cNvCxnSpPr/>
          <p:nvPr/>
        </p:nvCxnSpPr>
        <p:spPr>
          <a:xfrm rot="5400000" flipH="1" flipV="1">
            <a:off x="6780638" y="2682777"/>
            <a:ext cx="733646" cy="46783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Прямая со стрелкой 278"/>
          <p:cNvCxnSpPr/>
          <p:nvPr/>
        </p:nvCxnSpPr>
        <p:spPr>
          <a:xfrm rot="5400000" flipH="1" flipV="1">
            <a:off x="6604686" y="3283010"/>
            <a:ext cx="1105792" cy="490121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Прямая со стрелкой 279"/>
          <p:cNvCxnSpPr/>
          <p:nvPr/>
        </p:nvCxnSpPr>
        <p:spPr>
          <a:xfrm rot="16200000" flipH="1">
            <a:off x="6504192" y="2480757"/>
            <a:ext cx="1318437" cy="43593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Прямая со стрелкой 280"/>
          <p:cNvCxnSpPr/>
          <p:nvPr/>
        </p:nvCxnSpPr>
        <p:spPr>
          <a:xfrm rot="16200000" flipH="1">
            <a:off x="6711526" y="3081497"/>
            <a:ext cx="882502" cy="478465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Прямая со стрелкой 281"/>
          <p:cNvCxnSpPr/>
          <p:nvPr/>
        </p:nvCxnSpPr>
        <p:spPr>
          <a:xfrm rot="16200000" flipH="1">
            <a:off x="6918862" y="3724767"/>
            <a:ext cx="467833" cy="457200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Прямая со стрелкой 282"/>
          <p:cNvCxnSpPr/>
          <p:nvPr/>
        </p:nvCxnSpPr>
        <p:spPr>
          <a:xfrm>
            <a:off x="6934810" y="4580688"/>
            <a:ext cx="457200" cy="1588"/>
          </a:xfrm>
          <a:prstGeom prst="straightConnector1">
            <a:avLst/>
          </a:prstGeom>
          <a:ln w="317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2254" name="Object 14"/>
          <p:cNvGraphicFramePr>
            <a:graphicFrameLocks noChangeAspect="1"/>
          </p:cNvGraphicFramePr>
          <p:nvPr/>
        </p:nvGraphicFramePr>
        <p:xfrm>
          <a:off x="214282" y="5059586"/>
          <a:ext cx="2786082" cy="1012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55520" imgH="711000" progId="Equation.DSMT4">
                  <p:embed/>
                </p:oleObj>
              </mc:Choice>
              <mc:Fallback>
                <p:oleObj name="Equation" r:id="rId14" imgW="1955520" imgH="711000" progId="Equation.DSMT4">
                  <p:embed/>
                  <p:pic>
                    <p:nvPicPr>
                      <p:cNvPr id="5222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5059586"/>
                        <a:ext cx="2786082" cy="10126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Прямая соединительная линия 115"/>
          <p:cNvCxnSpPr/>
          <p:nvPr/>
        </p:nvCxnSpPr>
        <p:spPr>
          <a:xfrm rot="5400000">
            <a:off x="2500298" y="5572140"/>
            <a:ext cx="1143008" cy="0"/>
          </a:xfrm>
          <a:prstGeom prst="line">
            <a:avLst/>
          </a:prstGeom>
          <a:ln w="381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2255" name="Object 15"/>
          <p:cNvGraphicFramePr>
            <a:graphicFrameLocks noChangeAspect="1"/>
          </p:cNvGraphicFramePr>
          <p:nvPr/>
        </p:nvGraphicFramePr>
        <p:xfrm>
          <a:off x="3160173" y="5072074"/>
          <a:ext cx="2880100" cy="9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58920" imgH="723600" progId="Equation.DSMT4">
                  <p:embed/>
                </p:oleObj>
              </mc:Choice>
              <mc:Fallback>
                <p:oleObj name="Equation" r:id="rId16" imgW="2158920" imgH="723600" progId="Equation.DSMT4">
                  <p:embed/>
                  <p:pic>
                    <p:nvPicPr>
                      <p:cNvPr id="5222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173" y="5072074"/>
                        <a:ext cx="2880100" cy="96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56" name="Object 16"/>
          <p:cNvGraphicFramePr>
            <a:graphicFrameLocks noChangeAspect="1"/>
          </p:cNvGraphicFramePr>
          <p:nvPr/>
        </p:nvGraphicFramePr>
        <p:xfrm>
          <a:off x="6218238" y="5073650"/>
          <a:ext cx="28289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20760" imgH="723600" progId="Equation.DSMT4">
                  <p:embed/>
                </p:oleObj>
              </mc:Choice>
              <mc:Fallback>
                <p:oleObj name="Equation" r:id="rId18" imgW="2120760" imgH="723600" progId="Equation.DSMT4">
                  <p:embed/>
                  <p:pic>
                    <p:nvPicPr>
                      <p:cNvPr id="5222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5073650"/>
                        <a:ext cx="2828925" cy="965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Rectangle 2">
            <a:extLst>
              <a:ext uri="{FF2B5EF4-FFF2-40B4-BE49-F238E27FC236}">
                <a16:creationId xmlns:a16="http://schemas.microsoft.com/office/drawing/2014/main" id="{1CA4EC42-062C-47B6-B321-9E1C0E37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Прореживание: частоты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Спец_оформление">
  <a:themeElements>
    <a:clrScheme name="1_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11637</TotalTime>
  <Words>1200</Words>
  <Application>Microsoft Office PowerPoint</Application>
  <PresentationFormat>Экран (4:3)</PresentationFormat>
  <Paragraphs>287</Paragraphs>
  <Slides>47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47</vt:i4>
      </vt:variant>
    </vt:vector>
  </HeadingPairs>
  <TitlesOfParts>
    <vt:vector size="56" baseType="lpstr">
      <vt:lpstr>Arial</vt:lpstr>
      <vt:lpstr>Cambria Math</vt:lpstr>
      <vt:lpstr>Times New Roman</vt:lpstr>
      <vt:lpstr>1_По_умолчанию</vt:lpstr>
      <vt:lpstr>Спец_оформление</vt:lpstr>
      <vt:lpstr>1_Спец_оформление</vt:lpstr>
      <vt:lpstr>2_По_умолчанию</vt:lpstr>
      <vt:lpstr>Equation</vt:lpstr>
      <vt:lpstr>MathType 7.0 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Тёмыч</dc:creator>
  <cp:lastModifiedBy>Artery</cp:lastModifiedBy>
  <cp:revision>798</cp:revision>
  <dcterms:created xsi:type="dcterms:W3CDTF">2005-11-19T10:53:17Z</dcterms:created>
  <dcterms:modified xsi:type="dcterms:W3CDTF">2021-09-28T16:29:07Z</dcterms:modified>
</cp:coreProperties>
</file>