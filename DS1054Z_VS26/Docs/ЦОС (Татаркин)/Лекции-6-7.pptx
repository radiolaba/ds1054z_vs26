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  <p:sldMasterId id="2147483688" r:id="rId4"/>
  </p:sldMasterIdLst>
  <p:notesMasterIdLst>
    <p:notesMasterId r:id="rId54"/>
  </p:notesMasterIdLst>
  <p:handoutMasterIdLst>
    <p:handoutMasterId r:id="rId55"/>
  </p:handoutMasterIdLst>
  <p:sldIdLst>
    <p:sldId id="330" r:id="rId5"/>
    <p:sldId id="526" r:id="rId6"/>
    <p:sldId id="466" r:id="rId7"/>
    <p:sldId id="500" r:id="rId8"/>
    <p:sldId id="467" r:id="rId9"/>
    <p:sldId id="468" r:id="rId10"/>
    <p:sldId id="469" r:id="rId11"/>
    <p:sldId id="470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7" r:id="rId24"/>
    <p:sldId id="483" r:id="rId25"/>
    <p:sldId id="485" r:id="rId26"/>
    <p:sldId id="486" r:id="rId27"/>
    <p:sldId id="446" r:id="rId28"/>
    <p:sldId id="527" r:id="rId29"/>
    <p:sldId id="528" r:id="rId30"/>
    <p:sldId id="451" r:id="rId31"/>
    <p:sldId id="452" r:id="rId32"/>
    <p:sldId id="453" r:id="rId33"/>
    <p:sldId id="455" r:id="rId34"/>
    <p:sldId id="456" r:id="rId35"/>
    <p:sldId id="457" r:id="rId36"/>
    <p:sldId id="458" r:id="rId37"/>
    <p:sldId id="459" r:id="rId38"/>
    <p:sldId id="460" r:id="rId39"/>
    <p:sldId id="461" r:id="rId40"/>
    <p:sldId id="529" r:id="rId41"/>
    <p:sldId id="462" r:id="rId42"/>
    <p:sldId id="530" r:id="rId43"/>
    <p:sldId id="463" r:id="rId44"/>
    <p:sldId id="464" r:id="rId45"/>
    <p:sldId id="531" r:id="rId46"/>
    <p:sldId id="454" r:id="rId47"/>
    <p:sldId id="465" r:id="rId48"/>
    <p:sldId id="532" r:id="rId49"/>
    <p:sldId id="533" r:id="rId50"/>
    <p:sldId id="534" r:id="rId51"/>
    <p:sldId id="535" r:id="rId52"/>
    <p:sldId id="536" r:id="rId53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33CC33"/>
    <a:srgbClr val="00FF00"/>
    <a:srgbClr val="009900"/>
    <a:srgbClr val="0000FF"/>
    <a:srgbClr val="FF0000"/>
    <a:srgbClr val="CC33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04" autoAdjust="0"/>
    <p:restoredTop sz="94646" autoAdjust="0"/>
  </p:normalViewPr>
  <p:slideViewPr>
    <p:cSldViewPr>
      <p:cViewPr varScale="1">
        <p:scale>
          <a:sx n="43" d="100"/>
          <a:sy n="43" d="100"/>
        </p:scale>
        <p:origin x="114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36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C6DA4C8-B91F-4E53-A68C-51EF85D21E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86C4D70-5135-4FF9-B64A-F0201371F2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4" name="Text Box 6"/>
          <p:cNvSpPr txBox="1">
            <a:spLocks noChangeArrowheads="1"/>
          </p:cNvSpPr>
          <p:nvPr userDrawn="1"/>
        </p:nvSpPr>
        <p:spPr bwMode="auto">
          <a:xfrm>
            <a:off x="755650" y="6488113"/>
            <a:ext cx="77771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Integral transforms: theory and applications</a:t>
            </a:r>
          </a:p>
        </p:txBody>
      </p:sp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18" Type="http://schemas.openxmlformats.org/officeDocument/2006/relationships/oleObject" Target="../embeddings/oleObject5.bin"/><Relationship Id="rId3" Type="http://schemas.openxmlformats.org/officeDocument/2006/relationships/image" Target="../media/image2.wmf"/><Relationship Id="rId7" Type="http://schemas.openxmlformats.org/officeDocument/2006/relationships/image" Target="../media/image7.png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5.bin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wmf"/><Relationship Id="rId11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6.wmf"/><Relationship Id="rId9" Type="http://schemas.openxmlformats.org/officeDocument/2006/relationships/image" Target="../media/image3.wmf"/><Relationship Id="rId1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wmf"/><Relationship Id="rId7" Type="http://schemas.openxmlformats.org/officeDocument/2006/relationships/image" Target="../media/image11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image" Target="../media/image14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17.png"/><Relationship Id="rId3" Type="http://schemas.openxmlformats.org/officeDocument/2006/relationships/image" Target="../media/image21.png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11" Type="http://schemas.openxmlformats.org/officeDocument/2006/relationships/image" Target="../media/image25.pn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3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1.bin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8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6.png"/><Relationship Id="rId14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11" Type="http://schemas.openxmlformats.org/officeDocument/2006/relationships/image" Target="../media/image61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8.png"/><Relationship Id="rId4" Type="http://schemas.openxmlformats.org/officeDocument/2006/relationships/image" Target="../media/image45.wmf"/><Relationship Id="rId9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56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11" Type="http://schemas.openxmlformats.org/officeDocument/2006/relationships/oleObject" Target="../embeddings/oleObject30.bin"/><Relationship Id="rId5" Type="http://schemas.openxmlformats.org/officeDocument/2006/relationships/image" Target="../media/image72.png"/><Relationship Id="rId10" Type="http://schemas.openxmlformats.org/officeDocument/2006/relationships/image" Target="../media/image56.wmf"/><Relationship Id="rId4" Type="http://schemas.openxmlformats.org/officeDocument/2006/relationships/image" Target="../media/image71.png"/><Relationship Id="rId9" Type="http://schemas.openxmlformats.org/officeDocument/2006/relationships/oleObject" Target="../embeddings/oleObject3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wmf"/><Relationship Id="rId18" Type="http://schemas.openxmlformats.org/officeDocument/2006/relationships/oleObject" Target="../embeddings/oleObject34.bin"/><Relationship Id="rId26" Type="http://schemas.openxmlformats.org/officeDocument/2006/relationships/oleObject" Target="../embeddings/oleObject36.bin"/><Relationship Id="rId39" Type="http://schemas.openxmlformats.org/officeDocument/2006/relationships/oleObject" Target="../embeddings/oleObject39.bin"/><Relationship Id="rId21" Type="http://schemas.openxmlformats.org/officeDocument/2006/relationships/image" Target="../media/image67.wmf"/><Relationship Id="rId34" Type="http://schemas.openxmlformats.org/officeDocument/2006/relationships/image" Target="../media/image70.wmf"/><Relationship Id="rId42" Type="http://schemas.openxmlformats.org/officeDocument/2006/relationships/image" Target="../media/image72.wmf"/><Relationship Id="rId47" Type="http://schemas.openxmlformats.org/officeDocument/2006/relationships/oleObject" Target="../embeddings/oleObject41.bin"/><Relationship Id="rId50" Type="http://schemas.openxmlformats.org/officeDocument/2006/relationships/image" Target="../media/image74.wmf"/><Relationship Id="rId55" Type="http://schemas.openxmlformats.org/officeDocument/2006/relationships/image" Target="../media/image75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66.wmf"/><Relationship Id="rId25" Type="http://schemas.openxmlformats.org/officeDocument/2006/relationships/image" Target="../media/image68.wmf"/><Relationship Id="rId33" Type="http://schemas.openxmlformats.org/officeDocument/2006/relationships/oleObject" Target="../embeddings/oleObject38.bin"/><Relationship Id="rId38" Type="http://schemas.openxmlformats.org/officeDocument/2006/relationships/image" Target="../media/image71.wmf"/><Relationship Id="rId46" Type="http://schemas.openxmlformats.org/officeDocument/2006/relationships/image" Target="../media/image73.wmf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5.bin"/><Relationship Id="rId29" Type="http://schemas.openxmlformats.org/officeDocument/2006/relationships/oleObject" Target="../embeddings/oleObject37.bin"/><Relationship Id="rId41" Type="http://schemas.openxmlformats.org/officeDocument/2006/relationships/oleObject" Target="../embeddings/oleObject40.bin"/><Relationship Id="rId54" Type="http://schemas.openxmlformats.org/officeDocument/2006/relationships/oleObject" Target="../embeddings/oleObject4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62.wmf"/><Relationship Id="rId24" Type="http://schemas.openxmlformats.org/officeDocument/2006/relationships/oleObject" Target="../embeddings/oleObject36.bin"/><Relationship Id="rId32" Type="http://schemas.openxmlformats.org/officeDocument/2006/relationships/image" Target="../media/image69.wmf"/><Relationship Id="rId37" Type="http://schemas.openxmlformats.org/officeDocument/2006/relationships/oleObject" Target="../embeddings/oleObject39.bin"/><Relationship Id="rId40" Type="http://schemas.openxmlformats.org/officeDocument/2006/relationships/image" Target="../media/image71.wmf"/><Relationship Id="rId45" Type="http://schemas.openxmlformats.org/officeDocument/2006/relationships/oleObject" Target="../embeddings/oleObject41.bin"/><Relationship Id="rId53" Type="http://schemas.openxmlformats.org/officeDocument/2006/relationships/image" Target="../media/image116.png"/><Relationship Id="rId5" Type="http://schemas.openxmlformats.org/officeDocument/2006/relationships/image" Target="../media/image61.wmf"/><Relationship Id="rId15" Type="http://schemas.openxmlformats.org/officeDocument/2006/relationships/image" Target="../media/image65.wmf"/><Relationship Id="rId23" Type="http://schemas.openxmlformats.org/officeDocument/2006/relationships/image" Target="../media/image67.wmf"/><Relationship Id="rId28" Type="http://schemas.openxmlformats.org/officeDocument/2006/relationships/image" Target="../media/image115.png"/><Relationship Id="rId36" Type="http://schemas.openxmlformats.org/officeDocument/2006/relationships/image" Target="../media/image70.wmf"/><Relationship Id="rId49" Type="http://schemas.openxmlformats.org/officeDocument/2006/relationships/oleObject" Target="../embeddings/oleObject42.bin"/><Relationship Id="rId57" Type="http://schemas.openxmlformats.org/officeDocument/2006/relationships/image" Target="../media/image75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66.wmf"/><Relationship Id="rId31" Type="http://schemas.openxmlformats.org/officeDocument/2006/relationships/oleObject" Target="../embeddings/oleObject37.bin"/><Relationship Id="rId44" Type="http://schemas.openxmlformats.org/officeDocument/2006/relationships/image" Target="../media/image72.wmf"/><Relationship Id="rId52" Type="http://schemas.openxmlformats.org/officeDocument/2006/relationships/image" Target="../media/image74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5.bin"/><Relationship Id="rId27" Type="http://schemas.openxmlformats.org/officeDocument/2006/relationships/image" Target="../media/image68.wmf"/><Relationship Id="rId30" Type="http://schemas.openxmlformats.org/officeDocument/2006/relationships/image" Target="../media/image69.wmf"/><Relationship Id="rId35" Type="http://schemas.openxmlformats.org/officeDocument/2006/relationships/oleObject" Target="../embeddings/oleObject38.bin"/><Relationship Id="rId43" Type="http://schemas.openxmlformats.org/officeDocument/2006/relationships/oleObject" Target="../embeddings/oleObject40.bin"/><Relationship Id="rId48" Type="http://schemas.openxmlformats.org/officeDocument/2006/relationships/image" Target="../media/image73.wmf"/><Relationship Id="rId56" Type="http://schemas.openxmlformats.org/officeDocument/2006/relationships/oleObject" Target="../embeddings/oleObject43.bin"/><Relationship Id="rId8" Type="http://schemas.openxmlformats.org/officeDocument/2006/relationships/oleObject" Target="../embeddings/oleObject32.bin"/><Relationship Id="rId51" Type="http://schemas.openxmlformats.org/officeDocument/2006/relationships/oleObject" Target="../embeddings/oleObject42.bin"/><Relationship Id="rId3" Type="http://schemas.openxmlformats.org/officeDocument/2006/relationships/image" Target="../media/image1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3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4.png"/><Relationship Id="rId5" Type="http://schemas.openxmlformats.org/officeDocument/2006/relationships/image" Target="../media/image104.png"/><Relationship Id="rId4" Type="http://schemas.openxmlformats.org/officeDocument/2006/relationships/image" Target="../media/image13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oleObject" Target="../embeddings/oleObject45.bin"/><Relationship Id="rId3" Type="http://schemas.openxmlformats.org/officeDocument/2006/relationships/image" Target="../media/image137.png"/><Relationship Id="rId7" Type="http://schemas.openxmlformats.org/officeDocument/2006/relationships/image" Target="../media/image105.wmf"/><Relationship Id="rId12" Type="http://schemas.openxmlformats.org/officeDocument/2006/relationships/image" Target="../media/image107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4.bin"/><Relationship Id="rId11" Type="http://schemas.openxmlformats.org/officeDocument/2006/relationships/oleObject" Target="../embeddings/oleObject45.bin"/><Relationship Id="rId5" Type="http://schemas.openxmlformats.org/officeDocument/2006/relationships/image" Target="../media/image139.png"/><Relationship Id="rId15" Type="http://schemas.openxmlformats.org/officeDocument/2006/relationships/image" Target="../media/image108.png"/><Relationship Id="rId10" Type="http://schemas.openxmlformats.org/officeDocument/2006/relationships/image" Target="../media/image106.png"/><Relationship Id="rId4" Type="http://schemas.openxmlformats.org/officeDocument/2006/relationships/image" Target="../media/image138.png"/><Relationship Id="rId9" Type="http://schemas.openxmlformats.org/officeDocument/2006/relationships/image" Target="../media/image105.wmf"/><Relationship Id="rId14" Type="http://schemas.openxmlformats.org/officeDocument/2006/relationships/image" Target="../media/image10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3.png"/><Relationship Id="rId7" Type="http://schemas.openxmlformats.org/officeDocument/2006/relationships/image" Target="../media/image1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4.png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1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3.png"/><Relationship Id="rId4" Type="http://schemas.openxmlformats.org/officeDocument/2006/relationships/image" Target="../media/image1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41.png"/><Relationship Id="rId7" Type="http://schemas.openxmlformats.org/officeDocument/2006/relationships/image" Target="../media/image16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5.png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47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48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126.wmf"/><Relationship Id="rId3" Type="http://schemas.openxmlformats.org/officeDocument/2006/relationships/image" Target="../media/image120.jpeg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128.wmf"/><Relationship Id="rId2" Type="http://schemas.openxmlformats.org/officeDocument/2006/relationships/image" Target="../media/image119.jpeg"/><Relationship Id="rId16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125.wmf"/><Relationship Id="rId5" Type="http://schemas.openxmlformats.org/officeDocument/2006/relationships/image" Target="../media/image122.jpeg"/><Relationship Id="rId15" Type="http://schemas.openxmlformats.org/officeDocument/2006/relationships/image" Target="../media/image127.wmf"/><Relationship Id="rId10" Type="http://schemas.openxmlformats.org/officeDocument/2006/relationships/oleObject" Target="../embeddings/oleObject51.bin"/><Relationship Id="rId4" Type="http://schemas.openxmlformats.org/officeDocument/2006/relationships/image" Target="../media/image121.jpeg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53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e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79388" y="785794"/>
            <a:ext cx="8785225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Математические основы цифровой обработки сигналов</a:t>
            </a:r>
            <a:endParaRPr lang="en-US" sz="4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A4816-C4FD-B3C8-9484-B92042237D29}"/>
              </a:ext>
            </a:extLst>
          </p:cNvPr>
          <p:cNvSpPr txBox="1"/>
          <p:nvPr/>
        </p:nvSpPr>
        <p:spPr>
          <a:xfrm>
            <a:off x="755576" y="4365104"/>
            <a:ext cx="78488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C00000"/>
                </a:solidFill>
              </a:rPr>
              <a:t>Лекции 6-7: частотно-временной анализ</a:t>
            </a:r>
            <a:endParaRPr lang="en-US" sz="3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357157" y="1842679"/>
            <a:ext cx="8501123" cy="263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ru-RU" sz="5500" b="1" dirty="0">
                <a:solidFill>
                  <a:srgbClr val="C00000"/>
                </a:solidFill>
              </a:rPr>
              <a:t>Оконное </a:t>
            </a:r>
            <a:r>
              <a:rPr lang="ru-RU" sz="5500" b="1">
                <a:solidFill>
                  <a:srgbClr val="C00000"/>
                </a:solidFill>
              </a:rPr>
              <a:t>преобразование Фурье (ОПФ)</a:t>
            </a:r>
            <a:endParaRPr lang="ru-RU" sz="55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Преобразование </a:t>
            </a:r>
            <a:r>
              <a:rPr lang="ru-RU" sz="3200" b="1" kern="0" dirty="0" err="1">
                <a:solidFill>
                  <a:srgbClr val="000099"/>
                </a:solidFill>
              </a:rPr>
              <a:t>Габора</a:t>
            </a:r>
            <a:endParaRPr lang="ru-RU" sz="3200" b="1" kern="0" dirty="0">
              <a:solidFill>
                <a:srgbClr val="000099"/>
              </a:solidFill>
            </a:endParaRPr>
          </a:p>
        </p:txBody>
      </p:sp>
      <p:grpSp>
        <p:nvGrpSpPr>
          <p:cNvPr id="16" name="Группа 15"/>
          <p:cNvGrpSpPr/>
          <p:nvPr/>
        </p:nvGrpSpPr>
        <p:grpSpPr>
          <a:xfrm>
            <a:off x="285720" y="642918"/>
            <a:ext cx="8238064" cy="2143140"/>
            <a:chOff x="285720" y="642918"/>
            <a:chExt cx="8238064" cy="2143140"/>
          </a:xfrm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737658" y="1714488"/>
              <a:ext cx="5096162" cy="107157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0541" name="Object 13"/>
                <p:cNvGraphicFramePr>
                  <a:graphicFrameLocks noChangeAspect="1"/>
                </p:cNvGraphicFramePr>
                <p:nvPr/>
              </p:nvGraphicFramePr>
              <p:xfrm>
                <a:off x="285720" y="642918"/>
                <a:ext cx="2937410" cy="903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" imgW="1358640" imgH="419040" progId="Equation.DSMT4">
                        <p:embed/>
                      </p:oleObj>
                    </mc:Choice>
                    <mc:Fallback>
                      <p:oleObj name="Equation" r:id="rId2" imgW="1358640" imgH="419040" progId="Equation.DSMT4">
                        <p:embed/>
                        <p:pic>
                          <p:nvPicPr>
                            <p:cNvPr id="150541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5720" y="642918"/>
                              <a:ext cx="2937410" cy="903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0541" name="Object 13"/>
                <p:cNvGraphicFramePr>
                  <a:graphicFrameLocks noChangeAspect="1"/>
                </p:cNvGraphicFramePr>
                <p:nvPr/>
              </p:nvGraphicFramePr>
              <p:xfrm>
                <a:off x="285720" y="642918"/>
                <a:ext cx="2937410" cy="903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9294" name="Equation" r:id="rId5" imgW="1358640" imgH="419040" progId="Equation.DSMT4">
                        <p:embed/>
                      </p:oleObj>
                    </mc:Choice>
                    <mc:Fallback>
                      <p:oleObj name="Equation" r:id="rId5" imgW="1358640" imgH="419040" progId="Equation.DSMT4">
                        <p:embed/>
                        <p:pic>
                          <p:nvPicPr>
                            <p:cNvPr id="150541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5720" y="642918"/>
                              <a:ext cx="2937410" cy="903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586" name="Object 10"/>
                <p:cNvSpPr txBox="1"/>
                <p:nvPr/>
              </p:nvSpPr>
              <p:spPr bwMode="auto">
                <a:xfrm>
                  <a:off x="827584" y="1849659"/>
                  <a:ext cx="7696200" cy="9048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subHide m:val="on"/>
                            <m:supHide m:val="on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ru-RU" sz="2000" dirty="0"/>
                </a:p>
              </p:txBody>
            </p:sp>
          </mc:Choice>
          <mc:Fallback xmlns="">
            <p:sp>
              <p:nvSpPr>
                <p:cNvPr id="15258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584" y="1849659"/>
                  <a:ext cx="7696200" cy="9048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2591" name="Object 15"/>
                <p:cNvGraphicFramePr>
                  <a:graphicFrameLocks noChangeAspect="1"/>
                </p:cNvGraphicFramePr>
                <p:nvPr/>
              </p:nvGraphicFramePr>
              <p:xfrm>
                <a:off x="6781822" y="936611"/>
                <a:ext cx="933450" cy="4921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8" imgW="431640" imgH="228600" progId="Equation.DSMT4">
                        <p:embed/>
                      </p:oleObj>
                    </mc:Choice>
                    <mc:Fallback>
                      <p:oleObj name="Equation" r:id="rId8" imgW="431640" imgH="228600" progId="Equation.DSMT4">
                        <p:embed/>
                        <p:pic>
                          <p:nvPicPr>
                            <p:cNvPr id="152591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1822" y="936611"/>
                              <a:ext cx="933450" cy="4921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2591" name="Object 15"/>
                <p:cNvGraphicFramePr>
                  <a:graphicFrameLocks noChangeAspect="1"/>
                </p:cNvGraphicFramePr>
                <p:nvPr/>
              </p:nvGraphicFramePr>
              <p:xfrm>
                <a:off x="6781822" y="936611"/>
                <a:ext cx="933450" cy="4921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9295" name="Equation" r:id="rId10" imgW="431640" imgH="228600" progId="Equation.DSMT4">
                        <p:embed/>
                      </p:oleObj>
                    </mc:Choice>
                    <mc:Fallback>
                      <p:oleObj name="Equation" r:id="rId10" imgW="431640" imgH="228600" progId="Equation.DSMT4">
                        <p:embed/>
                        <p:pic>
                          <p:nvPicPr>
                            <p:cNvPr id="152591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1822" y="936611"/>
                              <a:ext cx="933450" cy="4921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9" name="Группа 18"/>
          <p:cNvGrpSpPr/>
          <p:nvPr/>
        </p:nvGrpSpPr>
        <p:grpSpPr>
          <a:xfrm>
            <a:off x="285720" y="4183072"/>
            <a:ext cx="8715404" cy="2016129"/>
            <a:chOff x="285720" y="4183072"/>
            <a:chExt cx="8715404" cy="2016129"/>
          </a:xfrm>
        </p:grpSpPr>
        <p:graphicFrame>
          <p:nvGraphicFramePr>
            <p:cNvPr id="152587" name="Object 11"/>
            <p:cNvGraphicFramePr>
              <a:graphicFrameLocks noChangeAspect="1"/>
            </p:cNvGraphicFramePr>
            <p:nvPr/>
          </p:nvGraphicFramePr>
          <p:xfrm>
            <a:off x="285720" y="5429264"/>
            <a:ext cx="2876550" cy="60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33440" imgH="279360" progId="Equation.DSMT4">
                    <p:embed/>
                  </p:oleObj>
                </mc:Choice>
                <mc:Fallback>
                  <p:oleObj name="Equation" r:id="rId12" imgW="1333440" imgH="279360" progId="Equation.DSMT4">
                    <p:embed/>
                    <p:pic>
                      <p:nvPicPr>
                        <p:cNvPr id="15258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20" y="5429264"/>
                          <a:ext cx="2876550" cy="603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Прямая со стрелкой 17"/>
            <p:cNvCxnSpPr/>
            <p:nvPr/>
          </p:nvCxnSpPr>
          <p:spPr>
            <a:xfrm>
              <a:off x="3286116" y="5715016"/>
              <a:ext cx="571504" cy="1588"/>
            </a:xfrm>
            <a:prstGeom prst="straightConnector1">
              <a:avLst/>
            </a:prstGeom>
            <a:ln w="508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588" name="Object 12"/>
            <p:cNvSpPr txBox="1"/>
            <p:nvPr/>
          </p:nvSpPr>
          <p:spPr bwMode="auto">
            <a:xfrm>
              <a:off x="3792537" y="5357826"/>
              <a:ext cx="5208587" cy="841375"/>
            </a:xfrm>
            <a:prstGeom prst="rect">
              <a:avLst/>
            </a:prstGeom>
            <a:noFill/>
          </p:spPr>
          <p:txBody>
            <a:bodyPr>
              <a:normAutofit fontScale="92500" lnSpcReduction="20000"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Преобразование </a:t>
              </a:r>
              <a:r>
                <a:rPr lang="ru-RU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Габора</a:t>
              </a: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раскладывает ПФ </a:t>
              </a:r>
              <a:b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в свой локальный спектр </a:t>
              </a:r>
            </a:p>
          </p:txBody>
        </p:sp>
        <p:graphicFrame>
          <p:nvGraphicFramePr>
            <p:cNvPr id="152594" name="Object 18"/>
            <p:cNvGraphicFramePr>
              <a:graphicFrameLocks noChangeAspect="1"/>
            </p:cNvGraphicFramePr>
            <p:nvPr/>
          </p:nvGraphicFramePr>
          <p:xfrm>
            <a:off x="1285852" y="4183072"/>
            <a:ext cx="3808412" cy="60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65080" imgH="279360" progId="Equation.DSMT4">
                    <p:embed/>
                  </p:oleObj>
                </mc:Choice>
                <mc:Fallback>
                  <p:oleObj name="Equation" r:id="rId14" imgW="1765080" imgH="279360" progId="Equation.DSMT4">
                    <p:embed/>
                    <p:pic>
                      <p:nvPicPr>
                        <p:cNvPr id="152594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852" y="4183072"/>
                          <a:ext cx="3808412" cy="603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Стрелка вниз 14"/>
            <p:cNvSpPr/>
            <p:nvPr/>
          </p:nvSpPr>
          <p:spPr>
            <a:xfrm>
              <a:off x="2857488" y="4857760"/>
              <a:ext cx="285752" cy="500066"/>
            </a:xfrm>
            <a:prstGeom prst="downArrow">
              <a:avLst>
                <a:gd name="adj1" fmla="val 50000"/>
                <a:gd name="adj2" fmla="val 76947"/>
              </a:avLst>
            </a:prstGeom>
            <a:solidFill>
              <a:srgbClr val="33CC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631835" y="3143248"/>
            <a:ext cx="8363761" cy="1077619"/>
            <a:chOff x="631835" y="3143248"/>
            <a:chExt cx="7995174" cy="107761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2596" name="Object 20"/>
                <p:cNvGraphicFramePr>
                  <a:graphicFrameLocks noChangeAspect="1"/>
                </p:cNvGraphicFramePr>
                <p:nvPr/>
              </p:nvGraphicFramePr>
              <p:xfrm>
                <a:off x="631835" y="3143248"/>
                <a:ext cx="5368925" cy="9048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2489040" imgH="419040" progId="Equation.DSMT4">
                        <p:embed/>
                      </p:oleObj>
                    </mc:Choice>
                    <mc:Fallback>
                      <p:oleObj name="Equation" r:id="rId16" imgW="2489040" imgH="419040" progId="Equation.DSMT4">
                        <p:embed/>
                        <p:pic>
                          <p:nvPicPr>
                            <p:cNvPr id="152596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1835" y="3143248"/>
                              <a:ext cx="5368925" cy="90487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2596" name="Object 20"/>
                <p:cNvGraphicFramePr>
                  <a:graphicFrameLocks noChangeAspect="1"/>
                </p:cNvGraphicFramePr>
                <p:nvPr/>
              </p:nvGraphicFramePr>
              <p:xfrm>
                <a:off x="631835" y="3143248"/>
                <a:ext cx="5368925" cy="9048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9298" name="Equation" r:id="rId18" imgW="2489040" imgH="419040" progId="Equation.DSMT4">
                        <p:embed/>
                      </p:oleObj>
                    </mc:Choice>
                    <mc:Fallback>
                      <p:oleObj name="Equation" r:id="rId18" imgW="2489040" imgH="419040" progId="Equation.DSMT4">
                        <p:embed/>
                        <p:pic>
                          <p:nvPicPr>
                            <p:cNvPr id="152596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1835" y="3143248"/>
                              <a:ext cx="5368925" cy="90487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597" name="Object 21"/>
                <p:cNvSpPr txBox="1"/>
                <p:nvPr/>
              </p:nvSpPr>
              <p:spPr bwMode="auto">
                <a:xfrm>
                  <a:off x="6142770" y="3239867"/>
                  <a:ext cx="2484239" cy="981000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Локализация ПФ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функции </a:t>
                  </a:r>
                  <a14:m>
                    <m:oMath xmlns:m="http://schemas.openxmlformats.org/officeDocument/2006/math">
                      <m:r>
                        <a:rPr lang="ru-RU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вокруг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2597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2770" y="3239867"/>
                  <a:ext cx="2484239" cy="981000"/>
                </a:xfrm>
                <a:prstGeom prst="rect">
                  <a:avLst/>
                </a:prstGeom>
                <a:blipFill>
                  <a:blip r:embed="rId20"/>
                  <a:stretch>
                    <a:fillRect l="-2342" b="-807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AC6252F-17CA-43D1-A0BA-6B1050605739}"/>
              </a:ext>
            </a:extLst>
          </p:cNvPr>
          <p:cNvSpPr txBox="1"/>
          <p:nvPr/>
        </p:nvSpPr>
        <p:spPr>
          <a:xfrm>
            <a:off x="3190058" y="863235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оконная функция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E167CD-DE09-4ADB-858D-231E26F2BC25}"/>
              </a:ext>
            </a:extLst>
          </p:cNvPr>
          <p:cNvSpPr txBox="1"/>
          <p:nvPr/>
        </p:nvSpPr>
        <p:spPr>
          <a:xfrm>
            <a:off x="5220072" y="198692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</a:t>
            </a:r>
            <a:r>
              <a:rPr lang="ru-RU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Габора</a:t>
            </a:r>
            <a:endParaRPr lang="ru-RU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203603"/>
              </p:ext>
            </p:extLst>
          </p:nvPr>
        </p:nvGraphicFramePr>
        <p:xfrm>
          <a:off x="2558254" y="4937302"/>
          <a:ext cx="4027487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419040" progId="Equation.DSMT4">
                  <p:embed/>
                </p:oleObj>
              </mc:Choice>
              <mc:Fallback>
                <p:oleObj name="Equation" r:id="rId2" imgW="1866600" imgH="419040" progId="Equation.DSMT4">
                  <p:embed/>
                  <p:pic>
                    <p:nvPicPr>
                      <p:cNvPr id="15259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254" y="4937302"/>
                        <a:ext cx="4027487" cy="906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Группа 7"/>
          <p:cNvGrpSpPr/>
          <p:nvPr/>
        </p:nvGrpSpPr>
        <p:grpSpPr>
          <a:xfrm>
            <a:off x="251172" y="773113"/>
            <a:ext cx="8641655" cy="2154408"/>
            <a:chOff x="251172" y="773113"/>
            <a:chExt cx="8641655" cy="2154408"/>
          </a:xfrm>
        </p:grpSpPr>
        <p:graphicFrame>
          <p:nvGraphicFramePr>
            <p:cNvPr id="15258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2941581"/>
                </p:ext>
              </p:extLst>
            </p:nvPr>
          </p:nvGraphicFramePr>
          <p:xfrm>
            <a:off x="2283615" y="1994071"/>
            <a:ext cx="4576763" cy="933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20760" imgH="431640" progId="Equation.DSMT4">
                    <p:embed/>
                  </p:oleObj>
                </mc:Choice>
                <mc:Fallback>
                  <p:oleObj name="Equation" r:id="rId4" imgW="2120760" imgH="431640" progId="Equation.DSMT4">
                    <p:embed/>
                    <p:pic>
                      <p:nvPicPr>
                        <p:cNvPr id="15258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3615" y="1994071"/>
                          <a:ext cx="4576763" cy="933450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8298" name="Object 10"/>
            <p:cNvSpPr txBox="1"/>
            <p:nvPr/>
          </p:nvSpPr>
          <p:spPr bwMode="auto">
            <a:xfrm>
              <a:off x="251172" y="773113"/>
              <a:ext cx="8641655" cy="933450"/>
            </a:xfrm>
            <a:prstGeom prst="rect">
              <a:avLst/>
            </a:prstGeom>
            <a:noFill/>
          </p:spPr>
          <p:txBody>
            <a:bodyPr>
              <a:normAutofit/>
            </a:bodyPr>
            <a:lstStyle/>
            <a:p>
              <a:pPr algn="ctr"/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Среднеквадратичная длительность (СКД) – </a:t>
              </a:r>
              <a:b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измерение ширины окна </a:t>
              </a:r>
            </a:p>
          </p:txBody>
        </p:sp>
      </p:grpSp>
      <p:grpSp>
        <p:nvGrpSpPr>
          <p:cNvPr id="9" name="Группа 8"/>
          <p:cNvGrpSpPr/>
          <p:nvPr/>
        </p:nvGrpSpPr>
        <p:grpSpPr>
          <a:xfrm>
            <a:off x="251171" y="3217317"/>
            <a:ext cx="8667490" cy="1191342"/>
            <a:chOff x="251171" y="3217317"/>
            <a:chExt cx="8667490" cy="11913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590" name="Object 14"/>
                <p:cNvSpPr txBox="1"/>
                <p:nvPr/>
              </p:nvSpPr>
              <p:spPr bwMode="auto">
                <a:xfrm>
                  <a:off x="251171" y="3217317"/>
                  <a:ext cx="8641655" cy="906462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 algn="ctr"/>
                  <a:r>
                    <a:rPr lang="ru-RU" sz="2400" i="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Если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тогда</a:t>
                  </a:r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52590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1171" y="3217317"/>
                  <a:ext cx="8641655" cy="90646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299" name="Object 11"/>
                <p:cNvSpPr txBox="1"/>
                <p:nvPr/>
              </p:nvSpPr>
              <p:spPr bwMode="auto">
                <a:xfrm>
                  <a:off x="277006" y="4013371"/>
                  <a:ext cx="8641655" cy="395288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 algn="ctr"/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Таким образом, ПГ – это оконная функция для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! </a:t>
                  </a:r>
                </a:p>
              </p:txBody>
            </p:sp>
          </mc:Choice>
          <mc:Fallback xmlns="">
            <p:sp>
              <p:nvSpPr>
                <p:cNvPr id="26829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006" y="4013371"/>
                  <a:ext cx="8641655" cy="395288"/>
                </a:xfrm>
                <a:prstGeom prst="rect">
                  <a:avLst/>
                </a:prstGeom>
                <a:blipFill>
                  <a:blip r:embed="rId8"/>
                  <a:stretch>
                    <a:fillRect t="-12308" b="-5076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2">
            <a:extLst>
              <a:ext uri="{FF2B5EF4-FFF2-40B4-BE49-F238E27FC236}">
                <a16:creationId xmlns:a16="http://schemas.microsoft.com/office/drawing/2014/main" id="{AB49B236-A257-4477-A6B0-CD48D32EF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Преобразование </a:t>
            </a:r>
            <a:r>
              <a:rPr lang="ru-RU" sz="3200" b="1" kern="0" dirty="0" err="1">
                <a:solidFill>
                  <a:srgbClr val="000099"/>
                </a:solidFill>
              </a:rPr>
              <a:t>Габора</a:t>
            </a:r>
            <a:endParaRPr lang="ru-RU" sz="3200" b="1" kern="0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10" name="Object 10"/>
          <p:cNvGraphicFramePr>
            <a:graphicFrameLocks noChangeAspect="1"/>
          </p:cNvGraphicFramePr>
          <p:nvPr/>
        </p:nvGraphicFramePr>
        <p:xfrm>
          <a:off x="464315" y="714356"/>
          <a:ext cx="8215370" cy="91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87720" imgH="444240" progId="Equation.DSMT4">
                  <p:embed/>
                </p:oleObj>
              </mc:Choice>
              <mc:Fallback>
                <p:oleObj name="Equation" r:id="rId2" imgW="3987720" imgH="444240" progId="Equation.DSMT4">
                  <p:embed/>
                  <p:pic>
                    <p:nvPicPr>
                      <p:cNvPr id="153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15" y="714356"/>
                        <a:ext cx="8215370" cy="9171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1" name="Object 11"/>
          <p:cNvGraphicFramePr>
            <a:graphicFrameLocks noChangeAspect="1"/>
          </p:cNvGraphicFramePr>
          <p:nvPr/>
        </p:nvGraphicFramePr>
        <p:xfrm>
          <a:off x="3838604" y="2857496"/>
          <a:ext cx="48768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440" imgH="279360" progId="Equation.DSMT4">
                  <p:embed/>
                </p:oleObj>
              </mc:Choice>
              <mc:Fallback>
                <p:oleObj name="Equation" r:id="rId4" imgW="2260440" imgH="279360" progId="Equation.DSMT4">
                  <p:embed/>
                  <p:pic>
                    <p:nvPicPr>
                      <p:cNvPr id="1536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604" y="2857496"/>
                        <a:ext cx="4876800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1431946" y="1643050"/>
          <a:ext cx="614045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44720" imgH="444240" progId="Equation.DSMT4">
                  <p:embed/>
                </p:oleObj>
              </mc:Choice>
              <mc:Fallback>
                <p:oleObj name="Equation" r:id="rId6" imgW="2844720" imgH="444240" progId="Equation.DSMT4">
                  <p:embed/>
                  <p:pic>
                    <p:nvPicPr>
                      <p:cNvPr id="153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46" y="1643050"/>
                        <a:ext cx="6140450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3" name="Object 13"/>
          <p:cNvGraphicFramePr>
            <a:graphicFrameLocks noChangeAspect="1"/>
          </p:cNvGraphicFramePr>
          <p:nvPr/>
        </p:nvGraphicFramePr>
        <p:xfrm>
          <a:off x="603241" y="2786058"/>
          <a:ext cx="26828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266400" progId="Equation.DSMT4">
                  <p:embed/>
                </p:oleObj>
              </mc:Choice>
              <mc:Fallback>
                <p:oleObj name="Equation" r:id="rId8" imgW="1244520" imgH="266400" progId="Equation.DSMT4">
                  <p:embed/>
                  <p:pic>
                    <p:nvPicPr>
                      <p:cNvPr id="1536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41" y="2786058"/>
                        <a:ext cx="2682875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5" name="Object 15"/>
          <p:cNvGraphicFramePr>
            <a:graphicFrameLocks noChangeAspect="1"/>
          </p:cNvGraphicFramePr>
          <p:nvPr/>
        </p:nvGraphicFramePr>
        <p:xfrm>
          <a:off x="571472" y="4714884"/>
          <a:ext cx="4786346" cy="82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280" imgH="419040" progId="Equation.DSMT4">
                  <p:embed/>
                </p:oleObj>
              </mc:Choice>
              <mc:Fallback>
                <p:oleObj name="Equation" r:id="rId10" imgW="2438280" imgH="419040" progId="Equation.DSMT4">
                  <p:embed/>
                  <p:pic>
                    <p:nvPicPr>
                      <p:cNvPr id="1536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4714884"/>
                        <a:ext cx="4786346" cy="8268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16" name="Picture 1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737168" y="4000504"/>
            <a:ext cx="2763922" cy="231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5EBB56A-7269-4808-95A2-6FEF5629A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Преобразование </a:t>
            </a:r>
            <a:r>
              <a:rPr lang="ru-RU" sz="3200" b="1" kern="0" dirty="0" err="1">
                <a:solidFill>
                  <a:srgbClr val="000099"/>
                </a:solidFill>
              </a:rPr>
              <a:t>Габора</a:t>
            </a:r>
            <a:endParaRPr lang="ru-RU" sz="3200" b="1" kern="0" dirty="0">
              <a:solidFill>
                <a:srgbClr val="000099"/>
              </a:solidFill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5765EFED-7B40-4812-BDF8-BDF92A212CD5}"/>
              </a:ext>
            </a:extLst>
          </p:cNvPr>
          <p:cNvSpPr txBox="1"/>
          <p:nvPr/>
        </p:nvSpPr>
        <p:spPr bwMode="auto">
          <a:xfrm>
            <a:off x="251172" y="3477617"/>
            <a:ext cx="8641655" cy="395288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Получено прямоугольное частотно-временное окно: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633" name="Object 9"/>
              <p:cNvSpPr txBox="1"/>
              <p:nvPr/>
            </p:nvSpPr>
            <p:spPr bwMode="auto">
              <a:xfrm>
                <a:off x="1331640" y="1658947"/>
                <a:ext cx="3145408" cy="4953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первый взгля: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63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1658947"/>
                <a:ext cx="3145408" cy="495300"/>
              </a:xfrm>
              <a:prstGeom prst="rect">
                <a:avLst/>
              </a:prstGeom>
              <a:blipFill>
                <a:blip r:embed="rId3"/>
                <a:stretch>
                  <a:fillRect l="-1938" t="-6173" b="-24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634" name="Object 10"/>
              <p:cNvSpPr txBox="1"/>
              <p:nvPr/>
            </p:nvSpPr>
            <p:spPr bwMode="auto">
              <a:xfrm>
                <a:off x="4860032" y="1646508"/>
                <a:ext cx="3960440" cy="495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нам также необходимо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63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032" y="1646508"/>
                <a:ext cx="3960440" cy="495300"/>
              </a:xfrm>
              <a:prstGeom prst="rect">
                <a:avLst/>
              </a:prstGeom>
              <a:blipFill>
                <a:blip r:embed="rId4"/>
                <a:stretch>
                  <a:fillRect l="-1538" t="-6173" b="-24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4635" name="Object 11"/>
          <p:cNvGraphicFramePr>
            <a:graphicFrameLocks noChangeAspect="1"/>
          </p:cNvGraphicFramePr>
          <p:nvPr/>
        </p:nvGraphicFramePr>
        <p:xfrm>
          <a:off x="3768723" y="2339970"/>
          <a:ext cx="1606554" cy="53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228600" progId="Equation.DSMT4">
                  <p:embed/>
                </p:oleObj>
              </mc:Choice>
              <mc:Fallback>
                <p:oleObj name="Equation" r:id="rId5" imgW="685800" imgH="228600" progId="Equation.DSMT4">
                  <p:embed/>
                  <p:pic>
                    <p:nvPicPr>
                      <p:cNvPr id="1546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3" y="2339970"/>
                        <a:ext cx="1606554" cy="538394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6" name="Object 12"/>
          <p:cNvGraphicFramePr>
            <a:graphicFrameLocks noChangeAspect="1"/>
          </p:cNvGraphicFramePr>
          <p:nvPr/>
        </p:nvGraphicFramePr>
        <p:xfrm>
          <a:off x="5572142" y="2340209"/>
          <a:ext cx="1428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228600" progId="Equation.DSMT4">
                  <p:embed/>
                </p:oleObj>
              </mc:Choice>
              <mc:Fallback>
                <p:oleObj name="Equation" r:id="rId7" imgW="609480" imgH="228600" progId="Equation.DSMT4">
                  <p:embed/>
                  <p:pic>
                    <p:nvPicPr>
                      <p:cNvPr id="1546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42" y="2340209"/>
                        <a:ext cx="1428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4637" name="Object 13"/>
              <p:cNvSpPr txBox="1"/>
              <p:nvPr/>
            </p:nvSpPr>
            <p:spPr bwMode="auto">
              <a:xfrm>
                <a:off x="428625" y="3133725"/>
                <a:ext cx="5164138" cy="920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463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625" y="3133725"/>
                <a:ext cx="5164138" cy="9207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638" name="Object 14"/>
              <p:cNvSpPr txBox="1"/>
              <p:nvPr/>
            </p:nvSpPr>
            <p:spPr bwMode="auto">
              <a:xfrm>
                <a:off x="2357438" y="4054475"/>
                <a:ext cx="6440487" cy="920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463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7438" y="4054475"/>
                <a:ext cx="6440487" cy="9207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EFB1B86-28BC-4DFD-8E2C-A81537DAAFDD}"/>
              </a:ext>
            </a:extLst>
          </p:cNvPr>
          <p:cNvSpPr txBox="1"/>
          <p:nvPr/>
        </p:nvSpPr>
        <p:spPr>
          <a:xfrm>
            <a:off x="827584" y="871498"/>
            <a:ext cx="7560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Какой тип функции можно использовать как окно?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0">
                <a:extLst>
                  <a:ext uri="{FF2B5EF4-FFF2-40B4-BE49-F238E27FC236}">
                    <a16:creationId xmlns:a16="http://schemas.microsoft.com/office/drawing/2014/main" id="{D907BC56-EBF2-4C36-9EC0-1560E8B7EA90}"/>
                  </a:ext>
                </a:extLst>
              </p:cNvPr>
              <p:cNvSpPr txBox="1"/>
              <p:nvPr/>
            </p:nvSpPr>
            <p:spPr bwMode="auto">
              <a:xfrm>
                <a:off x="3989233" y="3339521"/>
                <a:ext cx="3960440" cy="495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центр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Object 10">
                <a:extLst>
                  <a:ext uri="{FF2B5EF4-FFF2-40B4-BE49-F238E27FC236}">
                    <a16:creationId xmlns:a16="http://schemas.microsoft.com/office/drawing/2014/main" id="{D907BC56-EBF2-4C36-9EC0-1560E8B7E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9233" y="3339521"/>
                <a:ext cx="3960440" cy="495300"/>
              </a:xfrm>
              <a:prstGeom prst="rect">
                <a:avLst/>
              </a:prstGeom>
              <a:blipFill>
                <a:blip r:embed="rId11"/>
                <a:stretch>
                  <a:fillRect l="-2308" t="-9877" b="-20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D94D003C-AE52-47A1-8D7A-B5458DF1457F}"/>
                  </a:ext>
                </a:extLst>
              </p:cNvPr>
              <p:cNvSpPr txBox="1"/>
              <p:nvPr/>
            </p:nvSpPr>
            <p:spPr bwMode="auto">
              <a:xfrm>
                <a:off x="7308304" y="4260271"/>
                <a:ext cx="3960440" cy="495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радиус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D94D003C-AE52-47A1-8D7A-B5458DF14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8304" y="4260271"/>
                <a:ext cx="3960440" cy="495300"/>
              </a:xfrm>
              <a:prstGeom prst="rect">
                <a:avLst/>
              </a:prstGeom>
              <a:blipFill>
                <a:blip r:embed="rId12"/>
                <a:stretch>
                  <a:fillRect l="-2462" t="-9877" b="-20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345747-85CB-447C-BD57-72298CAABB1F}"/>
                  </a:ext>
                </a:extLst>
              </p:cNvPr>
              <p:cNvSpPr txBox="1"/>
              <p:nvPr/>
            </p:nvSpPr>
            <p:spPr>
              <a:xfrm>
                <a:off x="827584" y="5332140"/>
                <a:ext cx="76688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Преобразование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Габора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«окно» преобразования Фурье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345747-85CB-447C-BD57-72298CAAB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332140"/>
                <a:ext cx="7668852" cy="461665"/>
              </a:xfrm>
              <a:prstGeom prst="rect">
                <a:avLst/>
              </a:prstGeom>
              <a:blipFill>
                <a:blip r:embed="rId13"/>
                <a:stretch>
                  <a:fillRect l="-954" t="-10667" r="-874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640" name="Object 16"/>
          <p:cNvGraphicFramePr>
            <a:graphicFrameLocks noChangeAspect="1"/>
          </p:cNvGraphicFramePr>
          <p:nvPr/>
        </p:nvGraphicFramePr>
        <p:xfrm>
          <a:off x="2134394" y="857232"/>
          <a:ext cx="487521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419040" progId="Equation.DSMT4">
                  <p:embed/>
                </p:oleObj>
              </mc:Choice>
              <mc:Fallback>
                <p:oleObj name="Equation" r:id="rId2" imgW="2260440" imgH="419040" progId="Equation.DSMT4">
                  <p:embed/>
                  <p:pic>
                    <p:nvPicPr>
                      <p:cNvPr id="15464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394" y="857232"/>
                        <a:ext cx="4875212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1" name="Object 17"/>
          <p:cNvGraphicFramePr>
            <a:graphicFrameLocks noChangeAspect="1"/>
          </p:cNvGraphicFramePr>
          <p:nvPr/>
        </p:nvGraphicFramePr>
        <p:xfrm>
          <a:off x="857224" y="1835132"/>
          <a:ext cx="26828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53800" progId="Equation.DSMT4">
                  <p:embed/>
                </p:oleObj>
              </mc:Choice>
              <mc:Fallback>
                <p:oleObj name="Equation" r:id="rId4" imgW="1244520" imgH="253800" progId="Equation.DSMT4">
                  <p:embed/>
                  <p:pic>
                    <p:nvPicPr>
                      <p:cNvPr id="15464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835132"/>
                        <a:ext cx="2682875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2" name="Object 18"/>
          <p:cNvGraphicFramePr>
            <a:graphicFrameLocks noChangeAspect="1"/>
          </p:cNvGraphicFramePr>
          <p:nvPr/>
        </p:nvGraphicFramePr>
        <p:xfrm>
          <a:off x="5095903" y="1643050"/>
          <a:ext cx="34766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419040" progId="Equation.DSMT4">
                  <p:embed/>
                </p:oleObj>
              </mc:Choice>
              <mc:Fallback>
                <p:oleObj name="Equation" r:id="rId6" imgW="1612800" imgH="419040" progId="Equation.DSMT4">
                  <p:embed/>
                  <p:pic>
                    <p:nvPicPr>
                      <p:cNvPr id="15464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903" y="1643050"/>
                        <a:ext cx="3476625" cy="906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5661" name="Object 13"/>
              <p:cNvSpPr txBox="1"/>
              <p:nvPr/>
            </p:nvSpPr>
            <p:spPr bwMode="auto">
              <a:xfrm>
                <a:off x="1957387" y="2692397"/>
                <a:ext cx="5229225" cy="5222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Временное окно: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5566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7387" y="2692397"/>
                <a:ext cx="5229225" cy="522287"/>
              </a:xfrm>
              <a:prstGeom prst="rect">
                <a:avLst/>
              </a:prstGeom>
              <a:blipFill>
                <a:blip r:embed="rId9"/>
                <a:stretch>
                  <a:fillRect t="-70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662" name="Object 14"/>
          <p:cNvGraphicFramePr>
            <a:graphicFrameLocks noChangeAspect="1"/>
          </p:cNvGraphicFramePr>
          <p:nvPr/>
        </p:nvGraphicFramePr>
        <p:xfrm>
          <a:off x="142844" y="3786190"/>
          <a:ext cx="20542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228600" progId="Equation.DSMT4">
                  <p:embed/>
                </p:oleObj>
              </mc:Choice>
              <mc:Fallback>
                <p:oleObj name="Equation" r:id="rId10" imgW="952200" imgH="228600" progId="Equation.DSMT4">
                  <p:embed/>
                  <p:pic>
                    <p:nvPicPr>
                      <p:cNvPr id="1556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3786190"/>
                        <a:ext cx="20542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 flipV="1">
            <a:off x="2357422" y="3714752"/>
            <a:ext cx="857256" cy="21431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2357422" y="4143380"/>
            <a:ext cx="785818" cy="28575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5663" name="Object 15"/>
          <p:cNvGraphicFramePr>
            <a:graphicFrameLocks noChangeAspect="1"/>
          </p:cNvGraphicFramePr>
          <p:nvPr/>
        </p:nvGraphicFramePr>
        <p:xfrm>
          <a:off x="3260718" y="3429000"/>
          <a:ext cx="3825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28600" progId="Equation.DSMT4">
                  <p:embed/>
                </p:oleObj>
              </mc:Choice>
              <mc:Fallback>
                <p:oleObj name="Equation" r:id="rId12" imgW="177480" imgH="228600" progId="Equation.DSMT4">
                  <p:embed/>
                  <p:pic>
                    <p:nvPicPr>
                      <p:cNvPr id="1556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18" y="3429000"/>
                        <a:ext cx="38258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4" name="Object 16"/>
          <p:cNvGraphicFramePr>
            <a:graphicFrameLocks noChangeAspect="1"/>
          </p:cNvGraphicFramePr>
          <p:nvPr/>
        </p:nvGraphicFramePr>
        <p:xfrm>
          <a:off x="3214678" y="4214818"/>
          <a:ext cx="4635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228600" progId="Equation.DSMT4">
                  <p:embed/>
                </p:oleObj>
              </mc:Choice>
              <mc:Fallback>
                <p:oleObj name="Equation" r:id="rId14" imgW="215640" imgH="228600" progId="Equation.DSMT4">
                  <p:embed/>
                  <p:pic>
                    <p:nvPicPr>
                      <p:cNvPr id="1556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4214818"/>
                        <a:ext cx="4635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5" name="Object 17"/>
          <p:cNvGraphicFramePr>
            <a:graphicFrameLocks noChangeAspect="1"/>
          </p:cNvGraphicFramePr>
          <p:nvPr/>
        </p:nvGraphicFramePr>
        <p:xfrm>
          <a:off x="3767138" y="3571875"/>
          <a:ext cx="523398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27200" imgH="444240" progId="Equation.DSMT4">
                  <p:embed/>
                </p:oleObj>
              </mc:Choice>
              <mc:Fallback>
                <p:oleObj name="Equation" r:id="rId16" imgW="2527200" imgH="444240" progId="Equation.DSMT4">
                  <p:embed/>
                  <p:pic>
                    <p:nvPicPr>
                      <p:cNvPr id="1556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8" y="3571875"/>
                        <a:ext cx="5233987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6" name="Object 18"/>
          <p:cNvGraphicFramePr>
            <a:graphicFrameLocks noChangeAspect="1"/>
          </p:cNvGraphicFramePr>
          <p:nvPr/>
        </p:nvGraphicFramePr>
        <p:xfrm>
          <a:off x="2466989" y="4781563"/>
          <a:ext cx="41052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04760" imgH="266400" progId="Equation.DSMT4">
                  <p:embed/>
                </p:oleObj>
              </mc:Choice>
              <mc:Fallback>
                <p:oleObj name="Equation" r:id="rId18" imgW="1904760" imgH="266400" progId="Equation.DSMT4">
                  <p:embed/>
                  <p:pic>
                    <p:nvPicPr>
                      <p:cNvPr id="1556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89" y="4781563"/>
                        <a:ext cx="41052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5667" name="Object 19"/>
              <p:cNvSpPr txBox="1"/>
              <p:nvPr/>
            </p:nvSpPr>
            <p:spPr bwMode="auto">
              <a:xfrm>
                <a:off x="1559718" y="5540392"/>
                <a:ext cx="6024562" cy="5222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Частотное окно: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66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718" y="5540392"/>
                <a:ext cx="6024562" cy="522287"/>
              </a:xfrm>
              <a:prstGeom prst="rect">
                <a:avLst/>
              </a:prstGeom>
              <a:blipFill>
                <a:blip r:embed="rId20"/>
                <a:stretch>
                  <a:fillRect t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>
            <a:extLst>
              <a:ext uri="{FF2B5EF4-FFF2-40B4-BE49-F238E27FC236}">
                <a16:creationId xmlns:a16="http://schemas.microsoft.com/office/drawing/2014/main" id="{8F633C16-57E7-42C1-8F3F-69124E311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endParaRPr lang="ru-RU" sz="3200" b="1" kern="0" dirty="0">
              <a:solidFill>
                <a:srgbClr val="000099"/>
              </a:solidFill>
            </a:endParaRPr>
          </a:p>
        </p:txBody>
      </p:sp>
      <p:graphicFrame>
        <p:nvGraphicFramePr>
          <p:cNvPr id="156684" name="Object 12"/>
          <p:cNvGraphicFramePr>
            <a:graphicFrameLocks noChangeAspect="1"/>
          </p:cNvGraphicFramePr>
          <p:nvPr/>
        </p:nvGraphicFramePr>
        <p:xfrm>
          <a:off x="558817" y="981074"/>
          <a:ext cx="65135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228600" progId="Equation.DSMT4">
                  <p:embed/>
                </p:oleObj>
              </mc:Choice>
              <mc:Fallback>
                <p:oleObj name="Equation" r:id="rId2" imgW="3022560" imgH="228600" progId="Equation.DSMT4">
                  <p:embed/>
                  <p:pic>
                    <p:nvPicPr>
                      <p:cNvPr id="1566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17" y="981074"/>
                        <a:ext cx="6513513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5" name="Object 13"/>
          <p:cNvGraphicFramePr>
            <a:graphicFrameLocks noChangeAspect="1"/>
          </p:cNvGraphicFramePr>
          <p:nvPr/>
        </p:nvGraphicFramePr>
        <p:xfrm>
          <a:off x="3705225" y="1552575"/>
          <a:ext cx="45450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160" imgH="279360" progId="Equation.DSMT4">
                  <p:embed/>
                </p:oleObj>
              </mc:Choice>
              <mc:Fallback>
                <p:oleObj name="Equation" r:id="rId4" imgW="2108160" imgH="279360" progId="Equation.DSMT4">
                  <p:embed/>
                  <p:pic>
                    <p:nvPicPr>
                      <p:cNvPr id="1566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1552575"/>
                        <a:ext cx="4545013" cy="6032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7" name="Object 15"/>
          <p:cNvGraphicFramePr>
            <a:graphicFrameLocks noChangeAspect="1"/>
          </p:cNvGraphicFramePr>
          <p:nvPr/>
        </p:nvGraphicFramePr>
        <p:xfrm>
          <a:off x="500034" y="2838462"/>
          <a:ext cx="7745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93880" imgH="228600" progId="Equation.DSMT4">
                  <p:embed/>
                </p:oleObj>
              </mc:Choice>
              <mc:Fallback>
                <p:oleObj name="Equation" r:id="rId6" imgW="3593880" imgH="228600" progId="Equation.DSMT4">
                  <p:embed/>
                  <p:pic>
                    <p:nvPicPr>
                      <p:cNvPr id="15668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2838462"/>
                        <a:ext cx="7745413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14348" y="2338396"/>
            <a:ext cx="16430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Инверсия</a:t>
            </a:r>
            <a:r>
              <a:rPr lang="en-US" sz="2200" b="1" dirty="0">
                <a:solidFill>
                  <a:srgbClr val="0000FF"/>
                </a:solidFill>
              </a:rPr>
              <a:t>:</a:t>
            </a:r>
            <a:endParaRPr lang="ru-RU" sz="2200" b="1" dirty="0">
              <a:solidFill>
                <a:srgbClr val="0000FF"/>
              </a:solidFill>
            </a:endParaRPr>
          </a:p>
        </p:txBody>
      </p:sp>
      <p:graphicFrame>
        <p:nvGraphicFramePr>
          <p:cNvPr id="156688" name="Object 16"/>
          <p:cNvGraphicFramePr>
            <a:graphicFrameLocks noChangeAspect="1"/>
          </p:cNvGraphicFramePr>
          <p:nvPr/>
        </p:nvGraphicFramePr>
        <p:xfrm>
          <a:off x="1766888" y="3452819"/>
          <a:ext cx="561181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03160" imgH="419040" progId="Equation.DSMT4">
                  <p:embed/>
                </p:oleObj>
              </mc:Choice>
              <mc:Fallback>
                <p:oleObj name="Equation" r:id="rId8" imgW="2603160" imgH="419040" progId="Equation.DSMT4">
                  <p:embed/>
                  <p:pic>
                    <p:nvPicPr>
                      <p:cNvPr id="1566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8" y="3452819"/>
                        <a:ext cx="5611812" cy="9048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14348" y="4693591"/>
            <a:ext cx="3353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dirty="0">
                <a:solidFill>
                  <a:srgbClr val="0000FF"/>
                </a:solidFill>
              </a:rPr>
              <a:t>Сохранение энергии:</a:t>
            </a:r>
          </a:p>
        </p:txBody>
      </p:sp>
      <p:graphicFrame>
        <p:nvGraphicFramePr>
          <p:cNvPr id="156689" name="Object 17"/>
          <p:cNvGraphicFramePr>
            <a:graphicFrameLocks noChangeAspect="1"/>
          </p:cNvGraphicFramePr>
          <p:nvPr/>
        </p:nvGraphicFramePr>
        <p:xfrm>
          <a:off x="2722563" y="5326080"/>
          <a:ext cx="36972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320" imgH="279360" progId="Equation.DSMT4">
                  <p:embed/>
                </p:oleObj>
              </mc:Choice>
              <mc:Fallback>
                <p:oleObj name="Equation" r:id="rId10" imgW="1714320" imgH="279360" progId="Equation.DSMT4">
                  <p:embed/>
                  <p:pic>
                    <p:nvPicPr>
                      <p:cNvPr id="1566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5326080"/>
                        <a:ext cx="3697287" cy="6032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67E3606A-F112-41D4-B157-14D850B36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9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32" y="1109680"/>
            <a:ext cx="8991600" cy="2057400"/>
          </a:xfrm>
          <a:prstGeom prst="rect">
            <a:avLst/>
          </a:prstGeom>
          <a:noFill/>
        </p:spPr>
      </p:pic>
      <p:sp>
        <p:nvSpPr>
          <p:cNvPr id="91145" name="Freeform 9"/>
          <p:cNvSpPr>
            <a:spLocks/>
          </p:cNvSpPr>
          <p:nvPr/>
        </p:nvSpPr>
        <p:spPr bwMode="auto">
          <a:xfrm>
            <a:off x="-685768" y="1171593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91149" name="Picture 13" descr="stft0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32" y="3243280"/>
            <a:ext cx="4343400" cy="2757488"/>
          </a:xfrm>
          <a:prstGeom prst="rect">
            <a:avLst/>
          </a:prstGeom>
          <a:noFill/>
        </p:spPr>
      </p:pic>
      <p:sp>
        <p:nvSpPr>
          <p:cNvPr id="91150" name="Rectangle 14"/>
          <p:cNvSpPr>
            <a:spLocks noChangeArrowheads="1"/>
          </p:cNvSpPr>
          <p:nvPr/>
        </p:nvSpPr>
        <p:spPr bwMode="auto">
          <a:xfrm>
            <a:off x="6172232" y="3471880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91151" name="Rectangle 15"/>
          <p:cNvSpPr>
            <a:spLocks noChangeArrowheads="1"/>
          </p:cNvSpPr>
          <p:nvPr/>
        </p:nvSpPr>
        <p:spPr bwMode="auto">
          <a:xfrm>
            <a:off x="6172232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91153" name="Line 17"/>
          <p:cNvSpPr>
            <a:spLocks noChangeShapeType="1"/>
          </p:cNvSpPr>
          <p:nvPr/>
        </p:nvSpPr>
        <p:spPr bwMode="auto">
          <a:xfrm>
            <a:off x="533432" y="2125680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endCxn id="91149" idx="1"/>
          </p:cNvCxnSpPr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id="{93BC05FE-3AA2-4FC8-9A59-576F8EFC9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7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pic>
        <p:nvPicPr>
          <p:cNvPr id="118794" name="Picture 10" descr="stft0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18795" name="Freeform 11"/>
          <p:cNvSpPr>
            <a:spLocks/>
          </p:cNvSpPr>
          <p:nvPr/>
        </p:nvSpPr>
        <p:spPr bwMode="auto">
          <a:xfrm>
            <a:off x="152400" y="1187468"/>
            <a:ext cx="2286000" cy="950913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18797" name="Line 13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6415102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175F678-B14F-496C-BF57-4A2571DBA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515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1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19815" name="Rectangle 7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19820" name="Freeform 12"/>
          <p:cNvSpPr>
            <a:spLocks/>
          </p:cNvSpPr>
          <p:nvPr/>
        </p:nvSpPr>
        <p:spPr bwMode="auto">
          <a:xfrm>
            <a:off x="990600" y="1187468"/>
            <a:ext cx="2286000" cy="950913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19821" name="Picture 13" descr="stft0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19822" name="Line 14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6629416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C89A247-FDB5-407D-9238-F2BFE5C68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9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1863" name="Rectangle 7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1869" name="Freeform 13"/>
          <p:cNvSpPr>
            <a:spLocks/>
          </p:cNvSpPr>
          <p:nvPr/>
        </p:nvSpPr>
        <p:spPr bwMode="auto">
          <a:xfrm>
            <a:off x="18288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1870" name="Picture 14" descr="stft0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1871" name="Line 15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6858016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60382A9-6D21-4317-B98A-365ECCC1F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3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2887" name="Rectangle 7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2895" name="Freeform 15"/>
          <p:cNvSpPr>
            <a:spLocks/>
          </p:cNvSpPr>
          <p:nvPr/>
        </p:nvSpPr>
        <p:spPr bwMode="auto">
          <a:xfrm>
            <a:off x="26670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2896" name="Picture 16" descr="stft0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2897" name="Line 17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072330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0791B49-02BC-415F-8FF0-4F175A02F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5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0839" name="Rectangle 7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0842" name="Freeform 10"/>
          <p:cNvSpPr>
            <a:spLocks/>
          </p:cNvSpPr>
          <p:nvPr/>
        </p:nvSpPr>
        <p:spPr bwMode="auto">
          <a:xfrm>
            <a:off x="35052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0843" name="Picture 11" descr="stft0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286644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B0886C4-A398-49D4-AEA0-0411E1686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7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3912" name="Freeform 8"/>
          <p:cNvSpPr>
            <a:spLocks/>
          </p:cNvSpPr>
          <p:nvPr/>
        </p:nvSpPr>
        <p:spPr bwMode="auto">
          <a:xfrm>
            <a:off x="43434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3913" name="Picture 9" descr="stft0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3914" name="Line 10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558110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4AFA727-E1CB-4F98-8A1B-100927AE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1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4936" name="Freeform 8"/>
          <p:cNvSpPr>
            <a:spLocks/>
          </p:cNvSpPr>
          <p:nvPr/>
        </p:nvSpPr>
        <p:spPr bwMode="auto">
          <a:xfrm>
            <a:off x="51816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4937" name="Picture 9" descr="stft08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4938" name="Line 10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772424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EEFCE06-D0F4-4397-B929-61F6871BC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5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5960" name="Freeform 8"/>
          <p:cNvSpPr>
            <a:spLocks/>
          </p:cNvSpPr>
          <p:nvPr/>
        </p:nvSpPr>
        <p:spPr bwMode="auto">
          <a:xfrm>
            <a:off x="60198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5961" name="Picture 9" descr="stft0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5962" name="Line 10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986738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42C0B1B-0E73-4F3B-8A6E-6C7A7A2D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9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1268"/>
            <a:ext cx="8991600" cy="2057400"/>
          </a:xfrm>
          <a:prstGeom prst="rect">
            <a:avLst/>
          </a:prstGeom>
          <a:noFill/>
        </p:spPr>
      </p:pic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6172200" y="3473468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6984" name="Freeform 8"/>
          <p:cNvSpPr>
            <a:spLocks/>
          </p:cNvSpPr>
          <p:nvPr/>
        </p:nvSpPr>
        <p:spPr bwMode="auto">
          <a:xfrm>
            <a:off x="6858000" y="1173181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6985" name="Picture 9" descr="stft10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3281"/>
            <a:ext cx="4343400" cy="2757487"/>
          </a:xfrm>
          <a:prstGeom prst="rect">
            <a:avLst/>
          </a:prstGeom>
          <a:noFill/>
        </p:spPr>
      </p:pic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533400" y="2127268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8215338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D4B5F50-91CA-43B5-99CD-07CFE9C55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3" descr="non-st-s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12855"/>
            <a:ext cx="8991600" cy="2057400"/>
          </a:xfrm>
          <a:prstGeom prst="rect">
            <a:avLst/>
          </a:prstGeom>
          <a:noFill/>
        </p:spPr>
      </p:pic>
      <p:sp>
        <p:nvSpPr>
          <p:cNvPr id="128005" name="Rectangle 5"/>
          <p:cNvSpPr>
            <a:spLocks noChangeArrowheads="1"/>
          </p:cNvSpPr>
          <p:nvPr/>
        </p:nvSpPr>
        <p:spPr bwMode="auto">
          <a:xfrm>
            <a:off x="6172200" y="3475055"/>
            <a:ext cx="2514600" cy="2209800"/>
          </a:xfrm>
          <a:prstGeom prst="rect">
            <a:avLst/>
          </a:prstGeom>
          <a:solidFill>
            <a:srgbClr val="D7E5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/>
              <a:t>X</a:t>
            </a:r>
          </a:p>
        </p:txBody>
      </p:sp>
      <p:sp>
        <p:nvSpPr>
          <p:cNvPr id="128008" name="Freeform 8"/>
          <p:cNvSpPr>
            <a:spLocks/>
          </p:cNvSpPr>
          <p:nvPr/>
        </p:nvSpPr>
        <p:spPr bwMode="auto">
          <a:xfrm>
            <a:off x="7620000" y="1174768"/>
            <a:ext cx="2286000" cy="950912"/>
          </a:xfrm>
          <a:custGeom>
            <a:avLst/>
            <a:gdLst/>
            <a:ahLst/>
            <a:cxnLst>
              <a:cxn ang="0">
                <a:pos x="0" y="769"/>
              </a:cxn>
              <a:cxn ang="0">
                <a:pos x="170" y="590"/>
              </a:cxn>
              <a:cxn ang="0">
                <a:pos x="336" y="1"/>
              </a:cxn>
              <a:cxn ang="0">
                <a:pos x="493" y="599"/>
              </a:cxn>
              <a:cxn ang="0">
                <a:pos x="633" y="773"/>
              </a:cxn>
              <a:cxn ang="0">
                <a:pos x="0" y="769"/>
              </a:cxn>
            </a:cxnLst>
            <a:rect l="0" t="0" r="r" b="b"/>
            <a:pathLst>
              <a:path w="633" h="773">
                <a:moveTo>
                  <a:pt x="0" y="769"/>
                </a:moveTo>
                <a:cubicBezTo>
                  <a:pt x="28" y="739"/>
                  <a:pt x="114" y="718"/>
                  <a:pt x="170" y="590"/>
                </a:cubicBezTo>
                <a:cubicBezTo>
                  <a:pt x="226" y="462"/>
                  <a:pt x="282" y="0"/>
                  <a:pt x="336" y="1"/>
                </a:cubicBezTo>
                <a:cubicBezTo>
                  <a:pt x="390" y="2"/>
                  <a:pt x="444" y="470"/>
                  <a:pt x="493" y="599"/>
                </a:cubicBezTo>
                <a:cubicBezTo>
                  <a:pt x="542" y="728"/>
                  <a:pt x="604" y="737"/>
                  <a:pt x="633" y="773"/>
                </a:cubicBezTo>
                <a:cubicBezTo>
                  <a:pt x="633" y="773"/>
                  <a:pt x="0" y="769"/>
                  <a:pt x="0" y="769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128009" name="Picture 9" descr="stft1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5400" y="3244868"/>
            <a:ext cx="4343400" cy="2755900"/>
          </a:xfrm>
          <a:prstGeom prst="rect">
            <a:avLst/>
          </a:prstGeom>
          <a:noFill/>
        </p:spPr>
      </p:pic>
      <p:sp>
        <p:nvSpPr>
          <p:cNvPr id="128010" name="Line 10"/>
          <p:cNvSpPr>
            <a:spLocks noChangeShapeType="1"/>
          </p:cNvSpPr>
          <p:nvPr/>
        </p:nvSpPr>
        <p:spPr bwMode="auto">
          <a:xfrm>
            <a:off x="533400" y="2128855"/>
            <a:ext cx="8305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357818" y="4643446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229783" y="3556375"/>
            <a:ext cx="1264462" cy="86683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8486804" y="4071942"/>
            <a:ext cx="228600" cy="1104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ru-RU">
              <a:solidFill>
                <a:schemeClr val="hlink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FC9EF8C-E89E-42B4-9F09-DA5BDFCC1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51520" y="714356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b="1" dirty="0">
                <a:solidFill>
                  <a:srgbClr val="0000FF"/>
                </a:solidFill>
              </a:rPr>
              <a:t>Проблема «фиксированного размера окна»</a:t>
            </a:r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142984"/>
            <a:ext cx="4656286" cy="2233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3857620" y="1928802"/>
            <a:ext cx="642942" cy="28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57699" name="Object 3"/>
          <p:cNvGraphicFramePr>
            <a:graphicFrameLocks noChangeAspect="1"/>
          </p:cNvGraphicFramePr>
          <p:nvPr/>
        </p:nvGraphicFramePr>
        <p:xfrm>
          <a:off x="3786182" y="1928802"/>
          <a:ext cx="453180" cy="303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60" imgH="203040" progId="Equation.DSMT4">
                  <p:embed/>
                </p:oleObj>
              </mc:Choice>
              <mc:Fallback>
                <p:oleObj name="Equation" r:id="rId3" imgW="304560" imgH="203040" progId="Equation.DSMT4">
                  <p:embed/>
                  <p:pic>
                    <p:nvPicPr>
                      <p:cNvPr id="1576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1928802"/>
                        <a:ext cx="453180" cy="3032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4929190" y="1785926"/>
          <a:ext cx="3860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241200" progId="Equation.DSMT4">
                  <p:embed/>
                </p:oleObj>
              </mc:Choice>
              <mc:Fallback>
                <p:oleObj name="Equation" r:id="rId5" imgW="1790640" imgH="241200" progId="Equation.DSMT4">
                  <p:embed/>
                  <p:pic>
                    <p:nvPicPr>
                      <p:cNvPr id="157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90" y="1785926"/>
                        <a:ext cx="3860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7701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406" y="3675429"/>
            <a:ext cx="4889089" cy="253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2714612" y="3714752"/>
            <a:ext cx="1643074" cy="214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702" name="Object 6"/>
              <p:cNvSpPr txBox="1"/>
              <p:nvPr/>
            </p:nvSpPr>
            <p:spPr bwMode="auto">
              <a:xfrm>
                <a:off x="1115616" y="3603889"/>
                <a:ext cx="4177034" cy="65035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𝑅𝑒</m:t>
                        </m:r>
                      </m:fName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)),</m:t>
                    </m:r>
                  </m:oMath>
                </a14:m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когда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|−</m:t>
                    </m:r>
                  </m:oMath>
                </a14:m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большой</a:t>
                </a:r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70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3603889"/>
                <a:ext cx="4177034" cy="650354"/>
              </a:xfrm>
              <a:prstGeom prst="rect">
                <a:avLst/>
              </a:prstGeom>
              <a:blipFill>
                <a:blip r:embed="rId9"/>
                <a:stretch>
                  <a:fillRect t="-2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7703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605367" y="3786190"/>
            <a:ext cx="4499086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Прямоугольник 19"/>
          <p:cNvSpPr/>
          <p:nvPr/>
        </p:nvSpPr>
        <p:spPr>
          <a:xfrm>
            <a:off x="5929322" y="4429132"/>
            <a:ext cx="1714512" cy="35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704" name="Object 8"/>
              <p:cNvSpPr txBox="1"/>
              <p:nvPr/>
            </p:nvSpPr>
            <p:spPr bwMode="auto">
              <a:xfrm>
                <a:off x="5868144" y="4365103"/>
                <a:ext cx="2376264" cy="6207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Re</m:t>
                        </m:r>
                      </m:fName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)),</m:t>
                    </m:r>
                  </m:oMath>
                </a14:m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когда </a:t>
                </a:r>
                <a:b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|−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маленький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70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8144" y="4365103"/>
                <a:ext cx="2376264" cy="620713"/>
              </a:xfrm>
              <a:prstGeom prst="rect">
                <a:avLst/>
              </a:prstGeom>
              <a:blipFill>
                <a:blip r:embed="rId11"/>
                <a:stretch>
                  <a:fillRect l="-257" t="-2941" b="-9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">
            <a:extLst>
              <a:ext uri="{FF2B5EF4-FFF2-40B4-BE49-F238E27FC236}">
                <a16:creationId xmlns:a16="http://schemas.microsoft.com/office/drawing/2014/main" id="{2CB2F5A1-2204-4DA4-9EEE-1E4DDEB53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3" descr="mesh-stft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193" y="642942"/>
            <a:ext cx="7620021" cy="5715016"/>
          </a:xfrm>
          <a:prstGeom prst="rect">
            <a:avLst/>
          </a:prstGeom>
          <a:noFill/>
        </p:spPr>
      </p:pic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6660232" y="4869160"/>
            <a:ext cx="239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hlink"/>
                </a:solidFill>
              </a:rPr>
              <a:t>Время</a:t>
            </a:r>
            <a:endParaRPr lang="en-US" sz="2000" b="1" dirty="0">
              <a:solidFill>
                <a:schemeClr val="hlink"/>
              </a:solidFill>
            </a:endParaRPr>
          </a:p>
        </p:txBody>
      </p:sp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1928794" y="5143512"/>
            <a:ext cx="11895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hlink"/>
                </a:solidFill>
              </a:rPr>
              <a:t>Частота</a:t>
            </a:r>
            <a:endParaRPr lang="en-US" sz="2000" b="1" dirty="0">
              <a:solidFill>
                <a:schemeClr val="hlink"/>
              </a:solidFill>
            </a:endParaRPr>
          </a:p>
        </p:txBody>
      </p:sp>
      <p:sp>
        <p:nvSpPr>
          <p:cNvPr id="93191" name="Text Box 7"/>
          <p:cNvSpPr txBox="1">
            <a:spLocks noChangeArrowheads="1"/>
          </p:cNvSpPr>
          <p:nvPr/>
        </p:nvSpPr>
        <p:spPr bwMode="auto">
          <a:xfrm rot="16200000">
            <a:off x="179358" y="3441667"/>
            <a:ext cx="16097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hlink"/>
                </a:solidFill>
              </a:rPr>
              <a:t>Амплитуда</a:t>
            </a:r>
            <a:endParaRPr lang="en-US" sz="2000" b="1" dirty="0">
              <a:solidFill>
                <a:schemeClr val="hlink"/>
              </a:solidFill>
            </a:endParaRPr>
          </a:p>
        </p:txBody>
      </p:sp>
      <p:sp>
        <p:nvSpPr>
          <p:cNvPr id="93193" name="Text Box 9"/>
          <p:cNvSpPr txBox="1">
            <a:spLocks noChangeArrowheads="1"/>
          </p:cNvSpPr>
          <p:nvPr/>
        </p:nvSpPr>
        <p:spPr bwMode="auto">
          <a:xfrm>
            <a:off x="214302" y="1012813"/>
            <a:ext cx="2994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sz="2000" dirty="0"/>
              <a:t>Окно среднего размера</a:t>
            </a:r>
            <a:endParaRPr lang="en-US" sz="2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BE5FEAA-48EB-449C-8EA0-FCACC7435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600200" y="1771619"/>
            <a:ext cx="5943600" cy="3771900"/>
            <a:chOff x="0" y="576"/>
            <a:chExt cx="3744" cy="2376"/>
          </a:xfrm>
        </p:grpSpPr>
        <p:pic>
          <p:nvPicPr>
            <p:cNvPr id="94218" name="Picture 10" descr="sf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576"/>
              <a:ext cx="3744" cy="2376"/>
            </a:xfrm>
            <a:prstGeom prst="rect">
              <a:avLst/>
            </a:prstGeom>
            <a:noFill/>
          </p:spPr>
        </p:pic>
        <p:sp>
          <p:nvSpPr>
            <p:cNvPr id="94214" name="Text Box 6"/>
            <p:cNvSpPr txBox="1">
              <a:spLocks noChangeArrowheads="1"/>
            </p:cNvSpPr>
            <p:nvPr/>
          </p:nvSpPr>
          <p:spPr bwMode="auto">
            <a:xfrm>
              <a:off x="2640" y="2424"/>
              <a:ext cx="55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ru-RU" dirty="0"/>
                <a:t>Время</a:t>
              </a:r>
              <a:endParaRPr lang="en-US" dirty="0"/>
            </a:p>
          </p:txBody>
        </p:sp>
        <p:sp>
          <p:nvSpPr>
            <p:cNvPr id="94215" name="Text Box 7"/>
            <p:cNvSpPr txBox="1">
              <a:spLocks noChangeArrowheads="1"/>
            </p:cNvSpPr>
            <p:nvPr/>
          </p:nvSpPr>
          <p:spPr bwMode="auto">
            <a:xfrm>
              <a:off x="672" y="2424"/>
              <a:ext cx="65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ru-RU" dirty="0"/>
                <a:t>Частота</a:t>
              </a:r>
              <a:endParaRPr lang="en-US" dirty="0"/>
            </a:p>
          </p:txBody>
        </p:sp>
        <p:sp>
          <p:nvSpPr>
            <p:cNvPr id="94216" name="Text Box 8"/>
            <p:cNvSpPr txBox="1">
              <a:spLocks noChangeArrowheads="1"/>
            </p:cNvSpPr>
            <p:nvPr/>
          </p:nvSpPr>
          <p:spPr bwMode="auto">
            <a:xfrm rot="16200000">
              <a:off x="-196" y="1592"/>
              <a:ext cx="85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ru-RU" dirty="0"/>
                <a:t>Амплитуда</a:t>
              </a:r>
              <a:endParaRPr lang="en-US" dirty="0"/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-36512" y="2132856"/>
            <a:ext cx="9059413" cy="4184015"/>
            <a:chOff x="80970" y="2184412"/>
            <a:chExt cx="9059413" cy="4184015"/>
          </a:xfrm>
        </p:grpSpPr>
        <p:grpSp>
          <p:nvGrpSpPr>
            <p:cNvPr id="3" name="Group 33"/>
            <p:cNvGrpSpPr>
              <a:grpSpLocks/>
            </p:cNvGrpSpPr>
            <p:nvPr/>
          </p:nvGrpSpPr>
          <p:grpSpPr bwMode="auto">
            <a:xfrm>
              <a:off x="5357818" y="2184412"/>
              <a:ext cx="3733800" cy="3032126"/>
              <a:chOff x="3408" y="1240"/>
              <a:chExt cx="2352" cy="1910"/>
            </a:xfrm>
          </p:grpSpPr>
          <p:pic>
            <p:nvPicPr>
              <p:cNvPr id="94219" name="Picture 11" descr="sf2-a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408" y="1240"/>
                <a:ext cx="2352" cy="1832"/>
              </a:xfrm>
              <a:prstGeom prst="rect">
                <a:avLst/>
              </a:prstGeom>
              <a:noFill/>
            </p:spPr>
          </p:pic>
          <p:sp>
            <p:nvSpPr>
              <p:cNvPr id="94221" name="Text Box 13"/>
              <p:cNvSpPr txBox="1">
                <a:spLocks noChangeArrowheads="1"/>
              </p:cNvSpPr>
              <p:nvPr/>
            </p:nvSpPr>
            <p:spPr bwMode="auto">
              <a:xfrm rot="16200000">
                <a:off x="3261" y="1887"/>
                <a:ext cx="654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Амплитуда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94222" name="Text Box 14"/>
              <p:cNvSpPr txBox="1">
                <a:spLocks noChangeArrowheads="1"/>
              </p:cNvSpPr>
              <p:nvPr/>
            </p:nvSpPr>
            <p:spPr bwMode="auto">
              <a:xfrm>
                <a:off x="4368" y="2976"/>
                <a:ext cx="426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Время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4" name="Group 34"/>
            <p:cNvGrpSpPr>
              <a:grpSpLocks/>
            </p:cNvGrpSpPr>
            <p:nvPr/>
          </p:nvGrpSpPr>
          <p:grpSpPr bwMode="auto">
            <a:xfrm>
              <a:off x="80970" y="2454285"/>
              <a:ext cx="5562600" cy="2333626"/>
              <a:chOff x="48" y="2832"/>
              <a:chExt cx="3504" cy="1470"/>
            </a:xfrm>
          </p:grpSpPr>
          <p:pic>
            <p:nvPicPr>
              <p:cNvPr id="94220" name="Picture 12" descr="sf2-b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8" y="2832"/>
                <a:ext cx="3504" cy="1402"/>
              </a:xfrm>
              <a:prstGeom prst="rect">
                <a:avLst/>
              </a:prstGeom>
              <a:noFill/>
            </p:spPr>
          </p:pic>
          <p:sp>
            <p:nvSpPr>
              <p:cNvPr id="94223" name="Text Box 15"/>
              <p:cNvSpPr txBox="1">
                <a:spLocks noChangeArrowheads="1"/>
              </p:cNvSpPr>
              <p:nvPr/>
            </p:nvSpPr>
            <p:spPr bwMode="auto">
              <a:xfrm>
                <a:off x="1559" y="4128"/>
                <a:ext cx="49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Частота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94224" name="Text Box 16"/>
              <p:cNvSpPr txBox="1">
                <a:spLocks noChangeArrowheads="1"/>
              </p:cNvSpPr>
              <p:nvPr/>
            </p:nvSpPr>
            <p:spPr bwMode="auto">
              <a:xfrm rot="16200000">
                <a:off x="-1" y="3363"/>
                <a:ext cx="654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Амплитуда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94225" name="Rectangle 17"/>
            <p:cNvSpPr>
              <a:spLocks noChangeArrowheads="1"/>
            </p:cNvSpPr>
            <p:nvPr/>
          </p:nvSpPr>
          <p:spPr bwMode="auto">
            <a:xfrm>
              <a:off x="4833498" y="5352764"/>
              <a:ext cx="4306885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just"/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Узкие окна дают хорошее разрешение по времени, но плохое разрешение по частоте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785783" y="785794"/>
            <a:ext cx="7196138" cy="884238"/>
            <a:chOff x="652463" y="152400"/>
            <a:chExt cx="7196138" cy="884238"/>
          </a:xfrm>
        </p:grpSpPr>
        <p:grpSp>
          <p:nvGrpSpPr>
            <p:cNvPr id="7" name="Group 29"/>
            <p:cNvGrpSpPr>
              <a:grpSpLocks/>
            </p:cNvGrpSpPr>
            <p:nvPr/>
          </p:nvGrpSpPr>
          <p:grpSpPr bwMode="auto">
            <a:xfrm>
              <a:off x="652463" y="152400"/>
              <a:ext cx="7196138" cy="884238"/>
              <a:chOff x="411" y="96"/>
              <a:chExt cx="4533" cy="557"/>
            </a:xfrm>
          </p:grpSpPr>
          <p:sp>
            <p:nvSpPr>
              <p:cNvPr id="94211" name="Text Box 3"/>
              <p:cNvSpPr txBox="1">
                <a:spLocks noChangeArrowheads="1"/>
              </p:cNvSpPr>
              <p:nvPr/>
            </p:nvSpPr>
            <p:spPr bwMode="auto">
              <a:xfrm>
                <a:off x="411" y="231"/>
                <a:ext cx="92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2000" dirty="0"/>
                  <a:t>Узкое окно</a:t>
                </a:r>
                <a:endParaRPr lang="en-US" sz="2000" dirty="0"/>
              </a:p>
            </p:txBody>
          </p:sp>
          <p:pic>
            <p:nvPicPr>
              <p:cNvPr id="94236" name="Picture 28" descr="non-st-si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752" y="96"/>
                <a:ext cx="3192" cy="557"/>
              </a:xfrm>
              <a:prstGeom prst="rect">
                <a:avLst/>
              </a:prstGeom>
              <a:noFill/>
            </p:spPr>
          </p:pic>
        </p:grpSp>
        <p:sp>
          <p:nvSpPr>
            <p:cNvPr id="94235" name="Freeform 27"/>
            <p:cNvSpPr>
              <a:spLocks/>
            </p:cNvSpPr>
            <p:nvPr/>
          </p:nvSpPr>
          <p:spPr bwMode="auto">
            <a:xfrm>
              <a:off x="2971800" y="152400"/>
              <a:ext cx="304800" cy="442913"/>
            </a:xfrm>
            <a:custGeom>
              <a:avLst/>
              <a:gdLst/>
              <a:ahLst/>
              <a:cxnLst>
                <a:cxn ang="0">
                  <a:pos x="0" y="769"/>
                </a:cxn>
                <a:cxn ang="0">
                  <a:pos x="170" y="590"/>
                </a:cxn>
                <a:cxn ang="0">
                  <a:pos x="336" y="1"/>
                </a:cxn>
                <a:cxn ang="0">
                  <a:pos x="493" y="599"/>
                </a:cxn>
                <a:cxn ang="0">
                  <a:pos x="633" y="773"/>
                </a:cxn>
                <a:cxn ang="0">
                  <a:pos x="0" y="769"/>
                </a:cxn>
              </a:cxnLst>
              <a:rect l="0" t="0" r="r" b="b"/>
              <a:pathLst>
                <a:path w="633" h="773">
                  <a:moveTo>
                    <a:pt x="0" y="769"/>
                  </a:moveTo>
                  <a:cubicBezTo>
                    <a:pt x="28" y="739"/>
                    <a:pt x="114" y="718"/>
                    <a:pt x="170" y="590"/>
                  </a:cubicBezTo>
                  <a:cubicBezTo>
                    <a:pt x="226" y="462"/>
                    <a:pt x="282" y="0"/>
                    <a:pt x="336" y="1"/>
                  </a:cubicBezTo>
                  <a:cubicBezTo>
                    <a:pt x="390" y="2"/>
                    <a:pt x="444" y="470"/>
                    <a:pt x="493" y="599"/>
                  </a:cubicBezTo>
                  <a:cubicBezTo>
                    <a:pt x="542" y="728"/>
                    <a:pt x="604" y="737"/>
                    <a:pt x="633" y="773"/>
                  </a:cubicBezTo>
                  <a:cubicBezTo>
                    <a:pt x="633" y="773"/>
                    <a:pt x="0" y="769"/>
                    <a:pt x="0" y="769"/>
                  </a:cubicBez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82B42884-932D-47CE-8449-67B482340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593825" y="1880645"/>
            <a:ext cx="5715000" cy="3627438"/>
            <a:chOff x="0" y="576"/>
            <a:chExt cx="3600" cy="2285"/>
          </a:xfrm>
        </p:grpSpPr>
        <p:pic>
          <p:nvPicPr>
            <p:cNvPr id="138254" name="Picture 14" descr="sf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576"/>
              <a:ext cx="3600" cy="2285"/>
            </a:xfrm>
            <a:prstGeom prst="rect">
              <a:avLst/>
            </a:prstGeom>
            <a:noFill/>
          </p:spPr>
        </p:pic>
        <p:sp>
          <p:nvSpPr>
            <p:cNvPr id="138245" name="Text Box 5"/>
            <p:cNvSpPr txBox="1">
              <a:spLocks noChangeArrowheads="1"/>
            </p:cNvSpPr>
            <p:nvPr/>
          </p:nvSpPr>
          <p:spPr bwMode="auto">
            <a:xfrm>
              <a:off x="2640" y="2424"/>
              <a:ext cx="42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ru-RU" sz="1200" b="1" dirty="0">
                  <a:solidFill>
                    <a:schemeClr val="hlink"/>
                  </a:solidFill>
                </a:rPr>
                <a:t>Время</a:t>
              </a:r>
              <a:endParaRPr lang="en-US" sz="1200" b="1" dirty="0">
                <a:solidFill>
                  <a:schemeClr val="hlink"/>
                </a:solidFill>
              </a:endParaRPr>
            </a:p>
          </p:txBody>
        </p:sp>
        <p:sp>
          <p:nvSpPr>
            <p:cNvPr id="138246" name="Text Box 6"/>
            <p:cNvSpPr txBox="1">
              <a:spLocks noChangeArrowheads="1"/>
            </p:cNvSpPr>
            <p:nvPr/>
          </p:nvSpPr>
          <p:spPr bwMode="auto">
            <a:xfrm>
              <a:off x="672" y="2424"/>
              <a:ext cx="49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ru-RU" sz="1200" b="1" dirty="0">
                  <a:solidFill>
                    <a:schemeClr val="hlink"/>
                  </a:solidFill>
                </a:rPr>
                <a:t>Частота</a:t>
              </a:r>
              <a:endParaRPr lang="en-US" sz="1200" b="1" dirty="0">
                <a:solidFill>
                  <a:schemeClr val="hlink"/>
                </a:solidFill>
              </a:endParaRPr>
            </a:p>
          </p:txBody>
        </p:sp>
        <p:sp>
          <p:nvSpPr>
            <p:cNvPr id="138247" name="Text Box 7"/>
            <p:cNvSpPr txBox="1">
              <a:spLocks noChangeArrowheads="1"/>
            </p:cNvSpPr>
            <p:nvPr/>
          </p:nvSpPr>
          <p:spPr bwMode="auto">
            <a:xfrm rot="16200000">
              <a:off x="-96" y="1621"/>
              <a:ext cx="654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ru-RU" sz="1200" b="1" dirty="0">
                  <a:solidFill>
                    <a:schemeClr val="hlink"/>
                  </a:solidFill>
                </a:rPr>
                <a:t>Амплитуда</a:t>
              </a:r>
              <a:endParaRPr lang="en-US" sz="12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15903" y="2322764"/>
            <a:ext cx="9006886" cy="3789521"/>
            <a:chOff x="23821" y="2285992"/>
            <a:chExt cx="9006886" cy="3789521"/>
          </a:xfrm>
        </p:grpSpPr>
        <p:grpSp>
          <p:nvGrpSpPr>
            <p:cNvPr id="3" name="Group 29"/>
            <p:cNvGrpSpPr>
              <a:grpSpLocks/>
            </p:cNvGrpSpPr>
            <p:nvPr/>
          </p:nvGrpSpPr>
          <p:grpSpPr bwMode="auto">
            <a:xfrm>
              <a:off x="5357818" y="2285992"/>
              <a:ext cx="3657600" cy="2943226"/>
              <a:chOff x="3456" y="1200"/>
              <a:chExt cx="2304" cy="1854"/>
            </a:xfrm>
          </p:grpSpPr>
          <p:pic>
            <p:nvPicPr>
              <p:cNvPr id="138255" name="Picture 15" descr="sf3-a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456" y="1200"/>
                <a:ext cx="2304" cy="1728"/>
              </a:xfrm>
              <a:prstGeom prst="rect">
                <a:avLst/>
              </a:prstGeom>
              <a:noFill/>
            </p:spPr>
          </p:pic>
          <p:sp>
            <p:nvSpPr>
              <p:cNvPr id="138250" name="Text Box 10"/>
              <p:cNvSpPr txBox="1">
                <a:spLocks noChangeArrowheads="1"/>
              </p:cNvSpPr>
              <p:nvPr/>
            </p:nvSpPr>
            <p:spPr bwMode="auto">
              <a:xfrm rot="16200000">
                <a:off x="3258" y="1843"/>
                <a:ext cx="654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Амплитуда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138251" name="Text Box 11"/>
              <p:cNvSpPr txBox="1">
                <a:spLocks noChangeArrowheads="1"/>
              </p:cNvSpPr>
              <p:nvPr/>
            </p:nvSpPr>
            <p:spPr bwMode="auto">
              <a:xfrm>
                <a:off x="4416" y="2880"/>
                <a:ext cx="426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Время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4" name="Group 30"/>
            <p:cNvGrpSpPr>
              <a:grpSpLocks/>
            </p:cNvGrpSpPr>
            <p:nvPr/>
          </p:nvGrpSpPr>
          <p:grpSpPr bwMode="auto">
            <a:xfrm>
              <a:off x="23821" y="2363761"/>
              <a:ext cx="5715000" cy="2568576"/>
              <a:chOff x="63" y="2684"/>
              <a:chExt cx="3600" cy="1618"/>
            </a:xfrm>
          </p:grpSpPr>
          <p:pic>
            <p:nvPicPr>
              <p:cNvPr id="138256" name="Picture 16" descr="sf3-b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3" y="2684"/>
                <a:ext cx="3600" cy="1536"/>
              </a:xfrm>
              <a:prstGeom prst="rect">
                <a:avLst/>
              </a:prstGeom>
              <a:noFill/>
            </p:spPr>
          </p:pic>
          <p:sp>
            <p:nvSpPr>
              <p:cNvPr id="138252" name="Text Box 12"/>
              <p:cNvSpPr txBox="1">
                <a:spLocks noChangeArrowheads="1"/>
              </p:cNvSpPr>
              <p:nvPr/>
            </p:nvSpPr>
            <p:spPr bwMode="auto">
              <a:xfrm>
                <a:off x="1559" y="4128"/>
                <a:ext cx="49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Частота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138253" name="Text Box 13"/>
              <p:cNvSpPr txBox="1">
                <a:spLocks noChangeArrowheads="1"/>
              </p:cNvSpPr>
              <p:nvPr/>
            </p:nvSpPr>
            <p:spPr bwMode="auto">
              <a:xfrm rot="16200000">
                <a:off x="0" y="3363"/>
                <a:ext cx="654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1200" b="1" dirty="0">
                    <a:solidFill>
                      <a:schemeClr val="hlink"/>
                    </a:solidFill>
                  </a:rPr>
                  <a:t>Амплитуда</a:t>
                </a:r>
                <a:endParaRPr lang="en-US" sz="1200" b="1" dirty="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138257" name="Rectangle 17"/>
            <p:cNvSpPr>
              <a:spLocks noChangeArrowheads="1"/>
            </p:cNvSpPr>
            <p:nvPr/>
          </p:nvSpPr>
          <p:spPr bwMode="auto">
            <a:xfrm>
              <a:off x="3907329" y="5367627"/>
              <a:ext cx="5123378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just"/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Широкие окна дают хорошее разрешение по частоте, но плохое разрешение по времени.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785813" y="758812"/>
            <a:ext cx="7062788" cy="884238"/>
            <a:chOff x="785813" y="152400"/>
            <a:chExt cx="7062788" cy="884238"/>
          </a:xfrm>
        </p:grpSpPr>
        <p:grpSp>
          <p:nvGrpSpPr>
            <p:cNvPr id="7" name="Group 27"/>
            <p:cNvGrpSpPr>
              <a:grpSpLocks/>
            </p:cNvGrpSpPr>
            <p:nvPr/>
          </p:nvGrpSpPr>
          <p:grpSpPr bwMode="auto">
            <a:xfrm>
              <a:off x="785813" y="152400"/>
              <a:ext cx="7062788" cy="884238"/>
              <a:chOff x="495" y="96"/>
              <a:chExt cx="4449" cy="557"/>
            </a:xfrm>
          </p:grpSpPr>
          <p:sp>
            <p:nvSpPr>
              <p:cNvPr id="138244" name="Text Box 4"/>
              <p:cNvSpPr txBox="1">
                <a:spLocks noChangeArrowheads="1"/>
              </p:cNvSpPr>
              <p:nvPr/>
            </p:nvSpPr>
            <p:spPr bwMode="auto">
              <a:xfrm>
                <a:off x="495" y="248"/>
                <a:ext cx="121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ru-RU" sz="2000" dirty="0"/>
                  <a:t>Широкое окно </a:t>
                </a:r>
                <a:endParaRPr lang="en-US" sz="2000" dirty="0"/>
              </a:p>
            </p:txBody>
          </p:sp>
          <p:pic>
            <p:nvPicPr>
              <p:cNvPr id="138265" name="Picture 25" descr="non-st-si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752" y="96"/>
                <a:ext cx="3192" cy="557"/>
              </a:xfrm>
              <a:prstGeom prst="rect">
                <a:avLst/>
              </a:prstGeom>
              <a:noFill/>
            </p:spPr>
          </p:pic>
        </p:grpSp>
        <p:sp>
          <p:nvSpPr>
            <p:cNvPr id="138266" name="Freeform 26"/>
            <p:cNvSpPr>
              <a:spLocks/>
            </p:cNvSpPr>
            <p:nvPr/>
          </p:nvSpPr>
          <p:spPr bwMode="auto">
            <a:xfrm>
              <a:off x="2971800" y="152400"/>
              <a:ext cx="1447800" cy="442913"/>
            </a:xfrm>
            <a:custGeom>
              <a:avLst/>
              <a:gdLst/>
              <a:ahLst/>
              <a:cxnLst>
                <a:cxn ang="0">
                  <a:pos x="0" y="769"/>
                </a:cxn>
                <a:cxn ang="0">
                  <a:pos x="170" y="590"/>
                </a:cxn>
                <a:cxn ang="0">
                  <a:pos x="336" y="1"/>
                </a:cxn>
                <a:cxn ang="0">
                  <a:pos x="493" y="599"/>
                </a:cxn>
                <a:cxn ang="0">
                  <a:pos x="633" y="773"/>
                </a:cxn>
                <a:cxn ang="0">
                  <a:pos x="0" y="769"/>
                </a:cxn>
              </a:cxnLst>
              <a:rect l="0" t="0" r="r" b="b"/>
              <a:pathLst>
                <a:path w="633" h="773">
                  <a:moveTo>
                    <a:pt x="0" y="769"/>
                  </a:moveTo>
                  <a:cubicBezTo>
                    <a:pt x="28" y="739"/>
                    <a:pt x="114" y="718"/>
                    <a:pt x="170" y="590"/>
                  </a:cubicBezTo>
                  <a:cubicBezTo>
                    <a:pt x="226" y="462"/>
                    <a:pt x="282" y="0"/>
                    <a:pt x="336" y="1"/>
                  </a:cubicBezTo>
                  <a:cubicBezTo>
                    <a:pt x="390" y="2"/>
                    <a:pt x="444" y="470"/>
                    <a:pt x="493" y="599"/>
                  </a:cubicBezTo>
                  <a:cubicBezTo>
                    <a:pt x="542" y="728"/>
                    <a:pt x="604" y="737"/>
                    <a:pt x="633" y="773"/>
                  </a:cubicBezTo>
                  <a:cubicBezTo>
                    <a:pt x="633" y="773"/>
                    <a:pt x="0" y="769"/>
                    <a:pt x="0" y="769"/>
                  </a:cubicBez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34AA7E75-50BF-4BF4-9675-A196503FF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Кратковременное (оконное) ПФ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254029" y="1997839"/>
            <a:ext cx="6635943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10000"/>
              </a:spcBef>
            </a:pPr>
            <a:r>
              <a:rPr lang="ru-RU" sz="6000" b="1" dirty="0">
                <a:solidFill>
                  <a:srgbClr val="C00000"/>
                </a:solidFill>
              </a:rPr>
              <a:t>Непрерывное вейвлет-преобразование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D0C8E6B-5D90-4CA6-8BC0-1A76949A1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Определение вейвлета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4A7976-82A6-4A05-BDB5-D5B000374D53}"/>
                  </a:ext>
                </a:extLst>
              </p:cNvPr>
              <p:cNvSpPr txBox="1"/>
              <p:nvPr/>
            </p:nvSpPr>
            <p:spPr>
              <a:xfrm>
                <a:off x="251520" y="764704"/>
                <a:ext cx="8640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</a:t>
                </a:r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удовлетворяющая условиям: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4A7976-82A6-4A05-BDB5-D5B000374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8640960" cy="461665"/>
              </a:xfrm>
              <a:prstGeom prst="rect">
                <a:avLst/>
              </a:prstGeom>
              <a:blipFill>
                <a:blip r:embed="rId3"/>
                <a:stretch>
                  <a:fillRect l="-1058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F32BD3DE-BC0B-4713-8D05-0D6FE96D9364}"/>
                  </a:ext>
                </a:extLst>
              </p:cNvPr>
              <p:cNvSpPr txBox="1"/>
              <p:nvPr/>
            </p:nvSpPr>
            <p:spPr bwMode="auto">
              <a:xfrm>
                <a:off x="611560" y="1370465"/>
                <a:ext cx="2562225" cy="5492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,||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||=1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F32BD3DE-BC0B-4713-8D05-0D6FE96D9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370465"/>
                <a:ext cx="2562225" cy="549275"/>
              </a:xfrm>
              <a:prstGeom prst="rect">
                <a:avLst/>
              </a:prstGeom>
              <a:blipFill>
                <a:blip r:embed="rId4"/>
                <a:stretch>
                  <a:fillRect l="-1900" b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C3BA24-DB38-4AED-9B2D-BD61C4A61623}"/>
                  </a:ext>
                </a:extLst>
              </p:cNvPr>
              <p:cNvSpPr txBox="1"/>
              <p:nvPr/>
            </p:nvSpPr>
            <p:spPr>
              <a:xfrm>
                <a:off x="611560" y="2204864"/>
                <a:ext cx="4572000" cy="1071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𝑑𝑎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(∗)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C3BA24-DB38-4AED-9B2D-BD61C4A61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204864"/>
                <a:ext cx="4572000" cy="1071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0CA1A59B-47C7-4C1E-9EF1-74BB4E96E45C}"/>
                  </a:ext>
                </a:extLst>
              </p:cNvPr>
              <p:cNvSpPr txBox="1"/>
              <p:nvPr/>
            </p:nvSpPr>
            <p:spPr bwMode="auto">
              <a:xfrm>
                <a:off x="7452320" y="1370465"/>
                <a:ext cx="1828800" cy="5492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\{0}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0CA1A59B-47C7-4C1E-9EF1-74BB4E96E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2320" y="1370465"/>
                <a:ext cx="1828800" cy="549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2">
                <a:extLst>
                  <a:ext uri="{FF2B5EF4-FFF2-40B4-BE49-F238E27FC236}">
                    <a16:creationId xmlns:a16="http://schemas.microsoft.com/office/drawing/2014/main" id="{1CB1115A-8DA1-4236-9EC7-36007E591FC7}"/>
                  </a:ext>
                </a:extLst>
              </p:cNvPr>
              <p:cNvSpPr txBox="1"/>
              <p:nvPr/>
            </p:nvSpPr>
            <p:spPr bwMode="auto">
              <a:xfrm>
                <a:off x="7401520" y="2067377"/>
                <a:ext cx="1919288" cy="5794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Object 22">
                <a:extLst>
                  <a:ext uri="{FF2B5EF4-FFF2-40B4-BE49-F238E27FC236}">
                    <a16:creationId xmlns:a16="http://schemas.microsoft.com/office/drawing/2014/main" id="{1CB1115A-8DA1-4236-9EC7-36007E591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1520" y="2067377"/>
                <a:ext cx="1919288" cy="5794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4C0EA47-41B2-48F1-B0C5-564C6C5075F6}"/>
              </a:ext>
            </a:extLst>
          </p:cNvPr>
          <p:cNvSpPr txBox="1"/>
          <p:nvPr/>
        </p:nvSpPr>
        <p:spPr>
          <a:xfrm>
            <a:off x="251520" y="3351177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вейвлетом.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604B7FE-5D53-4365-B33C-CC18A8BCE86E}"/>
              </a:ext>
            </a:extLst>
          </p:cNvPr>
          <p:cNvGrpSpPr/>
          <p:nvPr/>
        </p:nvGrpSpPr>
        <p:grpSpPr>
          <a:xfrm>
            <a:off x="251520" y="4086317"/>
            <a:ext cx="8640960" cy="2094547"/>
            <a:chOff x="251520" y="4086317"/>
            <a:chExt cx="8640960" cy="209454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E9E9CA-4102-4AB5-B64F-0C9E75185CA2}"/>
                </a:ext>
              </a:extLst>
            </p:cNvPr>
            <p:cNvSpPr txBox="1"/>
            <p:nvPr/>
          </p:nvSpPr>
          <p:spPr>
            <a:xfrm>
              <a:off x="603097" y="4086317"/>
              <a:ext cx="22145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/>
              <a:r>
                <a:rPr lang="ru-RU" sz="2200" b="1" i="1" dirty="0">
                  <a:solidFill>
                    <a:srgbClr val="0000FF"/>
                  </a:solidFill>
                </a:rPr>
                <a:t>Лемма</a:t>
              </a:r>
              <a:r>
                <a:rPr lang="en-US" sz="2200" b="1" i="1" dirty="0">
                  <a:solidFill>
                    <a:srgbClr val="0000FF"/>
                  </a:solidFill>
                </a:rPr>
                <a:t> 1:</a:t>
              </a:r>
              <a:endParaRPr lang="ru-RU" sz="2200" b="1" i="1" dirty="0">
                <a:solidFill>
                  <a:srgbClr val="0000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0029AE-5559-4517-984A-0B3C2B789E90}"/>
                    </a:ext>
                  </a:extLst>
                </p:cNvPr>
                <p:cNvSpPr txBox="1"/>
                <p:nvPr/>
              </p:nvSpPr>
              <p:spPr>
                <a:xfrm>
                  <a:off x="251520" y="4548460"/>
                  <a:ext cx="8640960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Для функций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удовлетворяющих условию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условие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(∗)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эквивалентно следующему: 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0029AE-5559-4517-984A-0B3C2B78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4548460"/>
                  <a:ext cx="8640960" cy="830997"/>
                </a:xfrm>
                <a:prstGeom prst="rect">
                  <a:avLst/>
                </a:prstGeom>
                <a:blipFill>
                  <a:blip r:embed="rId8"/>
                  <a:stretch>
                    <a:fillRect l="-1058" t="-5882" b="-16176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Object 24">
                  <a:extLst>
                    <a:ext uri="{FF2B5EF4-FFF2-40B4-BE49-F238E27FC236}">
                      <a16:creationId xmlns:a16="http://schemas.microsoft.com/office/drawing/2014/main" id="{CB4B84C7-06C3-44AA-A926-CD7F64D0CBE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21284064"/>
                    </p:ext>
                  </p:extLst>
                </p:nvPr>
              </p:nvGraphicFramePr>
              <p:xfrm>
                <a:off x="2987824" y="5509352"/>
                <a:ext cx="2897187" cy="6715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9" imgW="1206360" imgH="279360" progId="Equation.DSMT4">
                        <p:embed/>
                      </p:oleObj>
                    </mc:Choice>
                    <mc:Fallback>
                      <p:oleObj name="Equation" r:id="rId9" imgW="1206360" imgH="279360" progId="Equation.DSMT4">
                        <p:embed/>
                        <p:pic>
                          <p:nvPicPr>
                            <p:cNvPr id="92184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87824" y="5509352"/>
                              <a:ext cx="2897187" cy="67151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6" name="Object 24">
                  <a:extLst>
                    <a:ext uri="{FF2B5EF4-FFF2-40B4-BE49-F238E27FC236}">
                      <a16:creationId xmlns:a16="http://schemas.microsoft.com/office/drawing/2014/main" id="{CB4B84C7-06C3-44AA-A926-CD7F64D0CBE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21284064"/>
                    </p:ext>
                  </p:extLst>
                </p:nvPr>
              </p:nvGraphicFramePr>
              <p:xfrm>
                <a:off x="2987824" y="5509352"/>
                <a:ext cx="2897187" cy="6715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6420" name="Equation" r:id="rId11" imgW="1206360" imgH="279360" progId="Equation.DSMT4">
                        <p:embed/>
                      </p:oleObj>
                    </mc:Choice>
                    <mc:Fallback>
                      <p:oleObj name="Equation" r:id="rId11" imgW="1206360" imgH="279360" progId="Equation.DSMT4">
                        <p:embed/>
                        <p:pic>
                          <p:nvPicPr>
                            <p:cNvPr id="92184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87824" y="5509352"/>
                              <a:ext cx="2897187" cy="67151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331274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F7B665-BAD9-4D49-B948-07E4EB195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Определение вейвлета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7C349-F3A8-4BEB-900F-04C4A62ACF3D}"/>
              </a:ext>
            </a:extLst>
          </p:cNvPr>
          <p:cNvSpPr txBox="1"/>
          <p:nvPr/>
        </p:nvSpPr>
        <p:spPr>
          <a:xfrm>
            <a:off x="432092" y="796886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Доказательство: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4CE264-EF4D-4409-BB86-2765113CC280}"/>
                  </a:ext>
                </a:extLst>
              </p:cNvPr>
              <p:cNvSpPr txBox="1"/>
              <p:nvPr/>
            </p:nvSpPr>
            <p:spPr>
              <a:xfrm>
                <a:off x="179512" y="1412776"/>
                <a:ext cx="11338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4CE264-EF4D-4409-BB86-2765113CC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412776"/>
                <a:ext cx="1133872" cy="461665"/>
              </a:xfrm>
              <a:prstGeom prst="rect">
                <a:avLst/>
              </a:prstGeom>
              <a:blipFill>
                <a:blip r:embed="rId2"/>
                <a:stretch>
                  <a:fillRect l="-1075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4155D1-8440-451D-A0B9-B2A89F68F1D1}"/>
                  </a:ext>
                </a:extLst>
              </p:cNvPr>
              <p:cNvSpPr txBox="1"/>
              <p:nvPr/>
            </p:nvSpPr>
            <p:spPr>
              <a:xfrm>
                <a:off x="2267744" y="1241808"/>
                <a:ext cx="3019096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d>
                        <m:d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4155D1-8440-451D-A0B9-B2A89F68F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1241808"/>
                <a:ext cx="3019096" cy="968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9C8B80-26B7-46AC-A48F-AA03D82F9F4B}"/>
                  </a:ext>
                </a:extLst>
              </p:cNvPr>
              <p:cNvSpPr txBox="1"/>
              <p:nvPr/>
            </p:nvSpPr>
            <p:spPr>
              <a:xfrm>
                <a:off x="395536" y="2286551"/>
                <a:ext cx="4128499" cy="477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ПФ функции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acc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непрерывно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9C8B80-26B7-46AC-A48F-AA03D82F9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286551"/>
                <a:ext cx="4128499" cy="477118"/>
              </a:xfrm>
              <a:prstGeom prst="rect">
                <a:avLst/>
              </a:prstGeom>
              <a:blipFill>
                <a:blip r:embed="rId4"/>
                <a:stretch>
                  <a:fillRect l="-2363" t="-6410" r="-591" b="-294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B6DD2E-BAC1-4DCF-93D3-15750F87CEB7}"/>
                  </a:ext>
                </a:extLst>
              </p:cNvPr>
              <p:cNvSpPr txBox="1"/>
              <p:nvPr/>
            </p:nvSpPr>
            <p:spPr>
              <a:xfrm>
                <a:off x="5460469" y="2101885"/>
                <a:ext cx="5256584" cy="846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интеграл </a:t>
                </a:r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(∗)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сходится </a:t>
                </a:r>
                <a:b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acc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B6DD2E-BAC1-4DCF-93D3-15750F87C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469" y="2101885"/>
                <a:ext cx="5256584" cy="846450"/>
              </a:xfrm>
              <a:prstGeom prst="rect">
                <a:avLst/>
              </a:prstGeom>
              <a:blipFill>
                <a:blip r:embed="rId5"/>
                <a:stretch>
                  <a:fillRect l="-1856" t="-5755" b="-158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B959044-62BE-4699-B747-8774637D5979}"/>
              </a:ext>
            </a:extLst>
          </p:cNvPr>
          <p:cNvCxnSpPr/>
          <p:nvPr/>
        </p:nvCxnSpPr>
        <p:spPr>
          <a:xfrm>
            <a:off x="1440603" y="1698987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5562B181-438C-404E-9530-1FB5E89DC6EB}"/>
              </a:ext>
            </a:extLst>
          </p:cNvPr>
          <p:cNvCxnSpPr>
            <a:cxnSpLocks/>
          </p:cNvCxnSpPr>
          <p:nvPr/>
        </p:nvCxnSpPr>
        <p:spPr>
          <a:xfrm>
            <a:off x="4494752" y="2567450"/>
            <a:ext cx="792088" cy="0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CF919E-E467-400C-A12C-49FC10E3765C}"/>
                  </a:ext>
                </a:extLst>
              </p:cNvPr>
              <p:cNvSpPr txBox="1"/>
              <p:nvPr/>
            </p:nvSpPr>
            <p:spPr>
              <a:xfrm>
                <a:off x="179512" y="3330004"/>
                <a:ext cx="13681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CF919E-E467-400C-A12C-49FC10E37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330004"/>
                <a:ext cx="1368152" cy="461665"/>
              </a:xfrm>
              <a:prstGeom prst="rect">
                <a:avLst/>
              </a:prstGeom>
              <a:blipFill>
                <a:blip r:embed="rId6"/>
                <a:stretch>
                  <a:fillRect l="-3556" b="-184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C8ECD022-B0DC-4510-83AB-17F56F0F96F5}"/>
              </a:ext>
            </a:extLst>
          </p:cNvPr>
          <p:cNvCxnSpPr/>
          <p:nvPr/>
        </p:nvCxnSpPr>
        <p:spPr>
          <a:xfrm>
            <a:off x="1440603" y="3559248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98F632-4ECB-4AF3-BA76-ED51AFDBBDE5}"/>
                  </a:ext>
                </a:extLst>
              </p:cNvPr>
              <p:cNvSpPr txBox="1"/>
              <p:nvPr/>
            </p:nvSpPr>
            <p:spPr>
              <a:xfrm>
                <a:off x="2267744" y="3330004"/>
                <a:ext cx="11521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ru-RU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98F632-4ECB-4AF3-BA76-ED51AFDBB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3330004"/>
                <a:ext cx="1152128" cy="461665"/>
              </a:xfrm>
              <a:prstGeom prst="rect">
                <a:avLst/>
              </a:prstGeom>
              <a:blipFill>
                <a:blip r:embed="rId7"/>
                <a:stretch>
                  <a:fillRect l="-4233" b="-184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5EB8EA-BF10-4BDF-87F8-15BFA8831C93}"/>
                  </a:ext>
                </a:extLst>
              </p:cNvPr>
              <p:cNvSpPr txBox="1"/>
              <p:nvPr/>
            </p:nvSpPr>
            <p:spPr>
              <a:xfrm>
                <a:off x="5286840" y="3374824"/>
                <a:ext cx="3607141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5EB8EA-BF10-4BDF-87F8-15BFA8831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840" y="3374824"/>
                <a:ext cx="3607141" cy="4168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2C02E51-4B8F-4AC2-B30A-BB9580407A89}"/>
              </a:ext>
            </a:extLst>
          </p:cNvPr>
          <p:cNvSpPr txBox="1"/>
          <p:nvPr/>
        </p:nvSpPr>
        <p:spPr>
          <a:xfrm>
            <a:off x="4355976" y="3349645"/>
            <a:ext cx="3486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E2CF19-3E69-41BD-9BC0-2A5A35F6FCF2}"/>
                  </a:ext>
                </a:extLst>
              </p:cNvPr>
              <p:cNvSpPr txBox="1"/>
              <p:nvPr/>
            </p:nvSpPr>
            <p:spPr>
              <a:xfrm>
                <a:off x="179512" y="4664762"/>
                <a:ext cx="5359078" cy="477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</m:acc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E2CF19-3E69-41BD-9BC0-2A5A35F6F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664762"/>
                <a:ext cx="5359078" cy="477118"/>
              </a:xfrm>
              <a:prstGeom prst="rect">
                <a:avLst/>
              </a:prstGeom>
              <a:blipFill>
                <a:blip r:embed="rId9"/>
                <a:stretch>
                  <a:fillRect l="-1705" t="-6410" b="-294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B20A90A-0959-4DCB-BCE5-E9360882FDB0}"/>
              </a:ext>
            </a:extLst>
          </p:cNvPr>
          <p:cNvCxnSpPr/>
          <p:nvPr/>
        </p:nvCxnSpPr>
        <p:spPr>
          <a:xfrm>
            <a:off x="2442026" y="4903321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7F18D1-62F2-4245-8754-86B3E840EEE6}"/>
                  </a:ext>
                </a:extLst>
              </p:cNvPr>
              <p:cNvSpPr txBox="1"/>
              <p:nvPr/>
            </p:nvSpPr>
            <p:spPr>
              <a:xfrm>
                <a:off x="1844496" y="4606889"/>
                <a:ext cx="5359078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7F18D1-62F2-4245-8754-86B3E840E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96" y="4606889"/>
                <a:ext cx="5359078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C6E25CAD-8408-4BEF-898C-917EFE017B65}"/>
              </a:ext>
            </a:extLst>
          </p:cNvPr>
          <p:cNvCxnSpPr/>
          <p:nvPr/>
        </p:nvCxnSpPr>
        <p:spPr>
          <a:xfrm>
            <a:off x="5940152" y="4919432"/>
            <a:ext cx="642942" cy="1588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95DD7FC-8C54-4B45-AD06-33E3C5FF37AD}"/>
              </a:ext>
            </a:extLst>
          </p:cNvPr>
          <p:cNvSpPr txBox="1"/>
          <p:nvPr/>
        </p:nvSpPr>
        <p:spPr>
          <a:xfrm>
            <a:off x="5286840" y="5454426"/>
            <a:ext cx="4128499" cy="477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Получаем нужную оценку </a:t>
            </a:r>
          </a:p>
        </p:txBody>
      </p:sp>
    </p:spTree>
    <p:extLst>
      <p:ext uri="{BB962C8B-B14F-4D97-AF65-F5344CB8AC3E}">
        <p14:creationId xmlns:p14="http://schemas.microsoft.com/office/powerpoint/2010/main" val="3994006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9994" name="Object 10"/>
              <p:cNvSpPr txBox="1"/>
              <p:nvPr/>
            </p:nvSpPr>
            <p:spPr bwMode="auto">
              <a:xfrm>
                <a:off x="1414463" y="714375"/>
                <a:ext cx="6315075" cy="106838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bar>
                            <m:barPr>
                              <m:pos m:val="top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</m:ba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ru-RU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≠0)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999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4463" y="714375"/>
                <a:ext cx="6315075" cy="10683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995" name="Object 11"/>
              <p:cNvSpPr txBox="1"/>
              <p:nvPr/>
            </p:nvSpPr>
            <p:spPr bwMode="auto">
              <a:xfrm>
                <a:off x="844536" y="1943106"/>
                <a:ext cx="7454928" cy="52863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ru-RU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Область определения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ru-RU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99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536" y="1943106"/>
                <a:ext cx="7454928" cy="528638"/>
              </a:xfrm>
              <a:prstGeom prst="rect">
                <a:avLst/>
              </a:prstGeom>
              <a:blipFill>
                <a:blip r:embed="rId3"/>
                <a:stretch>
                  <a:fillRect l="-1309" t="-9302" b="-13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Группа 20"/>
          <p:cNvGrpSpPr/>
          <p:nvPr/>
        </p:nvGrpSpPr>
        <p:grpSpPr>
          <a:xfrm>
            <a:off x="611560" y="5715016"/>
            <a:ext cx="6624414" cy="813329"/>
            <a:chOff x="601707" y="5715016"/>
            <a:chExt cx="4996228" cy="813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997" name="Object 13"/>
                <p:cNvSpPr txBox="1"/>
                <p:nvPr/>
              </p:nvSpPr>
              <p:spPr bwMode="auto">
                <a:xfrm>
                  <a:off x="2393919" y="5715016"/>
                  <a:ext cx="3204016" cy="55403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||=||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||=||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||=1</m:t>
                        </m:r>
                      </m:oMath>
                    </m:oMathPara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6999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93919" y="5715016"/>
                  <a:ext cx="3204016" cy="554038"/>
                </a:xfrm>
                <a:prstGeom prst="rect">
                  <a:avLst/>
                </a:prstGeom>
                <a:blipFill>
                  <a:blip r:embed="rId4"/>
                  <a:stretch>
                    <a:fillRect l="-114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/>
            <p:cNvSpPr txBox="1"/>
            <p:nvPr/>
          </p:nvSpPr>
          <p:spPr>
            <a:xfrm>
              <a:off x="601707" y="5758904"/>
              <a:ext cx="22145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/>
              <a:r>
                <a:rPr lang="ru-RU" sz="2200" b="1" i="1" dirty="0">
                  <a:solidFill>
                    <a:srgbClr val="0000FF"/>
                  </a:solidFill>
                </a:rPr>
                <a:t>Упражнение</a:t>
              </a:r>
              <a:r>
                <a:rPr lang="en-US" sz="2200" b="1" i="1" dirty="0">
                  <a:solidFill>
                    <a:srgbClr val="0000FF"/>
                  </a:solidFill>
                </a:rPr>
                <a:t> 1:</a:t>
              </a:r>
              <a:endParaRPr lang="ru-RU" sz="2200" b="1" i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D8ED9A94-9D67-4736-A976-41AA46173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05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Вейвлет-преобразование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EFA982-D891-42C2-B19C-CE3CB3C2AF70}"/>
              </a:ext>
            </a:extLst>
          </p:cNvPr>
          <p:cNvGrpSpPr/>
          <p:nvPr/>
        </p:nvGrpSpPr>
        <p:grpSpPr>
          <a:xfrm>
            <a:off x="215516" y="2443961"/>
            <a:ext cx="8876188" cy="3056741"/>
            <a:chOff x="215516" y="2443961"/>
            <a:chExt cx="8876188" cy="3056741"/>
          </a:xfrm>
        </p:grpSpPr>
        <p:grpSp>
          <p:nvGrpSpPr>
            <p:cNvPr id="20" name="Группа 19"/>
            <p:cNvGrpSpPr/>
            <p:nvPr/>
          </p:nvGrpSpPr>
          <p:grpSpPr>
            <a:xfrm>
              <a:off x="215516" y="2443961"/>
              <a:ext cx="8712967" cy="3056741"/>
              <a:chOff x="215516" y="2443961"/>
              <a:chExt cx="8712967" cy="30567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996" name="Object 12"/>
                  <p:cNvSpPr txBox="1"/>
                  <p:nvPr/>
                </p:nvSpPr>
                <p:spPr bwMode="auto">
                  <a:xfrm>
                    <a:off x="215516" y="2443961"/>
                    <a:ext cx="8712967" cy="960438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ru-RU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ru-RU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ru-RU" sz="2400" dirty="0"/>
                  </a:p>
                </p:txBody>
              </p:sp>
            </mc:Choice>
            <mc:Fallback xmlns="">
              <p:sp>
                <p:nvSpPr>
                  <p:cNvPr id="169996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15516" y="2443961"/>
                    <a:ext cx="8712967" cy="96043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69998" name="Picture 14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642535" y="3500438"/>
                <a:ext cx="5858931" cy="2000264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 lim="800000"/>
                <a:headEnd/>
                <a:tailEnd/>
              </a:ln>
              <a:effectLst/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F70D30-B713-4B11-B002-77FC562033FB}"/>
                </a:ext>
              </a:extLst>
            </p:cNvPr>
            <p:cNvSpPr txBox="1"/>
            <p:nvPr/>
          </p:nvSpPr>
          <p:spPr>
            <a:xfrm>
              <a:off x="395536" y="3404399"/>
              <a:ext cx="1440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Растяжение  </a:t>
              </a:r>
              <a:endParaRPr lang="ru-RU" dirty="0"/>
            </a:p>
          </p:txBody>
        </p: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71F6B526-3565-486E-98B6-FBB7FC44CE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8163" y="2996952"/>
              <a:ext cx="594372" cy="455468"/>
            </a:xfrm>
            <a:prstGeom prst="straightConnector1">
              <a:avLst/>
            </a:prstGeom>
            <a:ln w="28575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FE0FB0-5BCA-4BB7-B392-B9B2D295C30E}"/>
                </a:ext>
              </a:extLst>
            </p:cNvPr>
            <p:cNvSpPr txBox="1"/>
            <p:nvPr/>
          </p:nvSpPr>
          <p:spPr>
            <a:xfrm>
              <a:off x="7350772" y="3282950"/>
              <a:ext cx="174093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Сдвиг по временной оси </a:t>
              </a:r>
              <a:endParaRPr lang="ru-RU" dirty="0"/>
            </a:p>
          </p:txBody>
        </p: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7948FA11-ECC6-4B40-B158-FCBD20207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52320" y="2972599"/>
              <a:ext cx="617026" cy="367497"/>
            </a:xfrm>
            <a:prstGeom prst="straightConnector1">
              <a:avLst/>
            </a:prstGeom>
            <a:ln w="28575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Расширения и сдвиги</a:t>
            </a:r>
          </a:p>
        </p:txBody>
      </p:sp>
      <p:pic>
        <p:nvPicPr>
          <p:cNvPr id="17101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714356"/>
            <a:ext cx="5668973" cy="4215203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7101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496" y="3912318"/>
            <a:ext cx="4857784" cy="2374202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214282" y="4429132"/>
            <a:ext cx="571504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</a:t>
            </a:r>
          </a:p>
        </p:txBody>
      </p:sp>
      <p:grpSp>
        <p:nvGrpSpPr>
          <p:cNvPr id="23" name="Группа 22"/>
          <p:cNvGrpSpPr/>
          <p:nvPr/>
        </p:nvGrpSpPr>
        <p:grpSpPr>
          <a:xfrm>
            <a:off x="500063" y="1357313"/>
            <a:ext cx="6736232" cy="1069975"/>
            <a:chOff x="500063" y="1357313"/>
            <a:chExt cx="6736232" cy="1069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994" name="Object 10"/>
                <p:cNvSpPr txBox="1"/>
                <p:nvPr/>
              </p:nvSpPr>
              <p:spPr bwMode="auto">
                <a:xfrm>
                  <a:off x="500063" y="1357313"/>
                  <a:ext cx="6376987" cy="577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r>
                    <a:rPr lang="ru-RU" sz="2400" i="0" dirty="0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a:t> </a:t>
                  </a:r>
                  <a:r>
                    <a:rPr lang="ru-RU" sz="2400" i="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равномерно ограничен на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6999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0063" y="1357313"/>
                  <a:ext cx="6376987" cy="577850"/>
                </a:xfrm>
                <a:prstGeom prst="rect">
                  <a:avLst/>
                </a:prstGeom>
                <a:blipFill>
                  <a:blip r:embed="rId2"/>
                  <a:stretch>
                    <a:fillRect l="-191" t="-8511" b="-425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38" name="Object 6"/>
                <p:cNvSpPr txBox="1"/>
                <p:nvPr/>
              </p:nvSpPr>
              <p:spPr bwMode="auto">
                <a:xfrm>
                  <a:off x="2257424" y="1897063"/>
                  <a:ext cx="4978871" cy="530225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)|≤||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||⋅||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||≤||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</m:oMath>
                    </m:oMathPara>
                  </a14:m>
                  <a:endParaRPr lang="ru-RU" sz="2400" dirty="0"/>
                </a:p>
              </p:txBody>
            </p:sp>
          </mc:Choice>
          <mc:Fallback xmlns="">
            <p:sp>
              <p:nvSpPr>
                <p:cNvPr id="17203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7424" y="1897063"/>
                  <a:ext cx="4978871" cy="530225"/>
                </a:xfrm>
                <a:prstGeom prst="rect">
                  <a:avLst/>
                </a:prstGeom>
                <a:blipFill>
                  <a:blip r:embed="rId3"/>
                  <a:stretch>
                    <a:fillRect l="-979" b="-344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2039" name="Object 7"/>
              <p:cNvSpPr txBox="1"/>
              <p:nvPr/>
            </p:nvSpPr>
            <p:spPr bwMode="auto">
              <a:xfrm>
                <a:off x="522288" y="714375"/>
                <a:ext cx="3617664" cy="577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203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288" y="714375"/>
                <a:ext cx="3617664" cy="5778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Группа 25"/>
          <p:cNvGrpSpPr/>
          <p:nvPr/>
        </p:nvGrpSpPr>
        <p:grpSpPr>
          <a:xfrm>
            <a:off x="215516" y="2500313"/>
            <a:ext cx="8712968" cy="1914525"/>
            <a:chOff x="215516" y="2500313"/>
            <a:chExt cx="8712968" cy="1914525"/>
          </a:xfrm>
        </p:grpSpPr>
        <p:cxnSp>
          <p:nvCxnSpPr>
            <p:cNvPr id="16" name="Прямая со стрелкой 15"/>
            <p:cNvCxnSpPr/>
            <p:nvPr/>
          </p:nvCxnSpPr>
          <p:spPr>
            <a:xfrm rot="5400000">
              <a:off x="4358480" y="3675059"/>
              <a:ext cx="427834" cy="794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40" name="Object 8"/>
                <p:cNvSpPr txBox="1"/>
                <p:nvPr/>
              </p:nvSpPr>
              <p:spPr bwMode="auto">
                <a:xfrm>
                  <a:off x="500063" y="2500313"/>
                  <a:ext cx="5857875" cy="485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3.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Связь с преобразованием Фурье: </a:t>
                  </a:r>
                </a:p>
              </p:txBody>
            </p:sp>
          </mc:Choice>
          <mc:Fallback xmlns="">
            <p:sp>
              <p:nvSpPr>
                <p:cNvPr id="172040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0063" y="2500313"/>
                  <a:ext cx="5857875" cy="485775"/>
                </a:xfrm>
                <a:prstGeom prst="rect">
                  <a:avLst/>
                </a:prstGeom>
                <a:blipFill>
                  <a:blip r:embed="rId5"/>
                  <a:stretch>
                    <a:fillRect l="-208" t="-10000" b="-22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41" name="Object 9"/>
                <p:cNvSpPr txBox="1"/>
                <p:nvPr/>
              </p:nvSpPr>
              <p:spPr bwMode="auto">
                <a:xfrm>
                  <a:off x="215516" y="3029005"/>
                  <a:ext cx="8712968" cy="5000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Использовав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и 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получим</a:t>
                  </a:r>
                  <a14:m>
                    <m:oMath xmlns:m="http://schemas.openxmlformats.org/officeDocument/2006/math">
                      <m:r>
                        <a:rPr lang="ru-RU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ru-RU" sz="2400" b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𝑖𝑏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2041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5516" y="3029005"/>
                  <a:ext cx="8712968" cy="500063"/>
                </a:xfrm>
                <a:prstGeom prst="rect">
                  <a:avLst/>
                </a:prstGeom>
                <a:blipFill>
                  <a:blip r:embed="rId6"/>
                  <a:stretch>
                    <a:fillRect l="-1049" t="-4878" b="-2439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42" name="Object 10"/>
                <p:cNvSpPr txBox="1"/>
                <p:nvPr/>
              </p:nvSpPr>
              <p:spPr bwMode="auto">
                <a:xfrm>
                  <a:off x="1681163" y="3865563"/>
                  <a:ext cx="5761037" cy="549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)=⟨</m:t>
                        </m:r>
                        <m:acc>
                          <m:accPr>
                            <m:chr m:val="̂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⟩=|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  <m:nary>
                          <m:naryPr>
                            <m:subHide m:val="on"/>
                            <m:supHide m:val="on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𝑖𝑏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sup>
                            </m:sSup>
                            <m:bar>
                              <m:barPr>
                                <m:pos m:val="top"/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bar>
                          </m:e>
                        </m:nary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oMath>
                    </m:oMathPara>
                  </a14:m>
                  <a:endParaRPr lang="ru-RU" sz="2000" dirty="0"/>
                </a:p>
              </p:txBody>
            </p:sp>
          </mc:Choice>
          <mc:Fallback xmlns="">
            <p:sp>
              <p:nvSpPr>
                <p:cNvPr id="17204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1163" y="3865563"/>
                  <a:ext cx="5761037" cy="549275"/>
                </a:xfrm>
                <a:prstGeom prst="rect">
                  <a:avLst/>
                </a:prstGeom>
                <a:blipFill>
                  <a:blip r:embed="rId7"/>
                  <a:stretch>
                    <a:fillRect b="-1444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Группа 24"/>
          <p:cNvGrpSpPr/>
          <p:nvPr/>
        </p:nvGrpSpPr>
        <p:grpSpPr>
          <a:xfrm>
            <a:off x="417513" y="4502780"/>
            <a:ext cx="9275712" cy="1875796"/>
            <a:chOff x="417513" y="4502780"/>
            <a:chExt cx="9275712" cy="1875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43" name="Object 11"/>
                <p:cNvSpPr txBox="1"/>
                <p:nvPr/>
              </p:nvSpPr>
              <p:spPr bwMode="auto">
                <a:xfrm>
                  <a:off x="2642059" y="4502780"/>
                  <a:ext cx="3859882" cy="6010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ad>
                          <m:radPr>
                            <m:degHide m:val="on"/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bar>
                          <m:barPr>
                            <m:pos m:val="top"/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acc>
                              <m:accPr>
                                <m:chr m:val="̂"/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acc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ba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7204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42059" y="4502780"/>
                  <a:ext cx="3859882" cy="60106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Прямая со стрелкой 19"/>
            <p:cNvCxnSpPr/>
            <p:nvPr/>
          </p:nvCxnSpPr>
          <p:spPr>
            <a:xfrm rot="5400000">
              <a:off x="4358480" y="5318133"/>
              <a:ext cx="427834" cy="794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44" name="Object 12"/>
                <p:cNvSpPr txBox="1"/>
                <p:nvPr/>
              </p:nvSpPr>
              <p:spPr bwMode="auto">
                <a:xfrm>
                  <a:off x="417513" y="5529263"/>
                  <a:ext cx="7178029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Для фиксированного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 </m:t>
                      </m:r>
                    </m:oMath>
                  </a14:m>
                  <a:r>
                    <a:rPr lang="ru-RU" sz="2000" b="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функция</a:t>
                  </a:r>
                  <a:r>
                    <a:rPr lang="ru-RU" sz="2000" b="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,⋅</m:t>
                          </m:r>
                        </m:e>
                      </m:d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m:rPr>
                          <m:sty m:val="p"/>
                        </m:rP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ru-RU" sz="2000" dirty="0"/>
                </a:p>
              </p:txBody>
            </p:sp>
          </mc:Choice>
          <mc:Fallback xmlns="">
            <p:sp>
              <p:nvSpPr>
                <p:cNvPr id="172044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513" y="5529263"/>
                  <a:ext cx="7178029" cy="400050"/>
                </a:xfrm>
                <a:prstGeom prst="rect">
                  <a:avLst/>
                </a:prstGeom>
                <a:blipFill>
                  <a:blip r:embed="rId9"/>
                  <a:stretch>
                    <a:fillRect l="-849" t="-7576" b="-2575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045" name="Object 13"/>
                <p:cNvSpPr txBox="1"/>
                <p:nvPr/>
              </p:nvSpPr>
              <p:spPr bwMode="auto">
                <a:xfrm>
                  <a:off x="3688556" y="5929313"/>
                  <a:ext cx="6004669" cy="449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является обратным преобразованием Фурье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a14:m>
                  <a:endPara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2045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88556" y="5929313"/>
                  <a:ext cx="6004669" cy="449263"/>
                </a:xfrm>
                <a:prstGeom prst="rect">
                  <a:avLst/>
                </a:prstGeom>
                <a:blipFill>
                  <a:blip r:embed="rId10"/>
                  <a:stretch>
                    <a:fillRect l="-1015" t="-8219" b="-136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Некоторые свойства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039" name="Object 7"/>
              <p:cNvSpPr txBox="1"/>
              <p:nvPr/>
            </p:nvSpPr>
            <p:spPr bwMode="auto">
              <a:xfrm>
                <a:off x="446088" y="760413"/>
                <a:ext cx="3632200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4.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Размеры окна:</a:t>
                </a:r>
              </a:p>
            </p:txBody>
          </p:sp>
        </mc:Choice>
        <mc:Fallback xmlns="">
          <p:sp>
            <p:nvSpPr>
              <p:cNvPr id="17203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088" y="760413"/>
                <a:ext cx="3632200" cy="485775"/>
              </a:xfrm>
              <a:prstGeom prst="rect">
                <a:avLst/>
              </a:prstGeom>
              <a:blipFill>
                <a:blip r:embed="rId3"/>
                <a:stretch>
                  <a:fillRect l="-336" t="-10127" b="-240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Группа 46"/>
          <p:cNvGrpSpPr/>
          <p:nvPr/>
        </p:nvGrpSpPr>
        <p:grpSpPr>
          <a:xfrm>
            <a:off x="1714480" y="1481145"/>
            <a:ext cx="5572158" cy="1863718"/>
            <a:chOff x="1714480" y="1303338"/>
            <a:chExt cx="5572158" cy="18637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Object 14"/>
                <p:cNvGraphicFramePr>
                  <a:graphicFrameLocks noChangeAspect="1"/>
                </p:cNvGraphicFramePr>
                <p:nvPr/>
              </p:nvGraphicFramePr>
              <p:xfrm>
                <a:off x="1714480" y="1711325"/>
                <a:ext cx="328612" cy="3571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" imgW="152280" imgH="164880" progId="Equation.DSMT4">
                        <p:embed/>
                      </p:oleObj>
                    </mc:Choice>
                    <mc:Fallback>
                      <p:oleObj name="Equation" r:id="rId4" imgW="152280" imgH="164880" progId="Equation.DSMT4">
                        <p:embed/>
                        <p:pic>
                          <p:nvPicPr>
                            <p:cNvPr id="23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14480" y="1711325"/>
                              <a:ext cx="328612" cy="3571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3" name="Object 14"/>
                <p:cNvGraphicFramePr>
                  <a:graphicFrameLocks noChangeAspect="1"/>
                </p:cNvGraphicFramePr>
                <p:nvPr/>
              </p:nvGraphicFramePr>
              <p:xfrm>
                <a:off x="1714480" y="1711325"/>
                <a:ext cx="328612" cy="3571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66" name="Equation" r:id="rId6" imgW="152280" imgH="164880" progId="Equation.DSMT4">
                        <p:embed/>
                      </p:oleObj>
                    </mc:Choice>
                    <mc:Fallback>
                      <p:oleObj name="Equation" r:id="rId6" imgW="152280" imgH="164880" progId="Equation.DSMT4">
                        <p:embed/>
                        <p:pic>
                          <p:nvPicPr>
                            <p:cNvPr id="23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14480" y="1711325"/>
                              <a:ext cx="328612" cy="3571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4" name="Прямая со стрелкой 23"/>
            <p:cNvCxnSpPr/>
            <p:nvPr/>
          </p:nvCxnSpPr>
          <p:spPr>
            <a:xfrm flipV="1">
              <a:off x="2138323" y="1571612"/>
              <a:ext cx="857256" cy="2143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>
              <a:off x="2138323" y="2000240"/>
              <a:ext cx="785818" cy="2857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6" name="Object 15"/>
                <p:cNvGraphicFramePr>
                  <a:graphicFrameLocks noChangeAspect="1"/>
                </p:cNvGraphicFramePr>
                <p:nvPr/>
              </p:nvGraphicFramePr>
              <p:xfrm>
                <a:off x="3082898" y="1312863"/>
                <a:ext cx="300038" cy="4397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8" imgW="139680" imgH="203040" progId="Equation.DSMT4">
                        <p:embed/>
                      </p:oleObj>
                    </mc:Choice>
                    <mc:Fallback>
                      <p:oleObj name="Equation" r:id="rId8" imgW="139680" imgH="203040" progId="Equation.DSMT4">
                        <p:embed/>
                        <p:pic>
                          <p:nvPicPr>
                            <p:cNvPr id="26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2898" y="1312863"/>
                              <a:ext cx="300038" cy="4397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6" name="Object 15"/>
                <p:cNvGraphicFramePr>
                  <a:graphicFrameLocks noChangeAspect="1"/>
                </p:cNvGraphicFramePr>
                <p:nvPr/>
              </p:nvGraphicFramePr>
              <p:xfrm>
                <a:off x="3082898" y="1312863"/>
                <a:ext cx="300038" cy="4397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67" name="Equation" r:id="rId10" imgW="139680" imgH="203040" progId="Equation.DSMT4">
                        <p:embed/>
                      </p:oleObj>
                    </mc:Choice>
                    <mc:Fallback>
                      <p:oleObj name="Equation" r:id="rId10" imgW="139680" imgH="203040" progId="Equation.DSMT4">
                        <p:embed/>
                        <p:pic>
                          <p:nvPicPr>
                            <p:cNvPr id="26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2898" y="1312863"/>
                              <a:ext cx="300038" cy="4397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7" name="Object 16"/>
                <p:cNvGraphicFramePr>
                  <a:graphicFrameLocks noChangeAspect="1"/>
                </p:cNvGraphicFramePr>
                <p:nvPr/>
              </p:nvGraphicFramePr>
              <p:xfrm>
                <a:off x="2995586" y="2058988"/>
                <a:ext cx="463550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2" imgW="215640" imgH="241200" progId="Equation.DSMT4">
                        <p:embed/>
                      </p:oleObj>
                    </mc:Choice>
                    <mc:Fallback>
                      <p:oleObj name="Equation" r:id="rId12" imgW="215640" imgH="241200" progId="Equation.DSMT4">
                        <p:embed/>
                        <p:pic>
                          <p:nvPicPr>
                            <p:cNvPr id="27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95586" y="2058988"/>
                              <a:ext cx="463550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7" name="Object 16"/>
                <p:cNvGraphicFramePr>
                  <a:graphicFrameLocks noChangeAspect="1"/>
                </p:cNvGraphicFramePr>
                <p:nvPr/>
              </p:nvGraphicFramePr>
              <p:xfrm>
                <a:off x="2995586" y="2058988"/>
                <a:ext cx="463550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68" name="Equation" r:id="rId14" imgW="215640" imgH="241200" progId="Equation.DSMT4">
                        <p:embed/>
                      </p:oleObj>
                    </mc:Choice>
                    <mc:Fallback>
                      <p:oleObj name="Equation" r:id="rId14" imgW="215640" imgH="241200" progId="Equation.DSMT4">
                        <p:embed/>
                        <p:pic>
                          <p:nvPicPr>
                            <p:cNvPr id="27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95586" y="2058988"/>
                              <a:ext cx="463550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9" name="Прямая со стрелкой 28"/>
            <p:cNvCxnSpPr/>
            <p:nvPr/>
          </p:nvCxnSpPr>
          <p:spPr>
            <a:xfrm>
              <a:off x="3786182" y="1928802"/>
              <a:ext cx="714380" cy="1588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0" name="Object 14"/>
                <p:cNvGraphicFramePr>
                  <a:graphicFrameLocks noChangeAspect="1"/>
                </p:cNvGraphicFramePr>
                <p:nvPr/>
              </p:nvGraphicFramePr>
              <p:xfrm>
                <a:off x="4735517" y="1619250"/>
                <a:ext cx="574675" cy="522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6" imgW="266400" imgH="241200" progId="Equation.DSMT4">
                        <p:embed/>
                      </p:oleObj>
                    </mc:Choice>
                    <mc:Fallback>
                      <p:oleObj name="Equation" r:id="rId16" imgW="266400" imgH="241200" progId="Equation.DSMT4">
                        <p:embed/>
                        <p:pic>
                          <p:nvPicPr>
                            <p:cNvPr id="3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5517" y="1619250"/>
                              <a:ext cx="574675" cy="522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0" name="Object 14"/>
                <p:cNvGraphicFramePr>
                  <a:graphicFrameLocks noChangeAspect="1"/>
                </p:cNvGraphicFramePr>
                <p:nvPr/>
              </p:nvGraphicFramePr>
              <p:xfrm>
                <a:off x="4735517" y="1619250"/>
                <a:ext cx="574675" cy="522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69" name="Equation" r:id="rId18" imgW="266400" imgH="241200" progId="Equation.DSMT4">
                        <p:embed/>
                      </p:oleObj>
                    </mc:Choice>
                    <mc:Fallback>
                      <p:oleObj name="Equation" r:id="rId18" imgW="266400" imgH="241200" progId="Equation.DSMT4">
                        <p:embed/>
                        <p:pic>
                          <p:nvPicPr>
                            <p:cNvPr id="3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5517" y="1619250"/>
                              <a:ext cx="574675" cy="522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31" name="Прямая со стрелкой 30"/>
            <p:cNvCxnSpPr/>
            <p:nvPr/>
          </p:nvCxnSpPr>
          <p:spPr>
            <a:xfrm flipV="1">
              <a:off x="5465765" y="1562081"/>
              <a:ext cx="857256" cy="2143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/>
            <p:nvPr/>
          </p:nvCxnSpPr>
          <p:spPr>
            <a:xfrm>
              <a:off x="5465765" y="1990709"/>
              <a:ext cx="785818" cy="2857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3" name="Object 15"/>
                <p:cNvGraphicFramePr>
                  <a:graphicFrameLocks noChangeAspect="1"/>
                </p:cNvGraphicFramePr>
                <p:nvPr/>
              </p:nvGraphicFramePr>
              <p:xfrm>
                <a:off x="6357950" y="1303338"/>
                <a:ext cx="928688" cy="4397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0" imgW="431640" imgH="203040" progId="Equation.DSMT4">
                        <p:embed/>
                      </p:oleObj>
                    </mc:Choice>
                    <mc:Fallback>
                      <p:oleObj name="Equation" r:id="rId20" imgW="431640" imgH="203040" progId="Equation.DSMT4">
                        <p:embed/>
                        <p:pic>
                          <p:nvPicPr>
                            <p:cNvPr id="33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57950" y="1303338"/>
                              <a:ext cx="928688" cy="4397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3" name="Object 15"/>
                <p:cNvGraphicFramePr>
                  <a:graphicFrameLocks noChangeAspect="1"/>
                </p:cNvGraphicFramePr>
                <p:nvPr/>
              </p:nvGraphicFramePr>
              <p:xfrm>
                <a:off x="6357950" y="1303338"/>
                <a:ext cx="928688" cy="4397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0" name="Equation" r:id="rId22" imgW="431640" imgH="203040" progId="Equation.DSMT4">
                        <p:embed/>
                      </p:oleObj>
                    </mc:Choice>
                    <mc:Fallback>
                      <p:oleObj name="Equation" r:id="rId22" imgW="431640" imgH="203040" progId="Equation.DSMT4">
                        <p:embed/>
                        <p:pic>
                          <p:nvPicPr>
                            <p:cNvPr id="33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57950" y="1303338"/>
                              <a:ext cx="928688" cy="4397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4" name="Object 16"/>
                <p:cNvGraphicFramePr>
                  <a:graphicFrameLocks noChangeAspect="1"/>
                </p:cNvGraphicFramePr>
                <p:nvPr/>
              </p:nvGraphicFramePr>
              <p:xfrm>
                <a:off x="6373829" y="2049463"/>
                <a:ext cx="627063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4" imgW="291960" imgH="241200" progId="Equation.DSMT4">
                        <p:embed/>
                      </p:oleObj>
                    </mc:Choice>
                    <mc:Fallback>
                      <p:oleObj name="Equation" r:id="rId24" imgW="291960" imgH="241200" progId="Equation.DSMT4">
                        <p:embed/>
                        <p:pic>
                          <p:nvPicPr>
                            <p:cNvPr id="34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73829" y="2049463"/>
                              <a:ext cx="627063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4" name="Object 16"/>
                <p:cNvGraphicFramePr>
                  <a:graphicFrameLocks noChangeAspect="1"/>
                </p:cNvGraphicFramePr>
                <p:nvPr/>
              </p:nvGraphicFramePr>
              <p:xfrm>
                <a:off x="6373829" y="2049463"/>
                <a:ext cx="627063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1" name="Equation" r:id="rId26" imgW="291960" imgH="241200" progId="Equation.DSMT4">
                        <p:embed/>
                      </p:oleObj>
                    </mc:Choice>
                    <mc:Fallback>
                      <p:oleObj name="Equation" r:id="rId26" imgW="291960" imgH="241200" progId="Equation.DSMT4">
                        <p:embed/>
                        <p:pic>
                          <p:nvPicPr>
                            <p:cNvPr id="34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73829" y="2049463"/>
                              <a:ext cx="627063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00" name="Object 20"/>
                <p:cNvSpPr txBox="1"/>
                <p:nvPr/>
              </p:nvSpPr>
              <p:spPr bwMode="auto">
                <a:xfrm>
                  <a:off x="2262188" y="2668581"/>
                  <a:ext cx="4381500" cy="4984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Время: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</m:e>
                      </m:d>
                    </m:oMath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74100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2188" y="2668581"/>
                  <a:ext cx="4381500" cy="498475"/>
                </a:xfrm>
                <a:prstGeom prst="rect">
                  <a:avLst/>
                </a:prstGeom>
                <a:blipFill>
                  <a:blip r:embed="rId28"/>
                  <a:stretch>
                    <a:fillRect l="-1391" t="-853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Группа 49"/>
          <p:cNvGrpSpPr/>
          <p:nvPr/>
        </p:nvGrpSpPr>
        <p:grpSpPr>
          <a:xfrm>
            <a:off x="1428728" y="3659191"/>
            <a:ext cx="6289701" cy="2198684"/>
            <a:chOff x="1428728" y="3481384"/>
            <a:chExt cx="6289701" cy="219868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5" name="Object 14"/>
                <p:cNvGraphicFramePr>
                  <a:graphicFrameLocks noChangeAspect="1"/>
                </p:cNvGraphicFramePr>
                <p:nvPr/>
              </p:nvGraphicFramePr>
              <p:xfrm>
                <a:off x="1428728" y="3860797"/>
                <a:ext cx="328613" cy="4683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9" imgW="152280" imgH="215640" progId="Equation.DSMT4">
                        <p:embed/>
                      </p:oleObj>
                    </mc:Choice>
                    <mc:Fallback>
                      <p:oleObj name="Equation" r:id="rId29" imgW="152280" imgH="215640" progId="Equation.DSMT4">
                        <p:embed/>
                        <p:pic>
                          <p:nvPicPr>
                            <p:cNvPr id="35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28728" y="3860797"/>
                              <a:ext cx="328613" cy="4683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5" name="Object 14"/>
                <p:cNvGraphicFramePr>
                  <a:graphicFrameLocks noChangeAspect="1"/>
                </p:cNvGraphicFramePr>
                <p:nvPr/>
              </p:nvGraphicFramePr>
              <p:xfrm>
                <a:off x="1428728" y="3860797"/>
                <a:ext cx="328613" cy="4683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2" name="Equation" r:id="rId31" imgW="152280" imgH="215640" progId="Equation.DSMT4">
                        <p:embed/>
                      </p:oleObj>
                    </mc:Choice>
                    <mc:Fallback>
                      <p:oleObj name="Equation" r:id="rId31" imgW="152280" imgH="215640" progId="Equation.DSMT4">
                        <p:embed/>
                        <p:pic>
                          <p:nvPicPr>
                            <p:cNvPr id="35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28728" y="3860797"/>
                              <a:ext cx="328613" cy="4683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36" name="Прямая со стрелкой 35"/>
            <p:cNvCxnSpPr/>
            <p:nvPr/>
          </p:nvCxnSpPr>
          <p:spPr>
            <a:xfrm flipV="1">
              <a:off x="1852557" y="3776659"/>
              <a:ext cx="857256" cy="2143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/>
            <p:cNvCxnSpPr/>
            <p:nvPr/>
          </p:nvCxnSpPr>
          <p:spPr>
            <a:xfrm>
              <a:off x="1852557" y="4205287"/>
              <a:ext cx="785818" cy="2857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8" name="Object 15"/>
                <p:cNvGraphicFramePr>
                  <a:graphicFrameLocks noChangeAspect="1"/>
                </p:cNvGraphicFramePr>
                <p:nvPr/>
              </p:nvGraphicFramePr>
              <p:xfrm>
                <a:off x="2757466" y="3490909"/>
                <a:ext cx="381000" cy="495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3" imgW="177480" imgH="228600" progId="Equation.DSMT4">
                        <p:embed/>
                      </p:oleObj>
                    </mc:Choice>
                    <mc:Fallback>
                      <p:oleObj name="Equation" r:id="rId33" imgW="177480" imgH="228600" progId="Equation.DSMT4">
                        <p:embed/>
                        <p:pic>
                          <p:nvPicPr>
                            <p:cNvPr id="38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7466" y="3490909"/>
                              <a:ext cx="381000" cy="4953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8" name="Object 15"/>
                <p:cNvGraphicFramePr>
                  <a:graphicFrameLocks noChangeAspect="1"/>
                </p:cNvGraphicFramePr>
                <p:nvPr/>
              </p:nvGraphicFramePr>
              <p:xfrm>
                <a:off x="2757466" y="3490909"/>
                <a:ext cx="381000" cy="495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3" name="Equation" r:id="rId35" imgW="177480" imgH="228600" progId="Equation.DSMT4">
                        <p:embed/>
                      </p:oleObj>
                    </mc:Choice>
                    <mc:Fallback>
                      <p:oleObj name="Equation" r:id="rId35" imgW="177480" imgH="228600" progId="Equation.DSMT4">
                        <p:embed/>
                        <p:pic>
                          <p:nvPicPr>
                            <p:cNvPr id="38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7466" y="3490909"/>
                              <a:ext cx="381000" cy="4953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" name="Object 16"/>
                <p:cNvGraphicFramePr>
                  <a:graphicFrameLocks noChangeAspect="1"/>
                </p:cNvGraphicFramePr>
                <p:nvPr/>
              </p:nvGraphicFramePr>
              <p:xfrm>
                <a:off x="2709820" y="4264035"/>
                <a:ext cx="463550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7" imgW="215640" imgH="241200" progId="Equation.DSMT4">
                        <p:embed/>
                      </p:oleObj>
                    </mc:Choice>
                    <mc:Fallback>
                      <p:oleObj name="Equation" r:id="rId37" imgW="215640" imgH="241200" progId="Equation.DSMT4">
                        <p:embed/>
                        <p:pic>
                          <p:nvPicPr>
                            <p:cNvPr id="39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8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9820" y="4264035"/>
                              <a:ext cx="463550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9" name="Object 16"/>
                <p:cNvGraphicFramePr>
                  <a:graphicFrameLocks noChangeAspect="1"/>
                </p:cNvGraphicFramePr>
                <p:nvPr/>
              </p:nvGraphicFramePr>
              <p:xfrm>
                <a:off x="2709820" y="4264035"/>
                <a:ext cx="463550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4" name="Equation" r:id="rId39" imgW="215640" imgH="241200" progId="Equation.DSMT4">
                        <p:embed/>
                      </p:oleObj>
                    </mc:Choice>
                    <mc:Fallback>
                      <p:oleObj name="Equation" r:id="rId39" imgW="215640" imgH="241200" progId="Equation.DSMT4">
                        <p:embed/>
                        <p:pic>
                          <p:nvPicPr>
                            <p:cNvPr id="39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9820" y="4264035"/>
                              <a:ext cx="463550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40" name="Прямая со стрелкой 39"/>
            <p:cNvCxnSpPr/>
            <p:nvPr/>
          </p:nvCxnSpPr>
          <p:spPr>
            <a:xfrm flipV="1">
              <a:off x="3214678" y="4135437"/>
              <a:ext cx="1785956" cy="22227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1" name="Object 14"/>
                <p:cNvGraphicFramePr>
                  <a:graphicFrameLocks noChangeAspect="1"/>
                </p:cNvGraphicFramePr>
                <p:nvPr/>
              </p:nvGraphicFramePr>
              <p:xfrm>
                <a:off x="5235589" y="3824297"/>
                <a:ext cx="574675" cy="522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1" imgW="266400" imgH="241200" progId="Equation.DSMT4">
                        <p:embed/>
                      </p:oleObj>
                    </mc:Choice>
                    <mc:Fallback>
                      <p:oleObj name="Equation" r:id="rId41" imgW="266400" imgH="241200" progId="Equation.DSMT4">
                        <p:embed/>
                        <p:pic>
                          <p:nvPicPr>
                            <p:cNvPr id="41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2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35589" y="3824297"/>
                              <a:ext cx="574675" cy="522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1" name="Object 14"/>
                <p:cNvGraphicFramePr>
                  <a:graphicFrameLocks noChangeAspect="1"/>
                </p:cNvGraphicFramePr>
                <p:nvPr/>
              </p:nvGraphicFramePr>
              <p:xfrm>
                <a:off x="5235589" y="3824297"/>
                <a:ext cx="574675" cy="522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5" name="Equation" r:id="rId43" imgW="266400" imgH="241200" progId="Equation.DSMT4">
                        <p:embed/>
                      </p:oleObj>
                    </mc:Choice>
                    <mc:Fallback>
                      <p:oleObj name="Equation" r:id="rId43" imgW="266400" imgH="241200" progId="Equation.DSMT4">
                        <p:embed/>
                        <p:pic>
                          <p:nvPicPr>
                            <p:cNvPr id="41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35589" y="3824297"/>
                              <a:ext cx="574675" cy="5222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42" name="Прямая со стрелкой 41"/>
            <p:cNvCxnSpPr/>
            <p:nvPr/>
          </p:nvCxnSpPr>
          <p:spPr>
            <a:xfrm flipV="1">
              <a:off x="5965837" y="3767128"/>
              <a:ext cx="857256" cy="2143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/>
            <p:cNvCxnSpPr/>
            <p:nvPr/>
          </p:nvCxnSpPr>
          <p:spPr>
            <a:xfrm>
              <a:off x="5965837" y="4195756"/>
              <a:ext cx="785818" cy="2857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4" name="Object 15"/>
                <p:cNvGraphicFramePr>
                  <a:graphicFrameLocks noChangeAspect="1"/>
                </p:cNvGraphicFramePr>
                <p:nvPr/>
              </p:nvGraphicFramePr>
              <p:xfrm>
                <a:off x="6926266" y="3481384"/>
                <a:ext cx="792163" cy="495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5" imgW="368280" imgH="228600" progId="Equation.DSMT4">
                        <p:embed/>
                      </p:oleObj>
                    </mc:Choice>
                    <mc:Fallback>
                      <p:oleObj name="Equation" r:id="rId45" imgW="368280" imgH="228600" progId="Equation.DSMT4">
                        <p:embed/>
                        <p:pic>
                          <p:nvPicPr>
                            <p:cNvPr id="44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26266" y="3481384"/>
                              <a:ext cx="792163" cy="4953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4" name="Object 15"/>
                <p:cNvGraphicFramePr>
                  <a:graphicFrameLocks noChangeAspect="1"/>
                </p:cNvGraphicFramePr>
                <p:nvPr/>
              </p:nvGraphicFramePr>
              <p:xfrm>
                <a:off x="6926266" y="3481384"/>
                <a:ext cx="792163" cy="495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6" name="Equation" r:id="rId47" imgW="368280" imgH="228600" progId="Equation.DSMT4">
                        <p:embed/>
                      </p:oleObj>
                    </mc:Choice>
                    <mc:Fallback>
                      <p:oleObj name="Equation" r:id="rId47" imgW="368280" imgH="228600" progId="Equation.DSMT4">
                        <p:embed/>
                        <p:pic>
                          <p:nvPicPr>
                            <p:cNvPr id="44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26266" y="3481384"/>
                              <a:ext cx="792163" cy="4953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5" name="Object 16"/>
                <p:cNvGraphicFramePr>
                  <a:graphicFrameLocks noChangeAspect="1"/>
                </p:cNvGraphicFramePr>
                <p:nvPr/>
              </p:nvGraphicFramePr>
              <p:xfrm>
                <a:off x="6751641" y="4254497"/>
                <a:ext cx="873125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9" imgW="406080" imgH="241200" progId="Equation.DSMT4">
                        <p:embed/>
                      </p:oleObj>
                    </mc:Choice>
                    <mc:Fallback>
                      <p:oleObj name="Equation" r:id="rId49" imgW="406080" imgH="241200" progId="Equation.DSMT4">
                        <p:embed/>
                        <p:pic>
                          <p:nvPicPr>
                            <p:cNvPr id="45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51641" y="4254497"/>
                              <a:ext cx="873125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5" name="Object 16"/>
                <p:cNvGraphicFramePr>
                  <a:graphicFrameLocks noChangeAspect="1"/>
                </p:cNvGraphicFramePr>
                <p:nvPr/>
              </p:nvGraphicFramePr>
              <p:xfrm>
                <a:off x="6751641" y="4254497"/>
                <a:ext cx="873125" cy="5222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7" name="Equation" r:id="rId51" imgW="406080" imgH="241200" progId="Equation.DSMT4">
                        <p:embed/>
                      </p:oleObj>
                    </mc:Choice>
                    <mc:Fallback>
                      <p:oleObj name="Equation" r:id="rId51" imgW="406080" imgH="241200" progId="Equation.DSMT4">
                        <p:embed/>
                        <p:pic>
                          <p:nvPicPr>
                            <p:cNvPr id="45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51641" y="4254497"/>
                              <a:ext cx="873125" cy="52228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20"/>
                <p:cNvSpPr txBox="1"/>
                <p:nvPr/>
              </p:nvSpPr>
              <p:spPr bwMode="auto">
                <a:xfrm>
                  <a:off x="2212975" y="4857743"/>
                  <a:ext cx="4481513" cy="822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«Частота»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sSub>
                            <m:sSub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sub>
                          </m:s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sSub>
                            <m:sSub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sub>
                          </m:sSub>
                        </m:e>
                      </m:d>
                    </m:oMath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46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12975" y="4857743"/>
                  <a:ext cx="4481513" cy="822325"/>
                </a:xfrm>
                <a:prstGeom prst="rect">
                  <a:avLst/>
                </a:prstGeom>
                <a:blipFill>
                  <a:blip r:embed="rId53"/>
                  <a:stretch>
                    <a:fillRect l="-13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4108" name="Object 28"/>
                <p:cNvGraphicFramePr>
                  <a:graphicFrameLocks noChangeAspect="1"/>
                </p:cNvGraphicFramePr>
                <p:nvPr/>
              </p:nvGraphicFramePr>
              <p:xfrm>
                <a:off x="3286116" y="4300540"/>
                <a:ext cx="1643074" cy="3580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54" imgW="1054080" imgH="228600" progId="Equation.DSMT4">
                        <p:embed/>
                      </p:oleObj>
                    </mc:Choice>
                    <mc:Fallback>
                      <p:oleObj name="Equation" r:id="rId54" imgW="1054080" imgH="228600" progId="Equation.DSMT4">
                        <p:embed/>
                        <p:pic>
                          <p:nvPicPr>
                            <p:cNvPr id="174108" name="Object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86116" y="4300540"/>
                              <a:ext cx="1643074" cy="35809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4108" name="Object 28"/>
                <p:cNvGraphicFramePr>
                  <a:graphicFrameLocks noChangeAspect="1"/>
                </p:cNvGraphicFramePr>
                <p:nvPr/>
              </p:nvGraphicFramePr>
              <p:xfrm>
                <a:off x="3286116" y="4300540"/>
                <a:ext cx="1643074" cy="3580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8478" name="Equation" r:id="rId56" imgW="1054080" imgH="228600" progId="Equation.DSMT4">
                        <p:embed/>
                      </p:oleObj>
                    </mc:Choice>
                    <mc:Fallback>
                      <p:oleObj name="Equation" r:id="rId56" imgW="1054080" imgH="228600" progId="Equation.DSMT4">
                        <p:embed/>
                        <p:pic>
                          <p:nvPicPr>
                            <p:cNvPr id="174108" name="Object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86116" y="4300540"/>
                              <a:ext cx="1643074" cy="35809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428596" y="1142984"/>
            <a:ext cx="5000660" cy="4214810"/>
            <a:chOff x="-2000296" y="1142984"/>
            <a:chExt cx="5000660" cy="4214810"/>
          </a:xfrm>
        </p:grpSpPr>
        <p:pic>
          <p:nvPicPr>
            <p:cNvPr id="9" name="Picture 2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-2000296" y="1428736"/>
              <a:ext cx="4952250" cy="3929058"/>
            </a:xfrm>
            <a:prstGeom prst="rect">
              <a:avLst/>
            </a:prstGeom>
            <a:noFill/>
            <a:ln w="38100" cap="flat" cmpd="sng">
              <a:noFill/>
              <a:prstDash val="solid"/>
              <a:miter lim="800000"/>
              <a:headEnd/>
              <a:tailEnd/>
            </a:ln>
            <a:effectLst/>
          </p:spPr>
        </p:pic>
        <p:sp>
          <p:nvSpPr>
            <p:cNvPr id="10" name="Прямоугольник 9"/>
            <p:cNvSpPr/>
            <p:nvPr/>
          </p:nvSpPr>
          <p:spPr>
            <a:xfrm>
              <a:off x="928662" y="1142984"/>
              <a:ext cx="2071702" cy="12144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" name="Группа 4"/>
          <p:cNvGrpSpPr/>
          <p:nvPr/>
        </p:nvGrpSpPr>
        <p:grpSpPr>
          <a:xfrm>
            <a:off x="4500562" y="1142984"/>
            <a:ext cx="4286280" cy="3143272"/>
            <a:chOff x="2928926" y="1357298"/>
            <a:chExt cx="5286412" cy="3857652"/>
          </a:xfrm>
        </p:grpSpPr>
        <p:pic>
          <p:nvPicPr>
            <p:cNvPr id="17510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28926" y="1357298"/>
              <a:ext cx="5191125" cy="3810000"/>
            </a:xfrm>
            <a:prstGeom prst="rect">
              <a:avLst/>
            </a:prstGeom>
            <a:noFill/>
            <a:ln w="38100" cap="flat" cmpd="sng">
              <a:noFill/>
              <a:prstDash val="solid"/>
              <a:miter lim="800000"/>
              <a:headEnd/>
              <a:tailEnd/>
            </a:ln>
            <a:effectLst/>
          </p:spPr>
        </p:pic>
        <p:sp>
          <p:nvSpPr>
            <p:cNvPr id="4" name="Прямоугольник 3"/>
            <p:cNvSpPr/>
            <p:nvPr/>
          </p:nvSpPr>
          <p:spPr>
            <a:xfrm>
              <a:off x="7643834" y="4929198"/>
              <a:ext cx="571504" cy="285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4429124" y="4429133"/>
            <a:ext cx="4143404" cy="1428759"/>
            <a:chOff x="3000364" y="4429132"/>
            <a:chExt cx="5000660" cy="1933575"/>
          </a:xfrm>
        </p:grpSpPr>
        <p:pic>
          <p:nvPicPr>
            <p:cNvPr id="17510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00364" y="4429132"/>
              <a:ext cx="4848225" cy="1933575"/>
            </a:xfrm>
            <a:prstGeom prst="rect">
              <a:avLst/>
            </a:prstGeom>
            <a:noFill/>
            <a:ln w="38100" cap="flat" cmpd="sng">
              <a:noFill/>
              <a:prstDash val="solid"/>
              <a:miter lim="800000"/>
              <a:headEnd/>
              <a:tailEnd/>
            </a:ln>
            <a:effectLst/>
          </p:spPr>
        </p:pic>
        <p:sp>
          <p:nvSpPr>
            <p:cNvPr id="7" name="Прямоугольник 6"/>
            <p:cNvSpPr/>
            <p:nvPr/>
          </p:nvSpPr>
          <p:spPr>
            <a:xfrm>
              <a:off x="7572396" y="4429132"/>
              <a:ext cx="428628" cy="4286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«Частотно-временное» окно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E94A96-D264-46CE-A02B-7A72382F06CF}"/>
              </a:ext>
            </a:extLst>
          </p:cNvPr>
          <p:cNvSpPr txBox="1"/>
          <p:nvPr/>
        </p:nvSpPr>
        <p:spPr>
          <a:xfrm>
            <a:off x="4423302" y="1690007"/>
            <a:ext cx="756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(Реальная </a:t>
            </a:r>
            <a:b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часть)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Различные вейвлеты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72" y="857232"/>
            <a:ext cx="2488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 Хаара</a:t>
            </a:r>
            <a:r>
              <a:rPr lang="en-US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2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0"/>
              <p:cNvSpPr txBox="1"/>
              <p:nvPr/>
            </p:nvSpPr>
            <p:spPr bwMode="auto">
              <a:xfrm>
                <a:off x="755577" y="1500187"/>
                <a:ext cx="4301988" cy="1496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&amp;1,</m:t>
                              </m:r>
                              <m:r>
                                <a:rPr lang="ru-RU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&lt;1/2,</m:t>
                              </m:r>
                            </m:e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&amp;−1,</m:t>
                              </m:r>
                              <m:r>
                                <a:rPr lang="ru-RU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1/2≤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&lt;1,</m:t>
                              </m:r>
                            </m:e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m:rPr>
                                  <m:nor/>
                                </m:rPr>
                                <a:rPr lang="ru-RU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иначе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7" y="1500187"/>
                <a:ext cx="4301988" cy="14967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133" name="Object 5"/>
              <p:cNvSpPr txBox="1"/>
              <p:nvPr/>
            </p:nvSpPr>
            <p:spPr bwMode="auto">
              <a:xfrm>
                <a:off x="1425054" y="5139482"/>
                <a:ext cx="6293891" cy="1293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3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limLoc m:val="undOvr"/>
                          <m:ctrlP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ctrlP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ru-RU"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61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5054" y="5139482"/>
                <a:ext cx="6293891" cy="12938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134" name="Object 6"/>
              <p:cNvSpPr txBox="1"/>
              <p:nvPr/>
            </p:nvSpPr>
            <p:spPr bwMode="auto">
              <a:xfrm>
                <a:off x="214312" y="3771900"/>
                <a:ext cx="3637607" cy="9532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/4)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/4</m:t>
                          </m:r>
                        </m:den>
                      </m:f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613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312" y="3771900"/>
                <a:ext cx="3637607" cy="953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613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53584" y="3357562"/>
            <a:ext cx="5176133" cy="1682405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7613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57565" y="714356"/>
            <a:ext cx="3800715" cy="2786082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346" y="682849"/>
            <a:ext cx="25603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/>
            <a:r>
              <a:rPr lang="ru-RU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«Мексиканская» шляпа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0"/>
              <p:cNvSpPr txBox="1"/>
              <p:nvPr/>
            </p:nvSpPr>
            <p:spPr bwMode="auto">
              <a:xfrm>
                <a:off x="683568" y="1357312"/>
                <a:ext cx="4752528" cy="1639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−1/4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:||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||=1</m:t>
                          </m:r>
                        </m:lim>
                      </m:limLow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1357312"/>
                <a:ext cx="4752528" cy="16396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158" name="Object 6"/>
              <p:cNvSpPr txBox="1"/>
              <p:nvPr/>
            </p:nvSpPr>
            <p:spPr bwMode="auto">
              <a:xfrm>
                <a:off x="1357313" y="2928938"/>
                <a:ext cx="4078783" cy="804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acc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ru-RU" dirty="0"/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(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R4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</a:t>
                </a:r>
                <a:endParaRPr lang="ru-RU" dirty="0"/>
              </a:p>
            </p:txBody>
          </p:sp>
        </mc:Choice>
        <mc:Fallback xmlns="">
          <p:sp>
            <p:nvSpPr>
              <p:cNvPr id="1771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7313" y="2928938"/>
                <a:ext cx="4078783" cy="804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160" name="Object 8"/>
              <p:cNvSpPr txBox="1"/>
              <p:nvPr/>
            </p:nvSpPr>
            <p:spPr bwMode="auto">
              <a:xfrm>
                <a:off x="5716588" y="1500188"/>
                <a:ext cx="2599828" cy="7766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716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6588" y="1500188"/>
                <a:ext cx="2599828" cy="776684"/>
              </a:xfrm>
              <a:prstGeom prst="rect">
                <a:avLst/>
              </a:prstGeom>
              <a:blipFill>
                <a:blip r:embed="rId4"/>
                <a:stretch>
                  <a:fillRect l="-18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161" name="Object 9"/>
              <p:cNvSpPr txBox="1"/>
              <p:nvPr/>
            </p:nvSpPr>
            <p:spPr bwMode="auto">
              <a:xfrm>
                <a:off x="5902325" y="2928938"/>
                <a:ext cx="2126059" cy="1148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(0)=0!!!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716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2325" y="2928938"/>
                <a:ext cx="2126059" cy="11481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7162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74010" y="3714752"/>
            <a:ext cx="5795980" cy="2217369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62F3DB64-6728-4634-922C-9292D620D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Различные вейвлеты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358" y="711955"/>
            <a:ext cx="3000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/>
            <a:r>
              <a:rPr lang="ru-RU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Модулированный гауссовский: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0"/>
              <p:cNvSpPr txBox="1"/>
              <p:nvPr/>
            </p:nvSpPr>
            <p:spPr bwMode="auto">
              <a:xfrm>
                <a:off x="3000374" y="1428749"/>
                <a:ext cx="3443833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4" y="1428749"/>
                <a:ext cx="3443833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158" name="Object 6"/>
              <p:cNvSpPr txBox="1"/>
              <p:nvPr/>
            </p:nvSpPr>
            <p:spPr bwMode="auto">
              <a:xfrm>
                <a:off x="831864" y="2352431"/>
                <a:ext cx="4947964" cy="631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acc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sSup>
                          <m:sSup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ru-RU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(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R2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1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864" y="2352431"/>
                <a:ext cx="4947964" cy="631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161" name="Object 9"/>
              <p:cNvSpPr txBox="1"/>
              <p:nvPr/>
            </p:nvSpPr>
            <p:spPr bwMode="auto">
              <a:xfrm>
                <a:off x="6207125" y="2360613"/>
                <a:ext cx="2613347" cy="908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sSup>
                        <m:sSup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7716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07125" y="2360613"/>
                <a:ext cx="2613347" cy="908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818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6321" y="3706009"/>
            <a:ext cx="6891359" cy="2509073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10" name="Группа 9"/>
          <p:cNvGrpSpPr/>
          <p:nvPr/>
        </p:nvGrpSpPr>
        <p:grpSpPr>
          <a:xfrm>
            <a:off x="571472" y="3257550"/>
            <a:ext cx="4880326" cy="531490"/>
            <a:chOff x="571472" y="5703909"/>
            <a:chExt cx="3997748" cy="5314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3"/>
                <p:cNvSpPr txBox="1"/>
                <p:nvPr/>
              </p:nvSpPr>
              <p:spPr bwMode="auto">
                <a:xfrm>
                  <a:off x="2428481" y="5703909"/>
                  <a:ext cx="2140739" cy="53149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r>
                    <a:rPr lang="ru-RU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</a:t>
                  </a:r>
                  <a:r>
                    <a:rPr lang="ru-RU" dirty="0">
                      <a:solidFill>
                        <a:srgbClr val="0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||=1</m:t>
                      </m:r>
                    </m:oMath>
                  </a14:m>
                  <a:endParaRPr lang="ru-RU" sz="2200" dirty="0"/>
                </a:p>
              </p:txBody>
            </p:sp>
          </mc:Choice>
          <mc:Fallback xmlns="">
            <p:sp>
              <p:nvSpPr>
                <p:cNvPr id="11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28481" y="5703909"/>
                  <a:ext cx="2140739" cy="531490"/>
                </a:xfrm>
                <a:prstGeom prst="rect">
                  <a:avLst/>
                </a:prstGeom>
                <a:blipFill>
                  <a:blip r:embed="rId6"/>
                  <a:stretch>
                    <a:fillRect l="-3037" t="-6818" b="-340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571472" y="5715016"/>
              <a:ext cx="24289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/>
              <a:r>
                <a:rPr lang="ru-RU" sz="22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Упражнение </a:t>
              </a:r>
              <a:r>
                <a:rPr lang="en-US" sz="22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2:</a:t>
              </a:r>
              <a:endParaRPr lang="ru-RU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906EE6A7-A918-42CE-B90A-71CE5D71A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Различные вейвлеты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/>
          <p:cNvGrpSpPr/>
          <p:nvPr/>
        </p:nvGrpSpPr>
        <p:grpSpPr>
          <a:xfrm>
            <a:off x="188801" y="925067"/>
            <a:ext cx="8767985" cy="1704625"/>
            <a:chOff x="188801" y="925067"/>
            <a:chExt cx="8767985" cy="17046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206" name="Object 6"/>
                <p:cNvSpPr txBox="1"/>
                <p:nvPr/>
              </p:nvSpPr>
              <p:spPr bwMode="auto">
                <a:xfrm>
                  <a:off x="188801" y="925067"/>
                  <a:ext cx="8767985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 algn="ctr"/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и</a:t>
                  </a:r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14:m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и</a:t>
                  </a:r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14:m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и</a:t>
                  </a:r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ru-RU" sz="24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supp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)=[−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920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8801" y="925067"/>
                  <a:ext cx="8767985" cy="628650"/>
                </a:xfrm>
                <a:prstGeom prst="rect">
                  <a:avLst/>
                </a:prstGeom>
                <a:blipFill>
                  <a:blip r:embed="rId3"/>
                  <a:stretch>
                    <a:fillRect l="-974" t="-117476" r="-417" b="-15048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Прямая со стрелкой 13"/>
            <p:cNvCxnSpPr/>
            <p:nvPr/>
          </p:nvCxnSpPr>
          <p:spPr>
            <a:xfrm rot="5400000">
              <a:off x="4322761" y="1821645"/>
              <a:ext cx="499272" cy="794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207" name="Object 7"/>
                <p:cNvSpPr txBox="1"/>
                <p:nvPr/>
              </p:nvSpPr>
              <p:spPr bwMode="auto">
                <a:xfrm>
                  <a:off x="3458903" y="2172492"/>
                  <a:ext cx="222778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вейвлет</a:t>
                  </a:r>
                </a:p>
              </p:txBody>
            </p:sp>
          </mc:Choice>
          <mc:Fallback xmlns="">
            <p:sp>
              <p:nvSpPr>
                <p:cNvPr id="179207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58903" y="2172492"/>
                  <a:ext cx="2227782" cy="457200"/>
                </a:xfrm>
                <a:prstGeom prst="rect">
                  <a:avLst/>
                </a:prstGeom>
                <a:blipFill>
                  <a:blip r:embed="rId4"/>
                  <a:stretch>
                    <a:fillRect t="-10667" b="-30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Группа 25"/>
          <p:cNvGrpSpPr/>
          <p:nvPr/>
        </p:nvGrpSpPr>
        <p:grpSpPr>
          <a:xfrm>
            <a:off x="327025" y="3022600"/>
            <a:ext cx="8478838" cy="3328662"/>
            <a:chOff x="327025" y="3022600"/>
            <a:chExt cx="8478838" cy="3328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208" name="Object 8"/>
                <p:cNvSpPr txBox="1"/>
                <p:nvPr/>
              </p:nvSpPr>
              <p:spPr bwMode="auto">
                <a:xfrm>
                  <a:off x="327025" y="3022600"/>
                  <a:ext cx="8478838" cy="5492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и</a:t>
                  </a:r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ru-RU" sz="2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тогда</a:t>
                  </a:r>
                  <a:r>
                    <a:rPr lang="ru-RU" sz="24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так же является вейвлетом</a:t>
                  </a:r>
                </a:p>
              </p:txBody>
            </p:sp>
          </mc:Choice>
          <mc:Fallback xmlns="">
            <p:sp>
              <p:nvSpPr>
                <p:cNvPr id="17920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7025" y="3022600"/>
                  <a:ext cx="8478838" cy="549275"/>
                </a:xfrm>
                <a:prstGeom prst="rect">
                  <a:avLst/>
                </a:prstGeom>
                <a:blipFill>
                  <a:blip r:embed="rId5"/>
                  <a:stretch>
                    <a:fillRect l="-1150" t="-8889" b="-888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357158" y="3929066"/>
              <a:ext cx="30003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/>
              <a:r>
                <a:rPr lang="ru-RU" sz="22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Пример</a:t>
              </a:r>
              <a:r>
                <a:rPr lang="en-US" sz="22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1:</a:t>
              </a:r>
              <a:endParaRPr lang="ru-RU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9209" name="Object 9"/>
                <p:cNvGraphicFramePr>
                  <a:graphicFrameLocks noChangeAspect="1"/>
                </p:cNvGraphicFramePr>
                <p:nvPr/>
              </p:nvGraphicFramePr>
              <p:xfrm>
                <a:off x="2143108" y="3714752"/>
                <a:ext cx="2141901" cy="85725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1143000" imgH="457200" progId="Equation.DSMT4">
                        <p:embed/>
                      </p:oleObj>
                    </mc:Choice>
                    <mc:Fallback>
                      <p:oleObj name="Equation" r:id="rId6" imgW="1143000" imgH="457200" progId="Equation.DSMT4">
                        <p:embed/>
                        <p:pic>
                          <p:nvPicPr>
                            <p:cNvPr id="179209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43108" y="3714752"/>
                              <a:ext cx="2141901" cy="85725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9209" name="Object 9"/>
                <p:cNvGraphicFramePr>
                  <a:graphicFrameLocks noChangeAspect="1"/>
                </p:cNvGraphicFramePr>
                <p:nvPr/>
              </p:nvGraphicFramePr>
              <p:xfrm>
                <a:off x="2143108" y="3714752"/>
                <a:ext cx="2141901" cy="85725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9490" name="Equation" r:id="rId8" imgW="1143000" imgH="457200" progId="Equation.DSMT4">
                        <p:embed/>
                      </p:oleObj>
                    </mc:Choice>
                    <mc:Fallback>
                      <p:oleObj name="Equation" r:id="rId8" imgW="1143000" imgH="457200" progId="Equation.DSMT4">
                        <p:embed/>
                        <p:pic>
                          <p:nvPicPr>
                            <p:cNvPr id="179209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43108" y="3714752"/>
                              <a:ext cx="2141901" cy="85725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pic>
          <p:nvPicPr>
            <p:cNvPr id="179211" name="Picture 11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42910" y="4572008"/>
              <a:ext cx="3443260" cy="1720528"/>
            </a:xfrm>
            <a:prstGeom prst="rect">
              <a:avLst/>
            </a:prstGeom>
            <a:noFill/>
            <a:ln w="38100" cap="flat" cmpd="sng">
              <a:noFill/>
              <a:prstDash val="solid"/>
              <a:miter lim="800000"/>
              <a:headEnd/>
              <a:tailEnd/>
            </a:ln>
            <a:effectLst/>
          </p:spPr>
        </p:pic>
        <p:sp>
          <p:nvSpPr>
            <p:cNvPr id="22" name="TextBox 21"/>
            <p:cNvSpPr txBox="1"/>
            <p:nvPr/>
          </p:nvSpPr>
          <p:spPr>
            <a:xfrm>
              <a:off x="4714876" y="3929066"/>
              <a:ext cx="30003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/>
              <a:r>
                <a:rPr lang="ru-RU" sz="22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Пример</a:t>
              </a:r>
              <a:r>
                <a:rPr lang="en-US" sz="22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2:</a:t>
              </a:r>
              <a:endParaRPr lang="ru-RU" sz="2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Object 9"/>
                <p:cNvGraphicFramePr>
                  <a:graphicFrameLocks noChangeAspect="1"/>
                </p:cNvGraphicFramePr>
                <p:nvPr/>
              </p:nvGraphicFramePr>
              <p:xfrm>
                <a:off x="7107238" y="3905250"/>
                <a:ext cx="927100" cy="4762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1" imgW="495000" imgH="253800" progId="Equation.DSMT4">
                        <p:embed/>
                      </p:oleObj>
                    </mc:Choice>
                    <mc:Fallback>
                      <p:oleObj name="Equation" r:id="rId11" imgW="495000" imgH="253800" progId="Equation.DSMT4">
                        <p:embed/>
                        <p:pic>
                          <p:nvPicPr>
                            <p:cNvPr id="23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107238" y="3905250"/>
                              <a:ext cx="927100" cy="4762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3" name="Object 9"/>
                <p:cNvGraphicFramePr>
                  <a:graphicFrameLocks noChangeAspect="1"/>
                </p:cNvGraphicFramePr>
                <p:nvPr/>
              </p:nvGraphicFramePr>
              <p:xfrm>
                <a:off x="7107238" y="3905250"/>
                <a:ext cx="927100" cy="4762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19491" name="Equation" r:id="rId13" imgW="495000" imgH="253800" progId="Equation.DSMT4">
                        <p:embed/>
                      </p:oleObj>
                    </mc:Choice>
                    <mc:Fallback>
                      <p:oleObj name="Equation" r:id="rId13" imgW="495000" imgH="253800" progId="Equation.DSMT4">
                        <p:embed/>
                        <p:pic>
                          <p:nvPicPr>
                            <p:cNvPr id="23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107238" y="3905250"/>
                              <a:ext cx="927100" cy="4762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pic>
          <p:nvPicPr>
            <p:cNvPr id="179213" name="Picture 13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429256" y="4357694"/>
              <a:ext cx="2801535" cy="1993568"/>
            </a:xfrm>
            <a:prstGeom prst="rect">
              <a:avLst/>
            </a:prstGeom>
            <a:noFill/>
            <a:ln w="38100" cap="flat" cmpd="sng">
              <a:noFill/>
              <a:prstDash val="solid"/>
              <a:miter lim="800000"/>
              <a:headEnd/>
              <a:tailEnd/>
            </a:ln>
            <a:effectLst/>
          </p:spPr>
        </p:pic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51F2F87C-49BF-4DB5-9E7D-43D4B49E2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Различные вейвлеты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Формула Парсеваля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231" name="Object 7"/>
              <p:cNvSpPr txBox="1"/>
              <p:nvPr/>
            </p:nvSpPr>
            <p:spPr bwMode="auto">
              <a:xfrm>
                <a:off x="285750" y="785813"/>
                <a:ext cx="2200275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023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" y="785813"/>
                <a:ext cx="2200275" cy="571500"/>
              </a:xfrm>
              <a:prstGeom prst="rect">
                <a:avLst/>
              </a:prstGeom>
              <a:blipFill>
                <a:blip r:embed="rId3"/>
                <a:stretch>
                  <a:fillRect l="-2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232" name="Object 8"/>
          <p:cNvSpPr txBox="1"/>
          <p:nvPr/>
        </p:nvSpPr>
        <p:spPr bwMode="auto">
          <a:xfrm>
            <a:off x="3018158" y="1266200"/>
            <a:ext cx="6076355" cy="4206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Необходима новая мера и скалярный результат!!!</a:t>
            </a: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2500298" y="1214422"/>
            <a:ext cx="571504" cy="142876"/>
          </a:xfrm>
          <a:prstGeom prst="straightConnector1">
            <a:avLst/>
          </a:prstGeom>
          <a:ln w="63500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0233" name="Object 9"/>
          <p:cNvGraphicFramePr>
            <a:graphicFrameLocks noChangeAspect="1"/>
          </p:cNvGraphicFramePr>
          <p:nvPr/>
        </p:nvGraphicFramePr>
        <p:xfrm>
          <a:off x="1627180" y="1857364"/>
          <a:ext cx="40386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720" imgH="419040" progId="Equation.DSMT4">
                  <p:embed/>
                </p:oleObj>
              </mc:Choice>
              <mc:Fallback>
                <p:oleObj name="Equation" r:id="rId4" imgW="1701720" imgH="419040" progId="Equation.DSMT4">
                  <p:embed/>
                  <p:pic>
                    <p:nvPicPr>
                      <p:cNvPr id="1802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0" y="1857364"/>
                        <a:ext cx="4038600" cy="9921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4" name="Object 10"/>
          <p:cNvSpPr txBox="1"/>
          <p:nvPr/>
        </p:nvSpPr>
        <p:spPr bwMode="auto">
          <a:xfrm>
            <a:off x="6084168" y="2060563"/>
            <a:ext cx="1873250" cy="7889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Мера Хаара</a:t>
            </a:r>
          </a:p>
        </p:txBody>
      </p:sp>
      <p:grpSp>
        <p:nvGrpSpPr>
          <p:cNvPr id="26" name="Группа 25"/>
          <p:cNvGrpSpPr/>
          <p:nvPr/>
        </p:nvGrpSpPr>
        <p:grpSpPr>
          <a:xfrm>
            <a:off x="500063" y="3143250"/>
            <a:ext cx="8388796" cy="1571634"/>
            <a:chOff x="500063" y="3143250"/>
            <a:chExt cx="8388796" cy="15716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235" name="Object 11"/>
                <p:cNvSpPr txBox="1"/>
                <p:nvPr/>
              </p:nvSpPr>
              <p:spPr bwMode="auto">
                <a:xfrm>
                  <a:off x="500063" y="3143250"/>
                  <a:ext cx="7961308" cy="5715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ru-RU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Гильбертово пространство  </a:t>
                  </a:r>
                  <a14:m>
                    <m:oMath xmlns:m="http://schemas.openxmlformats.org/officeDocument/2006/math"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0235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0063" y="3143250"/>
                  <a:ext cx="7961308" cy="571500"/>
                </a:xfrm>
                <a:prstGeom prst="rect">
                  <a:avLst/>
                </a:prstGeom>
                <a:blipFill>
                  <a:blip r:embed="rId6"/>
                  <a:stretch>
                    <a:fillRect l="-995" t="-75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236" name="Object 12"/>
                <p:cNvSpPr txBox="1"/>
                <p:nvPr/>
              </p:nvSpPr>
              <p:spPr bwMode="auto">
                <a:xfrm>
                  <a:off x="4427984" y="3602046"/>
                  <a:ext cx="4460875" cy="11128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b>
                          <m:sSub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pHide m:val="on"/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Sup>
                              <m:sSubSup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b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  <m:sup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sub>
                          <m:sup/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bar>
                              <m:barPr>
                                <m:pos m:val="top"/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bar>
                            <m:f>
                              <m:f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𝑑𝑎𝑑𝑏</m:t>
                                </m:r>
                              </m:num>
                              <m:den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ru-RU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ru-RU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ru-RU" sz="2200" dirty="0"/>
                </a:p>
              </p:txBody>
            </p:sp>
          </mc:Choice>
          <mc:Fallback xmlns="">
            <p:sp>
              <p:nvSpPr>
                <p:cNvPr id="18023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7984" y="3602046"/>
                  <a:ext cx="4460875" cy="111283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E519386-70DA-4395-A735-D0EEF6F592FD}"/>
              </a:ext>
            </a:extLst>
          </p:cNvPr>
          <p:cNvGrpSpPr/>
          <p:nvPr/>
        </p:nvGrpSpPr>
        <p:grpSpPr>
          <a:xfrm>
            <a:off x="285750" y="4635488"/>
            <a:ext cx="8566330" cy="1511789"/>
            <a:chOff x="254143" y="4714884"/>
            <a:chExt cx="8566330" cy="1511789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571472" y="4714884"/>
              <a:ext cx="8028337" cy="1511789"/>
              <a:chOff x="571472" y="4714884"/>
              <a:chExt cx="7447178" cy="1511789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71472" y="4714884"/>
                <a:ext cx="15716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/>
                <a:r>
                  <a:rPr lang="ru-RU" sz="2200" b="1" i="1" dirty="0">
                    <a:solidFill>
                      <a:srgbClr val="0000FF"/>
                    </a:solidFill>
                  </a:rPr>
                  <a:t>Теорема</a:t>
                </a:r>
                <a:r>
                  <a:rPr lang="en-US" sz="2200" b="1" i="1" dirty="0">
                    <a:solidFill>
                      <a:srgbClr val="0000FF"/>
                    </a:solidFill>
                  </a:rPr>
                  <a:t>:</a:t>
                </a:r>
                <a:endParaRPr lang="ru-RU" sz="2200" b="1" i="1" dirty="0">
                  <a:solidFill>
                    <a:srgbClr val="0000FF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238" name="Object 14"/>
                  <p:cNvSpPr txBox="1"/>
                  <p:nvPr/>
                </p:nvSpPr>
                <p:spPr bwMode="auto">
                  <a:xfrm>
                    <a:off x="5351135" y="5731999"/>
                    <a:ext cx="2667515" cy="494674"/>
                  </a:xfrm>
                  <a:prstGeom prst="rect">
                    <a:avLst/>
                  </a:prstGeom>
                  <a:noFill/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m:rPr>
                              <m:sty m:val="p"/>
                            </m:r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ru-RU" sz="2200" dirty="0"/>
                  </a:p>
                </p:txBody>
              </p:sp>
            </mc:Choice>
            <mc:Fallback xmlns="">
              <p:sp>
                <p:nvSpPr>
                  <p:cNvPr id="180238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351135" y="5731999"/>
                    <a:ext cx="2667515" cy="49467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28"/>
                    </a:stretch>
                  </a:blip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11">
                  <a:extLst>
                    <a:ext uri="{FF2B5EF4-FFF2-40B4-BE49-F238E27FC236}">
                      <a16:creationId xmlns:a16="http://schemas.microsoft.com/office/drawing/2014/main" id="{82B37413-D09C-4773-B243-30C780D7B789}"/>
                    </a:ext>
                  </a:extLst>
                </p:cNvPr>
                <p:cNvSpPr txBox="1"/>
                <p:nvPr/>
              </p:nvSpPr>
              <p:spPr bwMode="auto">
                <a:xfrm>
                  <a:off x="254143" y="5160499"/>
                  <a:ext cx="8566330" cy="5715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20000"/>
                </a:bodyPr>
                <a:lstStyle/>
                <a:p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произвольный вейвлет и пусть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соответствующее вейвлет-преобразование. Тогда для всех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справедливо: </a:t>
                  </a:r>
                </a:p>
              </p:txBody>
            </p:sp>
          </mc:Choice>
          <mc:Fallback xmlns="">
            <p:sp>
              <p:nvSpPr>
                <p:cNvPr id="25" name="Object 11">
                  <a:extLst>
                    <a:ext uri="{FF2B5EF4-FFF2-40B4-BE49-F238E27FC236}">
                      <a16:creationId xmlns:a16="http://schemas.microsoft.com/office/drawing/2014/main" id="{82B37413-D09C-4773-B243-30C780D7B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4143" y="5160499"/>
                  <a:ext cx="8566330" cy="571500"/>
                </a:xfrm>
                <a:prstGeom prst="rect">
                  <a:avLst/>
                </a:prstGeom>
                <a:blipFill>
                  <a:blip r:embed="rId9"/>
                  <a:stretch>
                    <a:fillRect l="-712" t="-13978" b="-193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/>
              <p:cNvSpPr txBox="1"/>
              <p:nvPr/>
            </p:nvSpPr>
            <p:spPr bwMode="auto">
              <a:xfrm>
                <a:off x="285750" y="722313"/>
                <a:ext cx="7473950" cy="9921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ba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𝑑𝑏</m:t>
                                  </m:r>
                                </m:e>
                              </m:nary>
                            </m:e>
                          </m:d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" y="722313"/>
                <a:ext cx="7473950" cy="992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3" name="Object 11"/>
              <p:cNvSpPr txBox="1"/>
              <p:nvPr/>
            </p:nvSpPr>
            <p:spPr bwMode="auto">
              <a:xfrm>
                <a:off x="417513" y="1936750"/>
                <a:ext cx="7654925" cy="992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(−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ba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</m:nary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252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513" y="1936750"/>
                <a:ext cx="7654925" cy="992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4" name="Object 12"/>
              <p:cNvSpPr txBox="1"/>
              <p:nvPr/>
            </p:nvSpPr>
            <p:spPr bwMode="auto">
              <a:xfrm>
                <a:off x="139700" y="3071813"/>
                <a:ext cx="8858250" cy="922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/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</m:acc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ba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</m:nary>
                            </m:e>
                          </m:d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252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00" y="3071813"/>
                <a:ext cx="8858250" cy="9223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6" name="Object 14"/>
              <p:cNvSpPr txBox="1"/>
              <p:nvPr/>
            </p:nvSpPr>
            <p:spPr bwMode="auto">
              <a:xfrm>
                <a:off x="357188" y="4143375"/>
                <a:ext cx="5241925" cy="1023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bar>
                              <m:nary>
                                <m:naryPr>
                                  <m:supHide m:val="on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  <m:sup/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𝑑𝑎</m:t>
                                      </m:r>
                                    </m:num>
                                    <m:den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25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88" y="4143375"/>
                <a:ext cx="5241925" cy="1023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Скругленный прямоугольник 19"/>
          <p:cNvSpPr/>
          <p:nvPr/>
        </p:nvSpPr>
        <p:spPr>
          <a:xfrm>
            <a:off x="2857488" y="4231751"/>
            <a:ext cx="2146560" cy="8403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 rot="10800000" flipV="1">
            <a:off x="1714480" y="5072074"/>
            <a:ext cx="1143008" cy="64294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527" name="Object 15"/>
              <p:cNvSpPr txBox="1"/>
              <p:nvPr/>
            </p:nvSpPr>
            <p:spPr bwMode="auto">
              <a:xfrm>
                <a:off x="746125" y="5334000"/>
                <a:ext cx="968375" cy="881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252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125" y="5334000"/>
                <a:ext cx="968375" cy="881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8" name="Object 16"/>
              <p:cNvSpPr txBox="1"/>
              <p:nvPr/>
            </p:nvSpPr>
            <p:spPr bwMode="auto">
              <a:xfrm>
                <a:off x="2286000" y="5334000"/>
                <a:ext cx="6715125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bar>
                            <m:barPr>
                              <m:pos m:val="top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ar>
                        </m:e>
                      </m:nary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25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334000"/>
                <a:ext cx="6715125" cy="952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>
            <a:extLst>
              <a:ext uri="{FF2B5EF4-FFF2-40B4-BE49-F238E27FC236}">
                <a16:creationId xmlns:a16="http://schemas.microsoft.com/office/drawing/2014/main" id="{7055AF41-E205-46EB-9E59-35307AAF6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Формула Парсеваля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0231" name="Object 7"/>
              <p:cNvSpPr txBox="1"/>
              <p:nvPr/>
            </p:nvSpPr>
            <p:spPr bwMode="auto">
              <a:xfrm>
                <a:off x="330200" y="830263"/>
                <a:ext cx="3809752" cy="481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Предположим</a:t>
                </a:r>
                <a:r>
                  <a:rPr lang="ru-RU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18023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200" y="830263"/>
                <a:ext cx="3809752" cy="481012"/>
              </a:xfrm>
              <a:prstGeom prst="rect">
                <a:avLst/>
              </a:prstGeom>
              <a:blipFill>
                <a:blip r:embed="rId2"/>
                <a:stretch>
                  <a:fillRect l="-2400" t="-10127" b="-240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2267744" y="1311275"/>
            <a:ext cx="78581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258" name="Object 10"/>
              <p:cNvSpPr txBox="1"/>
              <p:nvPr/>
            </p:nvSpPr>
            <p:spPr bwMode="auto">
              <a:xfrm>
                <a:off x="882650" y="1357313"/>
                <a:ext cx="4189413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125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2650" y="1357313"/>
                <a:ext cx="4189413" cy="571500"/>
              </a:xfrm>
              <a:prstGeom prst="rect">
                <a:avLst/>
              </a:prstGeom>
              <a:blipFill>
                <a:blip r:embed="rId3"/>
                <a:stretch>
                  <a:fillRect l="-4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59" name="Object 11"/>
              <p:cNvSpPr txBox="1"/>
              <p:nvPr/>
            </p:nvSpPr>
            <p:spPr bwMode="auto">
              <a:xfrm>
                <a:off x="5553075" y="1785938"/>
                <a:ext cx="259080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125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3075" y="1785938"/>
                <a:ext cx="2590800" cy="571500"/>
              </a:xfrm>
              <a:prstGeom prst="rect">
                <a:avLst/>
              </a:prstGeom>
              <a:blipFill>
                <a:blip r:embed="rId4"/>
                <a:stretch>
                  <a:fillRect l="-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260" name="Object 12"/>
          <p:cNvSpPr txBox="1"/>
          <p:nvPr/>
        </p:nvSpPr>
        <p:spPr bwMode="auto">
          <a:xfrm>
            <a:off x="285080" y="2277266"/>
            <a:ext cx="4397375" cy="4810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 fontScale="92500"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 симметричности вейвлета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61" name="Object 13"/>
              <p:cNvSpPr txBox="1"/>
              <p:nvPr/>
            </p:nvSpPr>
            <p:spPr bwMode="auto">
              <a:xfrm>
                <a:off x="1367812" y="2793859"/>
                <a:ext cx="7488832" cy="1313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𝑑𝑎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𝑑𝑎</m:t>
                          </m:r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  <m:sup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ru-RU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(∗∗)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126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7812" y="2793859"/>
                <a:ext cx="7488832" cy="1313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76347" y="3841512"/>
                <a:ext cx="8391306" cy="79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/>
                <a:r>
                  <a:rPr lang="ru-RU" sz="22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Упражнение</a:t>
                </a:r>
                <a:r>
                  <a:rPr lang="en-US" sz="22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</a:t>
                </a:r>
                <a:r>
                  <a:rPr lang="ru-RU" sz="22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докажите, что симметричные или вещественно-значимые </a:t>
                </a:r>
                <a14:m>
                  <m:oMath xmlns:m="http://schemas.openxmlformats.org/officeDocument/2006/math">
                    <m:r>
                      <a:rPr lang="ru-RU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ru-RU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удовлетворяют этому условию. </a:t>
                </a:r>
                <a:endParaRPr lang="ru-RU" sz="2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47" y="3841512"/>
                <a:ext cx="8391306" cy="791692"/>
              </a:xfrm>
              <a:prstGeom prst="rect">
                <a:avLst/>
              </a:prstGeom>
              <a:blipFill>
                <a:blip r:embed="rId6"/>
                <a:stretch>
                  <a:fillRect l="-945" t="-5385" r="-945" b="-12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C91642-60E8-4D10-B160-06C6B98F770C}"/>
              </a:ext>
            </a:extLst>
          </p:cNvPr>
          <p:cNvGrpSpPr/>
          <p:nvPr/>
        </p:nvGrpSpPr>
        <p:grpSpPr>
          <a:xfrm>
            <a:off x="138748" y="4551512"/>
            <a:ext cx="8700453" cy="1788994"/>
            <a:chOff x="138748" y="4551512"/>
            <a:chExt cx="8700453" cy="1788994"/>
          </a:xfrm>
        </p:grpSpPr>
        <p:grpSp>
          <p:nvGrpSpPr>
            <p:cNvPr id="26" name="Группа 25"/>
            <p:cNvGrpSpPr/>
            <p:nvPr/>
          </p:nvGrpSpPr>
          <p:grpSpPr>
            <a:xfrm>
              <a:off x="274374" y="4551512"/>
              <a:ext cx="8564827" cy="1788994"/>
              <a:chOff x="571472" y="4572008"/>
              <a:chExt cx="8564827" cy="1788994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571472" y="4572008"/>
                <a:ext cx="15716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/>
                <a:r>
                  <a:rPr lang="ru-RU" sz="2200" b="1" i="1" dirty="0">
                    <a:solidFill>
                      <a:srgbClr val="0000FF"/>
                    </a:solidFill>
                  </a:rPr>
                  <a:t>Теорема</a:t>
                </a:r>
                <a:r>
                  <a:rPr lang="en-US" sz="2200" b="1" i="1" dirty="0">
                    <a:solidFill>
                      <a:srgbClr val="0000FF"/>
                    </a:solidFill>
                  </a:rPr>
                  <a:t>:</a:t>
                </a:r>
                <a:endParaRPr lang="ru-RU" sz="2200" b="1" i="1" dirty="0">
                  <a:solidFill>
                    <a:srgbClr val="0000FF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bject 14"/>
                  <p:cNvSpPr txBox="1"/>
                  <p:nvPr/>
                </p:nvSpPr>
                <p:spPr bwMode="auto">
                  <a:xfrm>
                    <a:off x="5369161" y="5789502"/>
                    <a:ext cx="3767138" cy="571500"/>
                  </a:xfrm>
                  <a:prstGeom prst="rect">
                    <a:avLst/>
                  </a:prstGeom>
                  <a:noFill/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m:rPr>
                              <m:sty m:val="p"/>
                            </m:r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ru-RU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  <m:sup>
                              <m: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ru-RU" sz="2800" dirty="0"/>
                  </a:p>
                </p:txBody>
              </p:sp>
            </mc:Choice>
            <mc:Fallback xmlns="">
              <p:sp>
                <p:nvSpPr>
                  <p:cNvPr id="29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369161" y="5789502"/>
                    <a:ext cx="3767138" cy="5715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A822B2-E754-463E-8A44-A4DF7C94618E}"/>
                    </a:ext>
                  </a:extLst>
                </p:cNvPr>
                <p:cNvSpPr txBox="1"/>
                <p:nvPr/>
              </p:nvSpPr>
              <p:spPr>
                <a:xfrm>
                  <a:off x="138748" y="4880011"/>
                  <a:ext cx="8391306" cy="11747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 algn="just"/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вейвлет, удовлетворяющий условию симметрии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(∗∗)</m:t>
                      </m:r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и пусть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соответствующие вейвлет-преобразование. Тогда </a:t>
                  </a:r>
                  <a14:m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ru-RU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ru-RU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</a:t>
                  </a:r>
                  <a:r>
                    <a:rPr lang="ru-RU" sz="22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A822B2-E754-463E-8A44-A4DF7C946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748" y="4880011"/>
                  <a:ext cx="8391306" cy="1174745"/>
                </a:xfrm>
                <a:prstGeom prst="rect">
                  <a:avLst/>
                </a:prstGeom>
                <a:blipFill>
                  <a:blip r:embed="rId8"/>
                  <a:stretch>
                    <a:fillRect l="-945" t="-1563" r="-945" b="-781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93098D21-5CD1-43ED-B21D-C387FE5F7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Формула Парсеваля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/>
              <p:cNvSpPr txBox="1"/>
              <p:nvPr/>
            </p:nvSpPr>
            <p:spPr bwMode="auto">
              <a:xfrm>
                <a:off x="237624" y="722313"/>
                <a:ext cx="7473950" cy="9921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ba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𝑑𝑏</m:t>
                                  </m:r>
                                </m:e>
                              </m:nary>
                            </m:e>
                          </m:d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624" y="722313"/>
                <a:ext cx="7473950" cy="992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6" name="Object 14"/>
              <p:cNvSpPr txBox="1"/>
              <p:nvPr/>
            </p:nvSpPr>
            <p:spPr bwMode="auto">
              <a:xfrm>
                <a:off x="3563888" y="2171766"/>
                <a:ext cx="5241925" cy="1023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acc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bar>
                              <m:nary>
                                <m:naryPr>
                                  <m:supHide m:val="on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&gt;0</m:t>
                                  </m:r>
                                </m:sub>
                                <m:sup/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24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  <m:r>
                                    <a:rPr lang="ru-RU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𝑑𝑎</m:t>
                                      </m:r>
                                    </m:num>
                                    <m:den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ru-RU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25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2171766"/>
                <a:ext cx="5241925" cy="1023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Скругленный прямоугольник 19"/>
          <p:cNvSpPr/>
          <p:nvPr/>
        </p:nvSpPr>
        <p:spPr>
          <a:xfrm>
            <a:off x="6333616" y="2226672"/>
            <a:ext cx="2146560" cy="8403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 rot="10800000" flipV="1">
            <a:off x="5195891" y="3121901"/>
            <a:ext cx="1143008" cy="64294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527" name="Object 15"/>
              <p:cNvSpPr txBox="1"/>
              <p:nvPr/>
            </p:nvSpPr>
            <p:spPr bwMode="auto">
              <a:xfrm>
                <a:off x="4222253" y="3328921"/>
                <a:ext cx="968375" cy="881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252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2253" y="3328921"/>
                <a:ext cx="968375" cy="881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528" name="Object 16"/>
              <p:cNvSpPr txBox="1"/>
              <p:nvPr/>
            </p:nvSpPr>
            <p:spPr bwMode="auto">
              <a:xfrm>
                <a:off x="1331640" y="4667251"/>
                <a:ext cx="6715125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ru-RU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bar>
                            <m:barPr>
                              <m:pos m:val="top"/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ar>
                        </m:e>
                      </m:nary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</m:num>
                        <m:den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25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4667251"/>
                <a:ext cx="6715125" cy="952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>
            <a:extLst>
              <a:ext uri="{FF2B5EF4-FFF2-40B4-BE49-F238E27FC236}">
                <a16:creationId xmlns:a16="http://schemas.microsoft.com/office/drawing/2014/main" id="{7055AF41-E205-46EB-9E59-35307AAF6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Формула Парсеваля</a:t>
            </a:r>
          </a:p>
        </p:txBody>
      </p:sp>
    </p:spTree>
    <p:extLst>
      <p:ext uri="{BB962C8B-B14F-4D97-AF65-F5344CB8AC3E}">
        <p14:creationId xmlns:p14="http://schemas.microsoft.com/office/powerpoint/2010/main" val="42090525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58DBCE3-7DD9-400D-90D3-B781537DB9A2}"/>
              </a:ext>
            </a:extLst>
          </p:cNvPr>
          <p:cNvGrpSpPr/>
          <p:nvPr/>
        </p:nvGrpSpPr>
        <p:grpSpPr>
          <a:xfrm>
            <a:off x="382400" y="1556792"/>
            <a:ext cx="8535392" cy="3451820"/>
            <a:chOff x="382400" y="1556792"/>
            <a:chExt cx="8535392" cy="3451820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395536" y="1556792"/>
              <a:ext cx="6156684" cy="3451820"/>
              <a:chOff x="357158" y="1357298"/>
              <a:chExt cx="4670588" cy="3451820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357158" y="1357298"/>
                <a:ext cx="15716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/>
                <a:r>
                  <a:rPr lang="ru-RU" sz="2200" b="1" i="1" dirty="0">
                    <a:solidFill>
                      <a:srgbClr val="0000FF"/>
                    </a:solidFill>
                  </a:rPr>
                  <a:t>Теорема</a:t>
                </a:r>
                <a:r>
                  <a:rPr lang="en-US" sz="2200" b="1" i="1" dirty="0">
                    <a:solidFill>
                      <a:srgbClr val="0000FF"/>
                    </a:solidFill>
                  </a:rPr>
                  <a:t>:</a:t>
                </a:r>
                <a:endParaRPr lang="ru-RU" sz="2200" b="1" i="1" dirty="0">
                  <a:solidFill>
                    <a:srgbClr val="0000FF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bject 14"/>
                  <p:cNvSpPr txBox="1"/>
                  <p:nvPr/>
                </p:nvSpPr>
                <p:spPr bwMode="auto">
                  <a:xfrm>
                    <a:off x="2023274" y="4237618"/>
                    <a:ext cx="3004472" cy="571500"/>
                  </a:xfrm>
                  <a:prstGeom prst="rect">
                    <a:avLst/>
                  </a:prstGeom>
                  <a:noFill/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ru-RU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sub>
                          </m:sSub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  <m:sub>
                              <m: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𝜓𝜒</m:t>
                              </m:r>
                            </m:sub>
                          </m:sSub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ru-RU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ru-RU" sz="2600" dirty="0"/>
                  </a:p>
                </p:txBody>
              </p:sp>
            </mc:Choice>
            <mc:Fallback xmlns="">
              <p:sp>
                <p:nvSpPr>
                  <p:cNvPr id="22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023274" y="4237618"/>
                    <a:ext cx="3004472" cy="5715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12">
                  <a:extLst>
                    <a:ext uri="{FF2B5EF4-FFF2-40B4-BE49-F238E27FC236}">
                      <a16:creationId xmlns:a16="http://schemas.microsoft.com/office/drawing/2014/main" id="{8E560A40-53A6-45E5-BB24-D2572A68FB1C}"/>
                    </a:ext>
                  </a:extLst>
                </p:cNvPr>
                <p:cNvSpPr txBox="1"/>
                <p:nvPr/>
              </p:nvSpPr>
              <p:spPr bwMode="auto">
                <a:xfrm>
                  <a:off x="382400" y="2204864"/>
                  <a:ext cx="8535392" cy="19450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 </a:t>
                  </a:r>
                  <a14:m>
                    <m:oMath xmlns:m="http://schemas.openxmlformats.org/officeDocument/2006/math">
                      <m:r>
                        <a:rPr lang="ru-RU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и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𝜒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два вейвлета и предположим, что интеграл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nary>
                          <m:naryPr>
                            <m:limLoc m:val="undOvr"/>
                            <m:supHide m:val="on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  <m:sup/>
                          <m:e>
                            <m:f>
                              <m:f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bar>
                                  <m:barPr>
                                    <m:pos m:val="top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acc>
                                    <m: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ba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</m:acc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𝑑𝑎</m:t>
                            </m:r>
                          </m:e>
                        </m:nary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𝜓𝜒</m:t>
                            </m:r>
                          </m:sub>
                        </m:sSub>
                      </m:oMath>
                    </m:oMathPara>
                  </a14:m>
                  <a:endPara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определен, т. е. конечен. Если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и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sub>
                      </m:sSub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обозначают вейвлет-преобразования по отношению к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и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𝜒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то для произвольных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верно следующее        </a:t>
                  </a:r>
                </a:p>
              </p:txBody>
            </p:sp>
          </mc:Choice>
          <mc:Fallback xmlns="">
            <p:sp>
              <p:nvSpPr>
                <p:cNvPr id="15" name="Object 12">
                  <a:extLst>
                    <a:ext uri="{FF2B5EF4-FFF2-40B4-BE49-F238E27FC236}">
                      <a16:creationId xmlns:a16="http://schemas.microsoft.com/office/drawing/2014/main" id="{8E560A40-53A6-45E5-BB24-D2572A68F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2400" y="2204864"/>
                  <a:ext cx="8535392" cy="1945008"/>
                </a:xfrm>
                <a:prstGeom prst="rect">
                  <a:avLst/>
                </a:prstGeom>
                <a:blipFill>
                  <a:blip r:embed="rId3"/>
                  <a:stretch>
                    <a:fillRect l="-786" t="-1881" r="-714" b="-43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0CA1ED3F-62DF-4C8D-A1AF-26FDD1724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Формула Парсеваля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Обратное преобразование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596" y="642918"/>
            <a:ext cx="14287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ru-RU" sz="2200" b="1" i="1" dirty="0">
                <a:solidFill>
                  <a:srgbClr val="0000FF"/>
                </a:solidFill>
              </a:rPr>
              <a:t>Лемма</a:t>
            </a:r>
            <a:r>
              <a:rPr lang="en-US" sz="2200" b="1" i="1" dirty="0">
                <a:solidFill>
                  <a:srgbClr val="0000FF"/>
                </a:solidFill>
              </a:rPr>
              <a:t>:</a:t>
            </a:r>
            <a:endParaRPr lang="ru-RU" sz="2200" b="1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303" name="Object 7"/>
              <p:cNvSpPr txBox="1"/>
              <p:nvPr/>
            </p:nvSpPr>
            <p:spPr bwMode="auto">
              <a:xfrm>
                <a:off x="2627784" y="2329059"/>
                <a:ext cx="3527425" cy="57606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unc>
                        <m:funcPr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→0+</m:t>
                              </m:r>
                            </m:lim>
                          </m:limLow>
                        </m:fName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330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784" y="2329059"/>
                <a:ext cx="3527425" cy="576063"/>
              </a:xfrm>
              <a:prstGeom prst="rect">
                <a:avLst/>
              </a:prstGeom>
              <a:blipFill>
                <a:blip r:embed="rId2"/>
                <a:stretch>
                  <a:fillRect b="-990"/>
                </a:stretch>
              </a:blipFill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Группа 22"/>
          <p:cNvGrpSpPr/>
          <p:nvPr/>
        </p:nvGrpSpPr>
        <p:grpSpPr>
          <a:xfrm>
            <a:off x="827088" y="4833938"/>
            <a:ext cx="7489825" cy="1329872"/>
            <a:chOff x="827088" y="4833938"/>
            <a:chExt cx="7489825" cy="13298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306" name="Object 10"/>
                <p:cNvSpPr txBox="1"/>
                <p:nvPr/>
              </p:nvSpPr>
              <p:spPr bwMode="auto">
                <a:xfrm>
                  <a:off x="827088" y="4833938"/>
                  <a:ext cx="7489825" cy="550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−⋅</m:t>
                          </m:r>
                        </m:e>
                      </m:d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ru-RU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затем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ru-RU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на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a14:m>
                  <a:r>
                    <a:rPr lang="ru-RU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если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a14:m>
                  <a:endPara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330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088" y="4833938"/>
                  <a:ext cx="7489825" cy="550862"/>
                </a:xfrm>
                <a:prstGeom prst="rect">
                  <a:avLst/>
                </a:prstGeom>
                <a:blipFill>
                  <a:blip r:embed="rId3"/>
                  <a:stretch>
                    <a:fillRect l="-896" t="-555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307" name="Object 11"/>
                <p:cNvSpPr txBox="1"/>
                <p:nvPr/>
              </p:nvSpPr>
              <p:spPr bwMode="auto">
                <a:xfrm>
                  <a:off x="1691680" y="5504657"/>
                  <a:ext cx="4216003" cy="5508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ru-RU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</a:t>
                  </a:r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«</a:t>
                  </a:r>
                  <a:r>
                    <a:rPr lang="ru-RU" sz="2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свёрточное</a:t>
                  </a:r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тождество»</a:t>
                  </a:r>
                </a:p>
              </p:txBody>
            </p:sp>
          </mc:Choice>
          <mc:Fallback xmlns="">
            <p:sp>
              <p:nvSpPr>
                <p:cNvPr id="183307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91680" y="5504657"/>
                  <a:ext cx="4216003" cy="550862"/>
                </a:xfrm>
                <a:prstGeom prst="rect">
                  <a:avLst/>
                </a:prstGeom>
                <a:blipFill>
                  <a:blip r:embed="rId4"/>
                  <a:stretch>
                    <a:fillRect t="-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308" name="Object 12"/>
                <p:cNvSpPr txBox="1"/>
                <p:nvPr/>
              </p:nvSpPr>
              <p:spPr bwMode="auto">
                <a:xfrm>
                  <a:off x="5724128" y="5612948"/>
                  <a:ext cx="1612900" cy="550862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3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ru-RU"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  <m:r>
                          <a:rPr lang="ru-RU"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ru-RU" sz="3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)=1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83308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24128" y="5612948"/>
                  <a:ext cx="1612900" cy="5508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2">
                <a:extLst>
                  <a:ext uri="{FF2B5EF4-FFF2-40B4-BE49-F238E27FC236}">
                    <a16:creationId xmlns:a16="http://schemas.microsoft.com/office/drawing/2014/main" id="{F9346335-125D-4CDF-9084-CEF7953E7287}"/>
                  </a:ext>
                </a:extLst>
              </p:cNvPr>
              <p:cNvSpPr txBox="1"/>
              <p:nvPr/>
            </p:nvSpPr>
            <p:spPr bwMode="auto">
              <a:xfrm>
                <a:off x="400437" y="1052177"/>
                <a:ext cx="8535392" cy="19450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func>
                      <m:func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0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нормальное распределение со среднеквадратическим отклонением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предположим, что функция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непрерывна в некоторой данной точке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Тогда      </a:t>
                </a:r>
              </a:p>
            </p:txBody>
          </p:sp>
        </mc:Choice>
        <mc:Fallback xmlns="">
          <p:sp>
            <p:nvSpPr>
              <p:cNvPr id="22" name="Object 12">
                <a:extLst>
                  <a:ext uri="{FF2B5EF4-FFF2-40B4-BE49-F238E27FC236}">
                    <a16:creationId xmlns:a16="http://schemas.microsoft.com/office/drawing/2014/main" id="{F9346335-125D-4CDF-9084-CEF7953E7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437" y="1052177"/>
                <a:ext cx="8535392" cy="1945008"/>
              </a:xfrm>
              <a:prstGeom prst="rect">
                <a:avLst/>
              </a:prstGeom>
              <a:blipFill>
                <a:blip r:embed="rId6"/>
                <a:stretch>
                  <a:fillRect l="-7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2B24E50-88B3-460E-9AC0-E7BFAAFD29D9}"/>
              </a:ext>
            </a:extLst>
          </p:cNvPr>
          <p:cNvGrpSpPr/>
          <p:nvPr/>
        </p:nvGrpSpPr>
        <p:grpSpPr>
          <a:xfrm>
            <a:off x="539552" y="3286124"/>
            <a:ext cx="8137525" cy="1391180"/>
            <a:chOff x="539552" y="3286124"/>
            <a:chExt cx="8137525" cy="1391180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571472" y="3286124"/>
              <a:ext cx="8105605" cy="1391180"/>
              <a:chOff x="571472" y="3286124"/>
              <a:chExt cx="8105605" cy="1391180"/>
            </a:xfrm>
          </p:grpSpPr>
          <p:cxnSp>
            <p:nvCxnSpPr>
              <p:cNvPr id="13" name="Прямая соединительная линия 12"/>
              <p:cNvCxnSpPr/>
              <p:nvPr/>
            </p:nvCxnSpPr>
            <p:spPr>
              <a:xfrm>
                <a:off x="571472" y="3286124"/>
                <a:ext cx="7929618" cy="0"/>
              </a:xfrm>
              <a:prstGeom prst="line">
                <a:avLst/>
              </a:prstGeom>
              <a:ln w="50800">
                <a:solidFill>
                  <a:srgbClr val="00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305" name="Object 9"/>
                  <p:cNvSpPr txBox="1"/>
                  <p:nvPr/>
                </p:nvSpPr>
                <p:spPr bwMode="auto">
                  <a:xfrm>
                    <a:off x="5148064" y="4182004"/>
                    <a:ext cx="3529013" cy="4953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−⋅)=(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ru-RU" sz="2000" dirty="0"/>
                  </a:p>
                </p:txBody>
              </p:sp>
            </mc:Choice>
            <mc:Fallback xmlns="">
              <p:sp>
                <p:nvSpPr>
                  <p:cNvPr id="183305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148064" y="4182004"/>
                    <a:ext cx="3529013" cy="4953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12">
                  <a:extLst>
                    <a:ext uri="{FF2B5EF4-FFF2-40B4-BE49-F238E27FC236}">
                      <a16:creationId xmlns:a16="http://schemas.microsoft.com/office/drawing/2014/main" id="{EBE5F69A-5BEE-441C-B0AA-B88D829D5F83}"/>
                    </a:ext>
                  </a:extLst>
                </p:cNvPr>
                <p:cNvSpPr txBox="1"/>
                <p:nvPr/>
              </p:nvSpPr>
              <p:spPr bwMode="auto">
                <a:xfrm>
                  <a:off x="539552" y="3329072"/>
                  <a:ext cx="7961538" cy="11095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- «набор» непрерывных функций из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</a:t>
                  </a:r>
                  <a:b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Для любого фиксированного </a:t>
                  </a:r>
                  <a14:m>
                    <m:oMath xmlns:m="http://schemas.openxmlformats.org/officeDocument/2006/math"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каждое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может считаться «линейным функционалом» на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ru-RU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Object 12">
                  <a:extLst>
                    <a:ext uri="{FF2B5EF4-FFF2-40B4-BE49-F238E27FC236}">
                      <a16:creationId xmlns:a16="http://schemas.microsoft.com/office/drawing/2014/main" id="{EBE5F69A-5BEE-441C-B0AA-B88D829D5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9552" y="3329072"/>
                  <a:ext cx="7961538" cy="1109578"/>
                </a:xfrm>
                <a:prstGeom prst="rect">
                  <a:avLst/>
                </a:prstGeom>
                <a:blipFill>
                  <a:blip r:embed="rId8"/>
                  <a:stretch>
                    <a:fillRect l="-842" t="-2198" b="-16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Обратное преобразование </a:t>
            </a:r>
          </a:p>
        </p:txBody>
      </p:sp>
      <p:pic>
        <p:nvPicPr>
          <p:cNvPr id="19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1428736"/>
            <a:ext cx="5072098" cy="3857278"/>
          </a:xfrm>
          <a:prstGeom prst="rect">
            <a:avLst/>
          </a:prstGeom>
          <a:noFill/>
          <a:ln w="38100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Обратное преобразование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067" name="Object 11"/>
              <p:cNvSpPr txBox="1"/>
              <p:nvPr/>
            </p:nvSpPr>
            <p:spPr bwMode="auto">
              <a:xfrm>
                <a:off x="2903538" y="790788"/>
                <a:ext cx="3408362" cy="541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)=⟨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7306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3538" y="790788"/>
                <a:ext cx="3408362" cy="541337"/>
              </a:xfrm>
              <a:prstGeom prst="rect">
                <a:avLst/>
              </a:prstGeom>
              <a:blipFill>
                <a:blip r:embed="rId2"/>
                <a:stretch>
                  <a:fillRect l="-10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068" name="Object 12"/>
              <p:cNvSpPr txBox="1"/>
              <p:nvPr/>
            </p:nvSpPr>
            <p:spPr bwMode="auto">
              <a:xfrm>
                <a:off x="2241863" y="1298375"/>
                <a:ext cx="4643946" cy="1146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⟩=</m:t>
                      </m:r>
                      <m:f>
                        <m:f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)⟨</m:t>
                          </m:r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  <m:f>
                            <m:f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𝑑𝑎𝑑𝑏</m:t>
                              </m:r>
                            </m:num>
                            <m:den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17306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1863" y="1298375"/>
                <a:ext cx="4643946" cy="11467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Группа 25"/>
          <p:cNvGrpSpPr/>
          <p:nvPr/>
        </p:nvGrpSpPr>
        <p:grpSpPr>
          <a:xfrm>
            <a:off x="428625" y="2000240"/>
            <a:ext cx="7858125" cy="1710528"/>
            <a:chOff x="428625" y="2428868"/>
            <a:chExt cx="7858125" cy="17105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069" name="Object 13"/>
                <p:cNvSpPr txBox="1"/>
                <p:nvPr/>
              </p:nvSpPr>
              <p:spPr bwMode="auto">
                <a:xfrm>
                  <a:off x="2587625" y="3000377"/>
                  <a:ext cx="5699125" cy="11390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⟩=</m:t>
                        </m:r>
                        <m:f>
                          <m:f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limLoc m:val="undOvr"/>
                            <m:supHide m:val="on"/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Sup>
                              <m:sSubSup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b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  <m:sup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)⟨</m:t>
                            </m:r>
                            <m:sSub>
                              <m:sSub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⟩</m:t>
                            </m:r>
                            <m:f>
                              <m:fPr>
                                <m:ctrlP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𝑑𝑎𝑑𝑏</m:t>
                                </m:r>
                              </m:num>
                              <m:den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u-RU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ru-RU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ru-RU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ru-RU" sz="2200" dirty="0"/>
                </a:p>
              </p:txBody>
            </p:sp>
          </mc:Choice>
          <mc:Fallback xmlns="">
            <p:sp>
              <p:nvSpPr>
                <p:cNvPr id="173069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7625" y="3000377"/>
                  <a:ext cx="5699125" cy="11390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070" name="Object 14"/>
                <p:cNvSpPr txBox="1"/>
                <p:nvPr/>
              </p:nvSpPr>
              <p:spPr bwMode="auto">
                <a:xfrm>
                  <a:off x="428625" y="2500316"/>
                  <a:ext cx="1357313" cy="5413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ru-RU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ru-RU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oMath>
                    </m:oMathPara>
                  </a14:m>
                  <a:endParaRPr lang="ru-RU" sz="2200" dirty="0"/>
                </a:p>
              </p:txBody>
            </p:sp>
          </mc:Choice>
          <mc:Fallback xmlns="">
            <p:sp>
              <p:nvSpPr>
                <p:cNvPr id="173070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625" y="2500316"/>
                  <a:ext cx="1357313" cy="541337"/>
                </a:xfrm>
                <a:prstGeom prst="rect">
                  <a:avLst/>
                </a:prstGeom>
                <a:blipFill>
                  <a:blip r:embed="rId5"/>
                  <a:stretch>
                    <a:fillRect l="-4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Прямая со стрелкой 20"/>
            <p:cNvCxnSpPr>
              <a:cxnSpLocks/>
              <a:stCxn id="173070" idx="3"/>
            </p:cNvCxnSpPr>
            <p:nvPr/>
          </p:nvCxnSpPr>
          <p:spPr>
            <a:xfrm flipV="1">
              <a:off x="1785938" y="2428868"/>
              <a:ext cx="1106047" cy="342117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 rot="5400000">
              <a:off x="4135208" y="2657582"/>
              <a:ext cx="642942" cy="214314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3"/>
              <p:cNvSpPr txBox="1"/>
              <p:nvPr/>
            </p:nvSpPr>
            <p:spPr bwMode="auto">
              <a:xfrm>
                <a:off x="1042988" y="3621088"/>
                <a:ext cx="7129412" cy="1139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𝑑𝑎𝑑𝑏</m:t>
                              </m:r>
                            </m:num>
                            <m:den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2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3621088"/>
                <a:ext cx="7129412" cy="11390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Группа 36"/>
          <p:cNvGrpSpPr/>
          <p:nvPr/>
        </p:nvGrpSpPr>
        <p:grpSpPr>
          <a:xfrm>
            <a:off x="273050" y="4857750"/>
            <a:ext cx="8259390" cy="1214438"/>
            <a:chOff x="273050" y="4857750"/>
            <a:chExt cx="8259390" cy="12144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074" name="Object 18"/>
                <p:cNvSpPr txBox="1"/>
                <p:nvPr/>
              </p:nvSpPr>
              <p:spPr bwMode="auto">
                <a:xfrm>
                  <a:off x="273050" y="5045894"/>
                  <a:ext cx="2210718" cy="4810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r>
                    <a:rPr lang="ru-RU" sz="22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Пусть</a:t>
                  </a:r>
                  <a:r>
                    <a:rPr lang="ru-RU" sz="2200" dirty="0">
                      <a:solidFill>
                        <a:srgbClr val="0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ru-RU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→0+</m:t>
                      </m:r>
                    </m:oMath>
                  </a14:m>
                  <a:endParaRPr lang="ru-RU" sz="2200" dirty="0"/>
                </a:p>
              </p:txBody>
            </p:sp>
          </mc:Choice>
          <mc:Fallback xmlns="">
            <p:sp>
              <p:nvSpPr>
                <p:cNvPr id="173074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3050" y="5045894"/>
                  <a:ext cx="2210718" cy="481012"/>
                </a:xfrm>
                <a:prstGeom prst="rect">
                  <a:avLst/>
                </a:prstGeom>
                <a:blipFill>
                  <a:blip r:embed="rId7"/>
                  <a:stretch>
                    <a:fillRect l="-3591" t="-8861" b="-1392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Прямая со стрелкой 32"/>
            <p:cNvCxnSpPr/>
            <p:nvPr/>
          </p:nvCxnSpPr>
          <p:spPr>
            <a:xfrm>
              <a:off x="2143108" y="5286400"/>
              <a:ext cx="928694" cy="142864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075" name="Object 19"/>
                <p:cNvSpPr txBox="1"/>
                <p:nvPr/>
              </p:nvSpPr>
              <p:spPr bwMode="auto">
                <a:xfrm>
                  <a:off x="3143250" y="4857750"/>
                  <a:ext cx="5389190" cy="1214438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limLoc m:val="undOvr"/>
                            <m:supHide m:val="on"/>
                            <m:ctrlP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Sup>
                              <m:sSubSup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  <m:sup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ru-RU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f>
                              <m:fPr>
                                <m:ctrlP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𝑑𝑎𝑑𝑏</m:t>
                                </m:r>
                              </m:num>
                              <m:den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73075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43250" y="4857750"/>
                  <a:ext cx="5389190" cy="121443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Более того</a:t>
            </a:r>
            <a:r>
              <a:rPr lang="en-US" sz="3200" b="1" kern="0" dirty="0">
                <a:solidFill>
                  <a:srgbClr val="000099"/>
                </a:solidFill>
              </a:rPr>
              <a:t>…</a:t>
            </a:r>
            <a:endParaRPr lang="ru-RU" sz="3200" b="1" kern="0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068" name="Object 12"/>
              <p:cNvSpPr txBox="1"/>
              <p:nvPr/>
            </p:nvSpPr>
            <p:spPr bwMode="auto">
              <a:xfrm>
                <a:off x="2104182" y="1916832"/>
                <a:ext cx="4935636" cy="14550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b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𝑑𝑎𝑑𝑏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306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4182" y="1916832"/>
                <a:ext cx="4935636" cy="1455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31" name="Object 11"/>
          <p:cNvGraphicFramePr>
            <a:graphicFrameLocks noChangeAspect="1"/>
          </p:cNvGraphicFramePr>
          <p:nvPr/>
        </p:nvGraphicFramePr>
        <p:xfrm>
          <a:off x="4305303" y="1399885"/>
          <a:ext cx="7667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177480" progId="Equation.DSMT4">
                  <p:embed/>
                </p:oleObj>
              </mc:Choice>
              <mc:Fallback>
                <p:oleObj name="Equation" r:id="rId4" imgW="355320" imgH="177480" progId="Equation.DSMT4">
                  <p:embed/>
                  <p:pic>
                    <p:nvPicPr>
                      <p:cNvPr id="1843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3" y="1399885"/>
                        <a:ext cx="7667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4333" name="Object 13"/>
              <p:cNvSpPr txBox="1"/>
              <p:nvPr/>
            </p:nvSpPr>
            <p:spPr bwMode="auto">
              <a:xfrm>
                <a:off x="2040846" y="3509327"/>
                <a:ext cx="5295676" cy="1214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𝜓𝜒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sub>
                        <m:sup/>
                        <m: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𝑑𝑎𝑑𝑏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433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0846" y="3509327"/>
                <a:ext cx="5295676" cy="12144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pic>
        <p:nvPicPr>
          <p:cNvPr id="9" name="Рисунок 8" descr="WD_f1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06" y="2660873"/>
            <a:ext cx="6429420" cy="3685722"/>
          </a:xfrm>
          <a:prstGeom prst="rect">
            <a:avLst/>
          </a:prstGeom>
        </p:spPr>
      </p:pic>
      <p:pic>
        <p:nvPicPr>
          <p:cNvPr id="8" name="Рисунок 7" descr="signal_f1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900" y="714357"/>
            <a:ext cx="5406670" cy="2071701"/>
          </a:xfrm>
          <a:prstGeom prst="rect">
            <a:avLst/>
          </a:prstGeom>
        </p:spPr>
      </p:pic>
      <p:graphicFrame>
        <p:nvGraphicFramePr>
          <p:cNvPr id="188418" name="Object 2"/>
          <p:cNvGraphicFramePr>
            <a:graphicFrameLocks noChangeAspect="1"/>
          </p:cNvGraphicFramePr>
          <p:nvPr/>
        </p:nvGraphicFramePr>
        <p:xfrm>
          <a:off x="5310218" y="809625"/>
          <a:ext cx="3619500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914400" progId="Equation.DSMT4">
                  <p:embed/>
                </p:oleObj>
              </mc:Choice>
              <mc:Fallback>
                <p:oleObj name="Equation" r:id="rId4" imgW="1917360" imgH="914400" progId="Equation.DSMT4">
                  <p:embed/>
                  <p:pic>
                    <p:nvPicPr>
                      <p:cNvPr id="1884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218" y="809625"/>
                        <a:ext cx="3619500" cy="1716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</a:p>
        </p:txBody>
      </p:sp>
      <p:pic>
        <p:nvPicPr>
          <p:cNvPr id="7" name="Рисунок 6" descr="WD_f2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06" y="2571744"/>
            <a:ext cx="6715172" cy="3714888"/>
          </a:xfrm>
          <a:prstGeom prst="rect">
            <a:avLst/>
          </a:prstGeom>
        </p:spPr>
      </p:pic>
      <p:pic>
        <p:nvPicPr>
          <p:cNvPr id="6" name="Рисунок 5" descr="signal_f2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714357"/>
            <a:ext cx="5715040" cy="2049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9442" name="Object 2"/>
              <p:cNvSpPr txBox="1"/>
              <p:nvPr/>
            </p:nvSpPr>
            <p:spPr bwMode="auto">
              <a:xfrm>
                <a:off x="5689600" y="1143000"/>
                <a:ext cx="3240118" cy="9620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</m:oMathPara>
                </a14:m>
                <a:br>
                  <a:rPr lang="ru-RU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ru-RU" sz="2400" dirty="0"/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возмущения</a:t>
                </a:r>
              </a:p>
            </p:txBody>
          </p:sp>
        </mc:Choice>
        <mc:Fallback xmlns="">
          <p:sp>
            <p:nvSpPr>
              <p:cNvPr id="18944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9600" y="1143000"/>
                <a:ext cx="3240118" cy="962025"/>
              </a:xfrm>
              <a:prstGeom prst="rect">
                <a:avLst/>
              </a:prstGeom>
              <a:blipFill>
                <a:blip r:embed="rId4"/>
                <a:stretch>
                  <a:fillRect l="-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 </a:t>
            </a:r>
          </a:p>
        </p:txBody>
      </p:sp>
      <p:pic>
        <p:nvPicPr>
          <p:cNvPr id="5" name="Рисунок 4" descr="signal_f3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843" y="642918"/>
            <a:ext cx="5746493" cy="2143140"/>
          </a:xfrm>
          <a:prstGeom prst="rect">
            <a:avLst/>
          </a:prstGeom>
        </p:spPr>
      </p:pic>
      <p:pic>
        <p:nvPicPr>
          <p:cNvPr id="8" name="Рисунок 7" descr="WD_f3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643182"/>
            <a:ext cx="6786578" cy="36653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Рисунок 35" descr="p75m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628" y="3143248"/>
            <a:ext cx="4030355" cy="1714209"/>
          </a:xfrm>
          <a:prstGeom prst="rect">
            <a:avLst/>
          </a:prstGeom>
        </p:spPr>
      </p:pic>
      <p:pic>
        <p:nvPicPr>
          <p:cNvPr id="35" name="Рисунок 34" descr="time_sign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58110" y="1131162"/>
            <a:ext cx="4385890" cy="1797772"/>
          </a:xfrm>
          <a:prstGeom prst="rect">
            <a:avLst/>
          </a:prstGeom>
        </p:spPr>
      </p:pic>
      <p:grpSp>
        <p:nvGrpSpPr>
          <p:cNvPr id="2" name="Группа 27"/>
          <p:cNvGrpSpPr/>
          <p:nvPr/>
        </p:nvGrpSpPr>
        <p:grpSpPr>
          <a:xfrm>
            <a:off x="93589" y="746125"/>
            <a:ext cx="4692725" cy="3714776"/>
            <a:chOff x="22151" y="1428736"/>
            <a:chExt cx="4621287" cy="3643338"/>
          </a:xfrm>
        </p:grpSpPr>
        <p:pic>
          <p:nvPicPr>
            <p:cNvPr id="25" name="Рисунок 24" descr="fig_3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51" y="1428736"/>
              <a:ext cx="4621287" cy="3643338"/>
            </a:xfrm>
            <a:prstGeom prst="rect">
              <a:avLst/>
            </a:prstGeom>
          </p:spPr>
        </p:pic>
        <p:pic>
          <p:nvPicPr>
            <p:cNvPr id="12" name="Рисунок 11" descr="fig_3a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1840" y="2491995"/>
              <a:ext cx="1714512" cy="1055084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cxnSp>
          <p:nvCxnSpPr>
            <p:cNvPr id="15" name="Прямая со стрелкой 14"/>
            <p:cNvCxnSpPr/>
            <p:nvPr/>
          </p:nvCxnSpPr>
          <p:spPr>
            <a:xfrm rot="5400000" flipH="1" flipV="1">
              <a:off x="2999063" y="3582798"/>
              <a:ext cx="714380" cy="6429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33"/>
          <p:cNvGrpSpPr/>
          <p:nvPr/>
        </p:nvGrpSpPr>
        <p:grpSpPr>
          <a:xfrm>
            <a:off x="382590" y="5072074"/>
            <a:ext cx="8404252" cy="968363"/>
            <a:chOff x="96838" y="5214950"/>
            <a:chExt cx="8404252" cy="968363"/>
          </a:xfrm>
        </p:grpSpPr>
        <p:graphicFrame>
          <p:nvGraphicFramePr>
            <p:cNvPr id="560131" name="Object 3"/>
            <p:cNvGraphicFramePr>
              <a:graphicFrameLocks noChangeAspect="1"/>
            </p:cNvGraphicFramePr>
            <p:nvPr/>
          </p:nvGraphicFramePr>
          <p:xfrm>
            <a:off x="96838" y="5429250"/>
            <a:ext cx="1287462" cy="709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11000" imgH="393480" progId="Equation.DSMT4">
                    <p:embed/>
                  </p:oleObj>
                </mc:Choice>
                <mc:Fallback>
                  <p:oleObj name="Equation" r:id="rId6" imgW="711000" imgH="393480" progId="Equation.DSMT4">
                    <p:embed/>
                    <p:pic>
                      <p:nvPicPr>
                        <p:cNvPr id="5601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38" y="5429250"/>
                          <a:ext cx="1287462" cy="709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0132" name="Object 4"/>
            <p:cNvGraphicFramePr>
              <a:graphicFrameLocks noChangeAspect="1"/>
            </p:cNvGraphicFramePr>
            <p:nvPr/>
          </p:nvGraphicFramePr>
          <p:xfrm>
            <a:off x="1417632" y="5429250"/>
            <a:ext cx="2368550" cy="754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07880" imgH="419040" progId="Equation.DSMT4">
                    <p:embed/>
                  </p:oleObj>
                </mc:Choice>
                <mc:Fallback>
                  <p:oleObj name="Equation" r:id="rId8" imgW="1307880" imgH="419040" progId="Equation.DSMT4">
                    <p:embed/>
                    <p:pic>
                      <p:nvPicPr>
                        <p:cNvPr id="56013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7632" y="5429250"/>
                          <a:ext cx="2368550" cy="754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0133" name="Object 5"/>
            <p:cNvGraphicFramePr>
              <a:graphicFrameLocks noChangeAspect="1"/>
            </p:cNvGraphicFramePr>
            <p:nvPr/>
          </p:nvGraphicFramePr>
          <p:xfrm>
            <a:off x="3883025" y="5429250"/>
            <a:ext cx="2482850" cy="754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71600" imgH="419040" progId="Equation.DSMT4">
                    <p:embed/>
                  </p:oleObj>
                </mc:Choice>
                <mc:Fallback>
                  <p:oleObj name="Equation" r:id="rId10" imgW="1371600" imgH="419040" progId="Equation.DSMT4">
                    <p:embed/>
                    <p:pic>
                      <p:nvPicPr>
                        <p:cNvPr id="56013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3025" y="5429250"/>
                          <a:ext cx="2482850" cy="754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0134" name="Object 6"/>
            <p:cNvGraphicFramePr>
              <a:graphicFrameLocks noChangeAspect="1"/>
            </p:cNvGraphicFramePr>
            <p:nvPr/>
          </p:nvGraphicFramePr>
          <p:xfrm>
            <a:off x="6867649" y="5214950"/>
            <a:ext cx="1633441" cy="919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61760" imgH="431640" progId="Equation.DSMT4">
                    <p:embed/>
                  </p:oleObj>
                </mc:Choice>
                <mc:Fallback>
                  <p:oleObj name="Equation" r:id="rId12" imgW="761760" imgH="431640" progId="Equation.DSMT4">
                    <p:embed/>
                    <p:pic>
                      <p:nvPicPr>
                        <p:cNvPr id="56013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7649" y="5214950"/>
                          <a:ext cx="1633441" cy="919164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FF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0315" name="Text Box 16"/>
          <p:cNvSpPr txBox="1">
            <a:spLocks noChangeArrowheads="1"/>
          </p:cNvSpPr>
          <p:nvPr/>
        </p:nvSpPr>
        <p:spPr bwMode="auto">
          <a:xfrm>
            <a:off x="6946522" y="1271382"/>
            <a:ext cx="219747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Экспериментальные данные </a:t>
            </a:r>
            <a:endParaRPr lang="de-DE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6804248" y="3501761"/>
            <a:ext cx="17466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Вейвлет-преобразование</a:t>
            </a:r>
          </a:p>
        </p:txBody>
      </p:sp>
      <p:cxnSp>
        <p:nvCxnSpPr>
          <p:cNvPr id="24" name="Прямая со стрелкой 23"/>
          <p:cNvCxnSpPr/>
          <p:nvPr/>
        </p:nvCxnSpPr>
        <p:spPr>
          <a:xfrm flipV="1">
            <a:off x="3428992" y="2103447"/>
            <a:ext cx="1714512" cy="2143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трелка вниз 29"/>
          <p:cNvSpPr/>
          <p:nvPr/>
        </p:nvSpPr>
        <p:spPr>
          <a:xfrm>
            <a:off x="6858016" y="2714620"/>
            <a:ext cx="500066" cy="500066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60135" name="Object 7"/>
          <p:cNvGraphicFramePr>
            <a:graphicFrameLocks noChangeAspect="1"/>
          </p:cNvGraphicFramePr>
          <p:nvPr/>
        </p:nvGraphicFramePr>
        <p:xfrm>
          <a:off x="6256345" y="1285860"/>
          <a:ext cx="744547" cy="37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7200" imgH="228600" progId="Equation.DSMT4">
                  <p:embed/>
                </p:oleObj>
              </mc:Choice>
              <mc:Fallback>
                <p:oleObj name="Equation" r:id="rId14" imgW="457200" imgH="228600" progId="Equation.DSMT4">
                  <p:embed/>
                  <p:pic>
                    <p:nvPicPr>
                      <p:cNvPr id="560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45" y="1285860"/>
                        <a:ext cx="744547" cy="37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Группа 33"/>
          <p:cNvGrpSpPr/>
          <p:nvPr/>
        </p:nvGrpSpPr>
        <p:grpSpPr>
          <a:xfrm>
            <a:off x="1428728" y="3929066"/>
            <a:ext cx="1357322" cy="928694"/>
            <a:chOff x="-1857420" y="2357430"/>
            <a:chExt cx="1357322" cy="928694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-1857420" y="2357430"/>
              <a:ext cx="1357322" cy="9286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8" name="Соединительная линия уступом 27"/>
            <p:cNvCxnSpPr/>
            <p:nvPr/>
          </p:nvCxnSpPr>
          <p:spPr>
            <a:xfrm flipV="1">
              <a:off x="-1714544" y="2571744"/>
              <a:ext cx="571504" cy="4286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Соединительная линия уступом 30"/>
            <p:cNvCxnSpPr/>
            <p:nvPr/>
          </p:nvCxnSpPr>
          <p:spPr>
            <a:xfrm rot="10800000">
              <a:off x="-1143040" y="2571744"/>
              <a:ext cx="500066" cy="4286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Скругленная соединительная линия 41"/>
          <p:cNvCxnSpPr/>
          <p:nvPr/>
        </p:nvCxnSpPr>
        <p:spPr>
          <a:xfrm rot="10800000">
            <a:off x="1142976" y="3786191"/>
            <a:ext cx="642942" cy="317521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0473" name="Object 9"/>
          <p:cNvGraphicFramePr>
            <a:graphicFrameLocks noChangeAspect="1"/>
          </p:cNvGraphicFramePr>
          <p:nvPr/>
        </p:nvGraphicFramePr>
        <p:xfrm>
          <a:off x="8015288" y="4751398"/>
          <a:ext cx="1444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560" imgH="152280" progId="Equation.DSMT4">
                  <p:embed/>
                </p:oleObj>
              </mc:Choice>
              <mc:Fallback>
                <p:oleObj name="Equation" r:id="rId16" imgW="88560" imgH="152280" progId="Equation.DSMT4">
                  <p:embed/>
                  <p:pic>
                    <p:nvPicPr>
                      <p:cNvPr id="190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5288" y="4751398"/>
                        <a:ext cx="1444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3200" b="1" kern="0" dirty="0">
                <a:solidFill>
                  <a:srgbClr val="000099"/>
                </a:solidFill>
              </a:rPr>
              <a:t>Примеры</a:t>
            </a:r>
            <a:r>
              <a:rPr lang="en-US" sz="3200" b="1" kern="0" dirty="0">
                <a:solidFill>
                  <a:srgbClr val="000099"/>
                </a:solidFill>
              </a:rPr>
              <a:t>: </a:t>
            </a:r>
            <a:r>
              <a:rPr lang="ru-RU" sz="3200" b="1" kern="0" dirty="0">
                <a:solidFill>
                  <a:srgbClr val="000099"/>
                </a:solidFill>
              </a:rPr>
              <a:t>измерение скорости волны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untitled2 - копия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76013" y="1000107"/>
            <a:ext cx="4905138" cy="3857653"/>
          </a:xfrm>
          <a:prstGeom prst="rect">
            <a:avLst/>
          </a:prstGeom>
        </p:spPr>
      </p:pic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150"/>
          </a:xfrm>
          <a:noFill/>
          <a:ln/>
        </p:spPr>
        <p:txBody>
          <a:bodyPr/>
          <a:lstStyle/>
          <a:p>
            <a:r>
              <a:rPr lang="ru-RU" sz="2800" b="1" dirty="0">
                <a:solidFill>
                  <a:srgbClr val="000099"/>
                </a:solidFill>
              </a:rPr>
              <a:t>Измерение длины волны </a:t>
            </a:r>
          </a:p>
        </p:txBody>
      </p:sp>
      <p:pic>
        <p:nvPicPr>
          <p:cNvPr id="23" name="Рисунок 22" descr="fig_3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406" y="686427"/>
            <a:ext cx="4234063" cy="3885581"/>
          </a:xfrm>
          <a:prstGeom prst="rect">
            <a:avLst/>
          </a:prstGeom>
        </p:spPr>
      </p:pic>
      <p:grpSp>
        <p:nvGrpSpPr>
          <p:cNvPr id="11" name="Группа 10"/>
          <p:cNvGrpSpPr/>
          <p:nvPr/>
        </p:nvGrpSpPr>
        <p:grpSpPr>
          <a:xfrm>
            <a:off x="1785918" y="4357694"/>
            <a:ext cx="1357322" cy="928694"/>
            <a:chOff x="-1857420" y="2357430"/>
            <a:chExt cx="1357322" cy="928694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-1857420" y="2357430"/>
              <a:ext cx="1357322" cy="9286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" name="Соединительная линия уступом 12"/>
            <p:cNvCxnSpPr/>
            <p:nvPr/>
          </p:nvCxnSpPr>
          <p:spPr>
            <a:xfrm flipV="1">
              <a:off x="-1714544" y="2571744"/>
              <a:ext cx="571504" cy="4286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Соединительная линия уступом 13"/>
            <p:cNvCxnSpPr/>
            <p:nvPr/>
          </p:nvCxnSpPr>
          <p:spPr>
            <a:xfrm rot="10800000">
              <a:off x="-1143040" y="2571744"/>
              <a:ext cx="500066" cy="4286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Скругленная соединительная линия 38"/>
          <p:cNvCxnSpPr/>
          <p:nvPr/>
        </p:nvCxnSpPr>
        <p:spPr>
          <a:xfrm rot="16200000" flipV="1">
            <a:off x="1321572" y="3893348"/>
            <a:ext cx="785817" cy="57150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кругленная соединительная линия 30"/>
          <p:cNvCxnSpPr/>
          <p:nvPr/>
        </p:nvCxnSpPr>
        <p:spPr>
          <a:xfrm flipV="1">
            <a:off x="3714744" y="2857496"/>
            <a:ext cx="1000132" cy="642942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14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0431" y="5000636"/>
            <a:ext cx="5357850" cy="126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14526</TotalTime>
  <Words>1373</Words>
  <Application>Microsoft Office PowerPoint</Application>
  <PresentationFormat>Экран (4:3)</PresentationFormat>
  <Paragraphs>219</Paragraphs>
  <Slides>49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7" baseType="lpstr">
      <vt:lpstr>Arial</vt:lpstr>
      <vt:lpstr>Cambria Math</vt:lpstr>
      <vt:lpstr>Times New Roman</vt:lpstr>
      <vt:lpstr>1_По_умолчанию</vt:lpstr>
      <vt:lpstr>Спец_оформление</vt:lpstr>
      <vt:lpstr>1_Спец_оформление</vt:lpstr>
      <vt:lpstr>2_По_умолчанию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Измерение длины волны 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Тёмыч</dc:creator>
  <cp:lastModifiedBy>Артем Александрович Еремин</cp:lastModifiedBy>
  <cp:revision>798</cp:revision>
  <dcterms:created xsi:type="dcterms:W3CDTF">2005-11-19T10:53:17Z</dcterms:created>
  <dcterms:modified xsi:type="dcterms:W3CDTF">2023-12-14T14:56:58Z</dcterms:modified>
</cp:coreProperties>
</file>