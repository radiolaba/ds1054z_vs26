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1" r:id="rId2"/>
  </p:sldMasterIdLst>
  <p:notesMasterIdLst>
    <p:notesMasterId r:id="rId39"/>
  </p:notesMasterIdLst>
  <p:handoutMasterIdLst>
    <p:handoutMasterId r:id="rId40"/>
  </p:handoutMasterIdLst>
  <p:sldIdLst>
    <p:sldId id="330" r:id="rId3"/>
    <p:sldId id="388" r:id="rId4"/>
    <p:sldId id="491" r:id="rId5"/>
    <p:sldId id="575" r:id="rId6"/>
    <p:sldId id="583" r:id="rId7"/>
    <p:sldId id="584" r:id="rId8"/>
    <p:sldId id="578" r:id="rId9"/>
    <p:sldId id="579" r:id="rId10"/>
    <p:sldId id="585" r:id="rId11"/>
    <p:sldId id="586" r:id="rId12"/>
    <p:sldId id="445" r:id="rId13"/>
    <p:sldId id="446" r:id="rId14"/>
    <p:sldId id="488" r:id="rId15"/>
    <p:sldId id="447" r:id="rId16"/>
    <p:sldId id="489" r:id="rId17"/>
    <p:sldId id="490" r:id="rId18"/>
    <p:sldId id="448" r:id="rId19"/>
    <p:sldId id="449" r:id="rId20"/>
    <p:sldId id="499" r:id="rId21"/>
    <p:sldId id="500" r:id="rId22"/>
    <p:sldId id="501" r:id="rId23"/>
    <p:sldId id="450" r:id="rId24"/>
    <p:sldId id="502" r:id="rId25"/>
    <p:sldId id="503" r:id="rId26"/>
    <p:sldId id="452" r:id="rId27"/>
    <p:sldId id="453" r:id="rId28"/>
    <p:sldId id="504" r:id="rId29"/>
    <p:sldId id="505" r:id="rId30"/>
    <p:sldId id="506" r:id="rId31"/>
    <p:sldId id="498" r:id="rId32"/>
    <p:sldId id="507" r:id="rId33"/>
    <p:sldId id="508" r:id="rId34"/>
    <p:sldId id="509" r:id="rId35"/>
    <p:sldId id="496" r:id="rId36"/>
    <p:sldId id="510" r:id="rId37"/>
    <p:sldId id="511" r:id="rId38"/>
  </p:sldIdLst>
  <p:sldSz cx="9144000" cy="6858000" type="screen4x3"/>
  <p:notesSz cx="6797675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000099"/>
    <a:srgbClr val="33CC33"/>
    <a:srgbClr val="00FF00"/>
    <a:srgbClr val="009900"/>
    <a:srgbClr val="CC3300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98" autoAdjust="0"/>
    <p:restoredTop sz="94646" autoAdjust="0"/>
  </p:normalViewPr>
  <p:slideViewPr>
    <p:cSldViewPr>
      <p:cViewPr>
        <p:scale>
          <a:sx n="110" d="100"/>
          <a:sy n="110" d="100"/>
        </p:scale>
        <p:origin x="1770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936" y="-8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C6DA4C8-B91F-4E53-A68C-51EF85D21E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86C4D70-5135-4FF9-B64A-F0201371F28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00A0A8-AB5C-4C32-B4F6-5DC54282A0FB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756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00A0A8-AB5C-4C32-B4F6-5DC54282A0FB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826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2286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43700" y="188913"/>
            <a:ext cx="2171700" cy="621188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228600" y="188913"/>
            <a:ext cx="6362700" cy="621188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228600" y="188913"/>
            <a:ext cx="8686800" cy="6211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88913"/>
            <a:ext cx="8686800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um.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8413"/>
            <a:ext cx="8686800" cy="513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 Master-Textformat zu bearbeiten.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11655" name="Line 7"/>
          <p:cNvSpPr>
            <a:spLocks noChangeShapeType="1"/>
          </p:cNvSpPr>
          <p:nvPr userDrawn="1"/>
        </p:nvSpPr>
        <p:spPr bwMode="auto">
          <a:xfrm>
            <a:off x="179388" y="6381750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411656" name="Line 8"/>
          <p:cNvSpPr>
            <a:spLocks noChangeShapeType="1"/>
          </p:cNvSpPr>
          <p:nvPr userDrawn="1"/>
        </p:nvSpPr>
        <p:spPr bwMode="auto">
          <a:xfrm>
            <a:off x="250825" y="620713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C41D87-E1D2-D373-0A7E-50B1D39ADD9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28600" y="6436089"/>
            <a:ext cx="538398" cy="38457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1F8ECE-519D-303D-2CFC-75964C08A493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985" y="6451145"/>
            <a:ext cx="479415" cy="3695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ChangeArrowheads="1"/>
          </p:cNvSpPr>
          <p:nvPr/>
        </p:nvSpPr>
        <p:spPr bwMode="auto">
          <a:xfrm>
            <a:off x="685800" y="228600"/>
            <a:ext cx="7772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de-DE" sz="4400">
              <a:solidFill>
                <a:schemeClr val="tx2"/>
              </a:solidFill>
            </a:endParaRPr>
          </a:p>
        </p:txBody>
      </p:sp>
      <p:sp>
        <p:nvSpPr>
          <p:cNvPr id="412675" name="Rectangle 3"/>
          <p:cNvSpPr>
            <a:spLocks noChangeArrowheads="1"/>
          </p:cNvSpPr>
          <p:nvPr/>
        </p:nvSpPr>
        <p:spPr bwMode="auto">
          <a:xfrm>
            <a:off x="1371600" y="25908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defRPr/>
            </a:pPr>
            <a:endParaRPr lang="de-DE" sz="3200"/>
          </a:p>
        </p:txBody>
      </p:sp>
      <p:pic>
        <p:nvPicPr>
          <p:cNvPr id="2" name="Рисунок 1" descr="Изображение выглядит как черный, темнота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797399DF-6615-0566-138F-F3010975B60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1" r="47402" b="31044"/>
          <a:stretch/>
        </p:blipFill>
        <p:spPr>
          <a:xfrm>
            <a:off x="4644008" y="-1"/>
            <a:ext cx="4493941" cy="685800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13" Type="http://schemas.openxmlformats.org/officeDocument/2006/relationships/image" Target="../media/image10.png"/><Relationship Id="rId18" Type="http://schemas.openxmlformats.org/officeDocument/2006/relationships/image" Target="../media/image14.png"/><Relationship Id="rId26" Type="http://schemas.openxmlformats.org/officeDocument/2006/relationships/image" Target="../media/image16.png"/><Relationship Id="rId3" Type="http://schemas.microsoft.com/office/2007/relationships/media" Target="file:///D:\University\Teaching\Wiesbaden_2014\Lections\Lamb_Symmetric.avi" TargetMode="External"/><Relationship Id="rId21" Type="http://schemas.openxmlformats.org/officeDocument/2006/relationships/image" Target="../media/image171.png"/><Relationship Id="rId34" Type="http://schemas.openxmlformats.org/officeDocument/2006/relationships/image" Target="../media/image22.png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6.png"/><Relationship Id="rId17" Type="http://schemas.openxmlformats.org/officeDocument/2006/relationships/image" Target="../media/image140.png"/><Relationship Id="rId25" Type="http://schemas.openxmlformats.org/officeDocument/2006/relationships/image" Target="../media/image180.png"/><Relationship Id="rId33" Type="http://schemas.openxmlformats.org/officeDocument/2006/relationships/image" Target="../media/image21.png"/><Relationship Id="rId2" Type="http://schemas.microsoft.com/office/2007/relationships/media" Target="../media/media1.mp4"/><Relationship Id="rId16" Type="http://schemas.openxmlformats.org/officeDocument/2006/relationships/image" Target="../media/image130.png"/><Relationship Id="rId20" Type="http://schemas.openxmlformats.org/officeDocument/2006/relationships/image" Target="../media/image160.png"/><Relationship Id="rId29" Type="http://schemas.openxmlformats.org/officeDocument/2006/relationships/oleObject" Target="../embeddings/oleObject1.bin"/><Relationship Id="rId1" Type="http://schemas.openxmlformats.org/officeDocument/2006/relationships/video" Target="NULL" TargetMode="External"/><Relationship Id="rId6" Type="http://schemas.openxmlformats.org/officeDocument/2006/relationships/video" Target="file:///D:\University\Teaching\Wiesbaden_2014\Lections\Lamb_Asymmetric.avi" TargetMode="External"/><Relationship Id="rId11" Type="http://schemas.openxmlformats.org/officeDocument/2006/relationships/image" Target="../media/image85.png"/><Relationship Id="rId24" Type="http://schemas.openxmlformats.org/officeDocument/2006/relationships/image" Target="../media/image170.png"/><Relationship Id="rId32" Type="http://schemas.openxmlformats.org/officeDocument/2006/relationships/image" Target="../media/image20.wmf"/><Relationship Id="rId5" Type="http://schemas.microsoft.com/office/2007/relationships/media" Target="file:///D:\University\Teaching\Wiesbaden_2014\Lections\Lamb_Asymmetric.avi" TargetMode="External"/><Relationship Id="rId15" Type="http://schemas.openxmlformats.org/officeDocument/2006/relationships/image" Target="../media/image12.png"/><Relationship Id="rId23" Type="http://schemas.openxmlformats.org/officeDocument/2006/relationships/image" Target="../media/image190.png"/><Relationship Id="rId28" Type="http://schemas.openxmlformats.org/officeDocument/2006/relationships/image" Target="../media/image18.png"/><Relationship Id="rId10" Type="http://schemas.openxmlformats.org/officeDocument/2006/relationships/image" Target="../media/image71.png"/><Relationship Id="rId19" Type="http://schemas.openxmlformats.org/officeDocument/2006/relationships/image" Target="../media/image15.png"/><Relationship Id="rId31" Type="http://schemas.openxmlformats.org/officeDocument/2006/relationships/oleObject" Target="../embeddings/oleObject2.bin"/><Relationship Id="rId4" Type="http://schemas.openxmlformats.org/officeDocument/2006/relationships/video" Target="file:///D:\University\Teaching\Wiesbaden_2014\Lections\Lamb_Symmetric.avi" TargetMode="External"/><Relationship Id="rId9" Type="http://schemas.openxmlformats.org/officeDocument/2006/relationships/image" Target="../media/image64.png"/><Relationship Id="rId14" Type="http://schemas.openxmlformats.org/officeDocument/2006/relationships/image" Target="../media/image110.png"/><Relationship Id="rId22" Type="http://schemas.openxmlformats.org/officeDocument/2006/relationships/image" Target="../media/image181.png"/><Relationship Id="rId27" Type="http://schemas.openxmlformats.org/officeDocument/2006/relationships/image" Target="../media/image17.png"/><Relationship Id="rId30" Type="http://schemas.openxmlformats.org/officeDocument/2006/relationships/image" Target="../media/image19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13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0.png"/><Relationship Id="rId5" Type="http://schemas.openxmlformats.org/officeDocument/2006/relationships/image" Target="../media/image48.wmf"/><Relationship Id="rId4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2.png"/><Relationship Id="rId4" Type="http://schemas.openxmlformats.org/officeDocument/2006/relationships/image" Target="../media/image16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250.png"/><Relationship Id="rId7" Type="http://schemas.openxmlformats.org/officeDocument/2006/relationships/image" Target="../media/image29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0.png"/><Relationship Id="rId4" Type="http://schemas.openxmlformats.org/officeDocument/2006/relationships/image" Target="../media/image39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54.wmf"/><Relationship Id="rId18" Type="http://schemas.openxmlformats.org/officeDocument/2006/relationships/oleObject" Target="../embeddings/oleObject12.bin"/><Relationship Id="rId26" Type="http://schemas.openxmlformats.org/officeDocument/2006/relationships/oleObject" Target="../embeddings/oleObject16.bin"/><Relationship Id="rId3" Type="http://schemas.openxmlformats.org/officeDocument/2006/relationships/image" Target="../media/image49.wmf"/><Relationship Id="rId21" Type="http://schemas.openxmlformats.org/officeDocument/2006/relationships/image" Target="../media/image58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56.wmf"/><Relationship Id="rId25" Type="http://schemas.openxmlformats.org/officeDocument/2006/relationships/image" Target="../media/image60.wmf"/><Relationship Id="rId2" Type="http://schemas.openxmlformats.org/officeDocument/2006/relationships/oleObject" Target="../embeddings/oleObject4.bin"/><Relationship Id="rId16" Type="http://schemas.openxmlformats.org/officeDocument/2006/relationships/oleObject" Target="../embeddings/oleObject11.bin"/><Relationship Id="rId20" Type="http://schemas.openxmlformats.org/officeDocument/2006/relationships/oleObject" Target="../embeddings/oleObject1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53.wmf"/><Relationship Id="rId24" Type="http://schemas.openxmlformats.org/officeDocument/2006/relationships/oleObject" Target="../embeddings/oleObject15.bin"/><Relationship Id="rId5" Type="http://schemas.openxmlformats.org/officeDocument/2006/relationships/image" Target="../media/image50.wmf"/><Relationship Id="rId15" Type="http://schemas.openxmlformats.org/officeDocument/2006/relationships/image" Target="../media/image55.wmf"/><Relationship Id="rId23" Type="http://schemas.openxmlformats.org/officeDocument/2006/relationships/image" Target="../media/image59.wmf"/><Relationship Id="rId10" Type="http://schemas.openxmlformats.org/officeDocument/2006/relationships/oleObject" Target="../embeddings/oleObject8.bin"/><Relationship Id="rId19" Type="http://schemas.openxmlformats.org/officeDocument/2006/relationships/image" Target="../media/image57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10.bin"/><Relationship Id="rId22" Type="http://schemas.openxmlformats.org/officeDocument/2006/relationships/oleObject" Target="../embeddings/oleObject14.bin"/><Relationship Id="rId27" Type="http://schemas.openxmlformats.org/officeDocument/2006/relationships/image" Target="../media/image6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22.bin"/><Relationship Id="rId18" Type="http://schemas.openxmlformats.org/officeDocument/2006/relationships/oleObject" Target="../embeddings/oleObject24.bin"/><Relationship Id="rId3" Type="http://schemas.openxmlformats.org/officeDocument/2006/relationships/oleObject" Target="../embeddings/oleObject17.bin"/><Relationship Id="rId21" Type="http://schemas.openxmlformats.org/officeDocument/2006/relationships/image" Target="../media/image72.wmf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67.wmf"/><Relationship Id="rId17" Type="http://schemas.openxmlformats.org/officeDocument/2006/relationships/image" Target="../media/image70.wmf"/><Relationship Id="rId2" Type="http://schemas.openxmlformats.org/officeDocument/2006/relationships/image" Target="../media/image62.png"/><Relationship Id="rId16" Type="http://schemas.openxmlformats.org/officeDocument/2006/relationships/oleObject" Target="../embeddings/oleObject23.bin"/><Relationship Id="rId20" Type="http://schemas.openxmlformats.org/officeDocument/2006/relationships/oleObject" Target="../embeddings/oleObject25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image" Target="../media/image69.png"/><Relationship Id="rId10" Type="http://schemas.openxmlformats.org/officeDocument/2006/relationships/image" Target="../media/image66.wmf"/><Relationship Id="rId19" Type="http://schemas.openxmlformats.org/officeDocument/2006/relationships/image" Target="../media/image71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6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78.wmf"/><Relationship Id="rId2" Type="http://schemas.openxmlformats.org/officeDocument/2006/relationships/image" Target="../media/image73.png"/><Relationship Id="rId16" Type="http://schemas.openxmlformats.org/officeDocument/2006/relationships/image" Target="../media/image80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79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85.wmf"/><Relationship Id="rId18" Type="http://schemas.openxmlformats.org/officeDocument/2006/relationships/oleObject" Target="../embeddings/oleObject40.bin"/><Relationship Id="rId26" Type="http://schemas.openxmlformats.org/officeDocument/2006/relationships/image" Target="../media/image690.png"/><Relationship Id="rId3" Type="http://schemas.openxmlformats.org/officeDocument/2006/relationships/image" Target="../media/image551.png"/><Relationship Id="rId21" Type="http://schemas.openxmlformats.org/officeDocument/2006/relationships/image" Target="../media/image89.wmf"/><Relationship Id="rId7" Type="http://schemas.openxmlformats.org/officeDocument/2006/relationships/image" Target="../media/image82.w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87.wmf"/><Relationship Id="rId25" Type="http://schemas.openxmlformats.org/officeDocument/2006/relationships/image" Target="../media/image680.png"/><Relationship Id="rId2" Type="http://schemas.openxmlformats.org/officeDocument/2006/relationships/image" Target="../media/image54.png"/><Relationship Id="rId16" Type="http://schemas.openxmlformats.org/officeDocument/2006/relationships/oleObject" Target="../embeddings/oleObject39.bin"/><Relationship Id="rId20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84.wmf"/><Relationship Id="rId24" Type="http://schemas.openxmlformats.org/officeDocument/2006/relationships/image" Target="../media/image670.png"/><Relationship Id="rId5" Type="http://schemas.openxmlformats.org/officeDocument/2006/relationships/image" Target="../media/image81.wmf"/><Relationship Id="rId15" Type="http://schemas.openxmlformats.org/officeDocument/2006/relationships/image" Target="../media/image86.wmf"/><Relationship Id="rId23" Type="http://schemas.openxmlformats.org/officeDocument/2006/relationships/image" Target="../media/image66.png"/><Relationship Id="rId10" Type="http://schemas.openxmlformats.org/officeDocument/2006/relationships/oleObject" Target="../embeddings/oleObject36.bin"/><Relationship Id="rId19" Type="http://schemas.openxmlformats.org/officeDocument/2006/relationships/image" Target="../media/image88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38.bin"/><Relationship Id="rId22" Type="http://schemas.openxmlformats.org/officeDocument/2006/relationships/image" Target="../media/image65.png"/><Relationship Id="rId27" Type="http://schemas.openxmlformats.org/officeDocument/2006/relationships/image" Target="../media/image7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90.wmf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0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0.png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image" Target="../media/image96.emf"/><Relationship Id="rId18" Type="http://schemas.openxmlformats.org/officeDocument/2006/relationships/image" Target="../media/image95.png"/><Relationship Id="rId3" Type="http://schemas.openxmlformats.org/officeDocument/2006/relationships/image" Target="../media/image83.png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95.wmf"/><Relationship Id="rId17" Type="http://schemas.openxmlformats.org/officeDocument/2006/relationships/image" Target="../media/image94.png"/><Relationship Id="rId2" Type="http://schemas.openxmlformats.org/officeDocument/2006/relationships/image" Target="../media/image820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2.emf"/><Relationship Id="rId11" Type="http://schemas.openxmlformats.org/officeDocument/2006/relationships/oleObject" Target="../embeddings/oleObject45.bin"/><Relationship Id="rId5" Type="http://schemas.openxmlformats.org/officeDocument/2006/relationships/image" Target="../media/image91.emf"/><Relationship Id="rId15" Type="http://schemas.openxmlformats.org/officeDocument/2006/relationships/image" Target="../media/image90.png"/><Relationship Id="rId10" Type="http://schemas.openxmlformats.org/officeDocument/2006/relationships/image" Target="../media/image94.wmf"/><Relationship Id="rId4" Type="http://schemas.openxmlformats.org/officeDocument/2006/relationships/image" Target="../media/image84.png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97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66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ChangeArrowheads="1"/>
          </p:cNvSpPr>
          <p:nvPr/>
        </p:nvSpPr>
        <p:spPr bwMode="auto">
          <a:xfrm>
            <a:off x="179388" y="785794"/>
            <a:ext cx="8785225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4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Математические основы цифровой обработки сигналов</a:t>
            </a:r>
            <a:endParaRPr lang="en-US" sz="48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A07A5-E636-4310-AFB8-A9355A6484B2}"/>
              </a:ext>
            </a:extLst>
          </p:cNvPr>
          <p:cNvSpPr txBox="1"/>
          <p:nvPr/>
        </p:nvSpPr>
        <p:spPr>
          <a:xfrm>
            <a:off x="1259632" y="4437112"/>
            <a:ext cx="52031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00FF"/>
                </a:solidFill>
              </a:rPr>
              <a:t>Еремин А.А., к.ф.-м.н., </a:t>
            </a:r>
            <a:r>
              <a:rPr lang="ru-RU" b="1" dirty="0" err="1">
                <a:solidFill>
                  <a:srgbClr val="0000FF"/>
                </a:solidFill>
              </a:rPr>
              <a:t>в.н.с</a:t>
            </a:r>
            <a:r>
              <a:rPr lang="ru-RU" b="1" dirty="0">
                <a:solidFill>
                  <a:srgbClr val="0000FF"/>
                </a:solidFill>
              </a:rPr>
              <a:t>. ИММИ КубГУ</a:t>
            </a:r>
            <a:endParaRPr lang="ru-RU" sz="2200" b="1" dirty="0">
              <a:solidFill>
                <a:srgbClr val="0000FF"/>
              </a:solidFill>
            </a:endParaRPr>
          </a:p>
          <a:p>
            <a:r>
              <a:rPr lang="de-DE" b="1" dirty="0">
                <a:solidFill>
                  <a:srgbClr val="0000FF"/>
                </a:solidFill>
              </a:rPr>
              <a:t>http://immi.kubsu.ru/team/artem-eremin.php</a:t>
            </a:r>
            <a:endParaRPr lang="ru-RU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620713"/>
          </a:xfrm>
          <a:noFill/>
        </p:spPr>
        <p:txBody>
          <a:bodyPr/>
          <a:lstStyle/>
          <a:p>
            <a:pPr eaLnBrk="1" hangingPunct="1"/>
            <a:r>
              <a:rPr lang="ru-RU" sz="3600" b="1" dirty="0">
                <a:solidFill>
                  <a:srgbClr val="000099"/>
                </a:solidFill>
              </a:rPr>
              <a:t>Мотивация</a:t>
            </a: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539552" y="1199578"/>
            <a:ext cx="5905414" cy="900817"/>
            <a:chOff x="1563" y="1707"/>
            <a:chExt cx="3675" cy="531"/>
          </a:xfrm>
        </p:grpSpPr>
        <p:pic>
          <p:nvPicPr>
            <p:cNvPr id="4" name="Picture 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63" y="1707"/>
              <a:ext cx="2496" cy="5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Rectangle 11"/>
            <p:cNvSpPr>
              <a:spLocks noChangeArrowheads="1"/>
            </p:cNvSpPr>
            <p:nvPr/>
          </p:nvSpPr>
          <p:spPr bwMode="auto">
            <a:xfrm>
              <a:off x="4132" y="1824"/>
              <a:ext cx="110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ru-RU" dirty="0"/>
                <a:t>ЭКГ</a:t>
              </a:r>
            </a:p>
            <a:p>
              <a:r>
                <a:rPr lang="ru-RU" sz="1200" dirty="0"/>
                <a:t>электрокардиография </a:t>
              </a:r>
              <a:endParaRPr lang="en-US" sz="1200" dirty="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063262" y="3870060"/>
            <a:ext cx="52031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ru-RU" b="1" dirty="0">
                <a:solidFill>
                  <a:srgbClr val="0000FF"/>
                </a:solidFill>
              </a:rPr>
              <a:t>Ультразвуковой неразрушающий контроль</a:t>
            </a:r>
          </a:p>
          <a:p>
            <a:pPr marL="342900" indent="-342900" algn="just"/>
            <a:r>
              <a:rPr lang="ru-RU" sz="2200" b="1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7620" y="722829"/>
            <a:ext cx="16144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ru-RU" sz="2200" b="1" dirty="0">
                <a:solidFill>
                  <a:srgbClr val="0000FF"/>
                </a:solidFill>
              </a:rPr>
              <a:t>Медицина</a:t>
            </a:r>
          </a:p>
        </p:txBody>
      </p:sp>
      <p:pic>
        <p:nvPicPr>
          <p:cNvPr id="14" name="Рисунок 13" descr="GW_signal_1.e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4280959"/>
            <a:ext cx="5286412" cy="1791247"/>
          </a:xfrm>
          <a:prstGeom prst="rect">
            <a:avLst/>
          </a:prstGeom>
        </p:spPr>
      </p:pic>
      <p:pic>
        <p:nvPicPr>
          <p:cNvPr id="15" name="Рисунок 14" descr="GW_signal_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929190" y="4390900"/>
            <a:ext cx="4000496" cy="1681306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207A7A1A-7CC8-4F82-8866-37A69460EBE6}"/>
              </a:ext>
            </a:extLst>
          </p:cNvPr>
          <p:cNvGrpSpPr/>
          <p:nvPr/>
        </p:nvGrpSpPr>
        <p:grpSpPr>
          <a:xfrm>
            <a:off x="2123728" y="2253434"/>
            <a:ext cx="6942140" cy="1501262"/>
            <a:chOff x="2123728" y="2350968"/>
            <a:chExt cx="6942140" cy="1501262"/>
          </a:xfrm>
        </p:grpSpPr>
        <p:grpSp>
          <p:nvGrpSpPr>
            <p:cNvPr id="6" name="Group 15"/>
            <p:cNvGrpSpPr>
              <a:grpSpLocks/>
            </p:cNvGrpSpPr>
            <p:nvPr/>
          </p:nvGrpSpPr>
          <p:grpSpPr bwMode="auto">
            <a:xfrm>
              <a:off x="2555528" y="2350968"/>
              <a:ext cx="6510340" cy="1293813"/>
              <a:chOff x="1280" y="2316"/>
              <a:chExt cx="4101" cy="815"/>
            </a:xfrm>
          </p:grpSpPr>
          <p:pic>
            <p:nvPicPr>
              <p:cNvPr id="7" name="Picture 7"/>
              <p:cNvPicPr>
                <a:picLocks noChangeAspect="1" noChangeArrowheads="1"/>
              </p:cNvPicPr>
              <p:nvPr/>
            </p:nvPicPr>
            <p:blipFill rotWithShape="1">
              <a:blip r:embed="rId5" cstate="print"/>
              <a:srcRect l="8723" b="18157"/>
              <a:stretch/>
            </p:blipFill>
            <p:spPr bwMode="auto">
              <a:xfrm>
                <a:off x="1280" y="2316"/>
                <a:ext cx="2848" cy="8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8" name="Rectangle 12"/>
              <p:cNvSpPr>
                <a:spLocks noChangeArrowheads="1"/>
              </p:cNvSpPr>
              <p:nvPr/>
            </p:nvSpPr>
            <p:spPr bwMode="auto">
              <a:xfrm>
                <a:off x="4128" y="2544"/>
                <a:ext cx="1253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ru-RU" dirty="0"/>
                  <a:t>ЭЭГ</a:t>
                </a:r>
              </a:p>
              <a:p>
                <a:pPr algn="ctr"/>
                <a:r>
                  <a:rPr lang="ru-RU" sz="1200" dirty="0"/>
                  <a:t>электроэнцефалография</a:t>
                </a:r>
                <a:endParaRPr lang="en-US" sz="1200" dirty="0"/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2945D82-3C32-410B-9A73-A474C5A93F37}"/>
                </a:ext>
              </a:extLst>
            </p:cNvPr>
            <p:cNvSpPr txBox="1"/>
            <p:nvPr/>
          </p:nvSpPr>
          <p:spPr>
            <a:xfrm>
              <a:off x="2123728" y="2452511"/>
              <a:ext cx="553998" cy="1030556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ru-RU" sz="1200" dirty="0"/>
                <a:t>Амплитуда</a:t>
              </a:r>
            </a:p>
            <a:p>
              <a:pPr algn="ctr"/>
              <a:r>
                <a:rPr lang="ru-RU" sz="1200" dirty="0"/>
                <a:t>мкВ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21014EC-5BF6-466F-9F69-28B51CD55176}"/>
                </a:ext>
              </a:extLst>
            </p:cNvPr>
            <p:cNvSpPr txBox="1"/>
            <p:nvPr/>
          </p:nvSpPr>
          <p:spPr>
            <a:xfrm>
              <a:off x="3563888" y="3575231"/>
              <a:ext cx="14401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/>
                <a:t>Время (</a:t>
              </a:r>
              <a:r>
                <a:rPr lang="ru-RU" sz="1200" dirty="0" err="1"/>
                <a:t>мс</a:t>
              </a:r>
              <a:r>
                <a:rPr lang="ru-RU" sz="1200" dirty="0"/>
                <a:t>)</a:t>
              </a:r>
            </a:p>
          </p:txBody>
        </p:sp>
        <p:cxnSp>
          <p:nvCxnSpPr>
            <p:cNvPr id="11" name="Прямая со стрелкой 10">
              <a:extLst>
                <a:ext uri="{FF2B5EF4-FFF2-40B4-BE49-F238E27FC236}">
                  <a16:creationId xmlns:a16="http://schemas.microsoft.com/office/drawing/2014/main" id="{A407A028-0F71-4A6B-AF50-CB98AF8B6D9A}"/>
                </a:ext>
              </a:extLst>
            </p:cNvPr>
            <p:cNvCxnSpPr/>
            <p:nvPr/>
          </p:nvCxnSpPr>
          <p:spPr>
            <a:xfrm>
              <a:off x="4644008" y="3713730"/>
              <a:ext cx="115212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620713"/>
          </a:xfrm>
          <a:noFill/>
        </p:spPr>
        <p:txBody>
          <a:bodyPr/>
          <a:lstStyle/>
          <a:p>
            <a:pPr eaLnBrk="1" hangingPunct="1"/>
            <a:r>
              <a:rPr lang="ru-RU" sz="3600" b="1" dirty="0">
                <a:solidFill>
                  <a:srgbClr val="000099"/>
                </a:solidFill>
              </a:rPr>
              <a:t>Мотивация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8926" y="4217000"/>
            <a:ext cx="38576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ru-RU" sz="2200" b="1" dirty="0">
                <a:solidFill>
                  <a:srgbClr val="0000FF"/>
                </a:solidFill>
              </a:rPr>
              <a:t>Применение в экономике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2350" y="696784"/>
            <a:ext cx="38164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ru-RU" sz="2200" b="1" dirty="0">
                <a:solidFill>
                  <a:srgbClr val="0000FF"/>
                </a:solidFill>
              </a:rPr>
              <a:t>Обработка изображений </a:t>
            </a:r>
          </a:p>
        </p:txBody>
      </p:sp>
      <p:pic>
        <p:nvPicPr>
          <p:cNvPr id="16" name="Picture 6"/>
          <p:cNvPicPr>
            <a:picLocks noChangeAspect="1" noChangeArrowheads="1"/>
          </p:cNvPicPr>
          <p:nvPr/>
        </p:nvPicPr>
        <p:blipFill rotWithShape="1">
          <a:blip r:embed="rId2" cstate="print"/>
          <a:srcRect b="5527"/>
          <a:stretch/>
        </p:blipFill>
        <p:spPr bwMode="auto">
          <a:xfrm>
            <a:off x="452152" y="1124744"/>
            <a:ext cx="3191154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7"/>
          <p:cNvPicPr>
            <a:picLocks noChangeAspect="1" noChangeArrowheads="1"/>
          </p:cNvPicPr>
          <p:nvPr/>
        </p:nvPicPr>
        <p:blipFill rotWithShape="1">
          <a:blip r:embed="rId3" cstate="print"/>
          <a:srcRect b="5527"/>
          <a:stretch/>
        </p:blipFill>
        <p:spPr>
          <a:xfrm>
            <a:off x="5452812" y="1142984"/>
            <a:ext cx="3191154" cy="2664296"/>
          </a:xfrm>
          <a:prstGeom prst="rect">
            <a:avLst/>
          </a:prstGeom>
          <a:noFill/>
          <a:ln/>
        </p:spPr>
      </p:pic>
      <p:sp>
        <p:nvSpPr>
          <p:cNvPr id="20" name="TextBox 19"/>
          <p:cNvSpPr txBox="1"/>
          <p:nvPr/>
        </p:nvSpPr>
        <p:spPr>
          <a:xfrm>
            <a:off x="3643306" y="2037549"/>
            <a:ext cx="1857388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Извлечение 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/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/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признаков</a:t>
            </a:r>
          </a:p>
        </p:txBody>
      </p:sp>
      <p:pic>
        <p:nvPicPr>
          <p:cNvPr id="21" name="Рисунок 20" descr="Economy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83512" y="4603002"/>
            <a:ext cx="6176975" cy="1453800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806404" y="4603002"/>
            <a:ext cx="677108" cy="1323802"/>
          </a:xfrm>
          <a:prstGeom prst="rect">
            <a:avLst/>
          </a:prstGeom>
        </p:spPr>
        <p:txBody>
          <a:bodyPr vert="vert270" wrap="square">
            <a:spAutoFit/>
          </a:bodyPr>
          <a:lstStyle/>
          <a:p>
            <a:pPr algn="ctr"/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Стоимость акций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A33E1669-A580-4FE6-9E88-4C1F655001A6}"/>
              </a:ext>
            </a:extLst>
          </p:cNvPr>
          <p:cNvCxnSpPr>
            <a:cxnSpLocks/>
            <a:stCxn id="20" idx="1"/>
            <a:endCxn id="20" idx="3"/>
          </p:cNvCxnSpPr>
          <p:nvPr/>
        </p:nvCxnSpPr>
        <p:spPr>
          <a:xfrm>
            <a:off x="3643306" y="2553075"/>
            <a:ext cx="1857388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0DC50D0-BF11-4E7B-8F48-2BEF1FBCEF04}"/>
              </a:ext>
            </a:extLst>
          </p:cNvPr>
          <p:cNvSpPr txBox="1"/>
          <p:nvPr/>
        </p:nvSpPr>
        <p:spPr>
          <a:xfrm>
            <a:off x="787589" y="3773862"/>
            <a:ext cx="2520280" cy="276999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ru-RU" sz="1200" dirty="0"/>
              <a:t>(а) Оригинальное изображение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1C34C0-9678-4338-B98A-B19AFDDD0AB0}"/>
              </a:ext>
            </a:extLst>
          </p:cNvPr>
          <p:cNvSpPr txBox="1"/>
          <p:nvPr/>
        </p:nvSpPr>
        <p:spPr>
          <a:xfrm>
            <a:off x="5797311" y="3796318"/>
            <a:ext cx="2520280" cy="276999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(б) Предлагаемый метод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06E0040-6045-46FC-BDAB-1AEA5131F13F}"/>
              </a:ext>
            </a:extLst>
          </p:cNvPr>
          <p:cNvSpPr/>
          <p:nvPr/>
        </p:nvSpPr>
        <p:spPr>
          <a:xfrm>
            <a:off x="6876256" y="6000929"/>
            <a:ext cx="961360" cy="338554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/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Время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1544"/>
          </a:xfrm>
          <a:noFill/>
          <a:ln/>
        </p:spPr>
        <p:txBody>
          <a:bodyPr/>
          <a:lstStyle/>
          <a:p>
            <a:r>
              <a:rPr lang="ru-RU" sz="2600" b="1" dirty="0">
                <a:solidFill>
                  <a:srgbClr val="000099"/>
                </a:solidFill>
              </a:rPr>
              <a:t>Интегрированные системы мониторинга (</a:t>
            </a:r>
            <a:r>
              <a:rPr lang="en-US" sz="2600" b="1" dirty="0">
                <a:solidFill>
                  <a:srgbClr val="000099"/>
                </a:solidFill>
              </a:rPr>
              <a:t>SHM</a:t>
            </a:r>
            <a:r>
              <a:rPr lang="ru-RU" sz="2600" b="1" dirty="0">
                <a:solidFill>
                  <a:srgbClr val="000099"/>
                </a:solidFill>
              </a:rPr>
              <a:t>)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61227F7D-AF42-4066-A360-6C53454B040F}"/>
              </a:ext>
            </a:extLst>
          </p:cNvPr>
          <p:cNvGrpSpPr/>
          <p:nvPr/>
        </p:nvGrpSpPr>
        <p:grpSpPr>
          <a:xfrm>
            <a:off x="755576" y="763124"/>
            <a:ext cx="7735974" cy="2031910"/>
            <a:chOff x="436426" y="691108"/>
            <a:chExt cx="8384046" cy="2202131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9260E044-CDE3-4818-A1B1-DE31E7CC7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14138" y="691108"/>
              <a:ext cx="3406334" cy="2202131"/>
            </a:xfrm>
            <a:prstGeom prst="rect">
              <a:avLst/>
            </a:prstGeom>
          </p:spPr>
        </p:pic>
        <p:pic>
          <p:nvPicPr>
            <p:cNvPr id="15364" name="Picture 4">
              <a:extLst>
                <a:ext uri="{FF2B5EF4-FFF2-40B4-BE49-F238E27FC236}">
                  <a16:creationId xmlns:a16="http://schemas.microsoft.com/office/drawing/2014/main" id="{FBC9B312-BC2D-420A-A213-1D2C54649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426" y="922080"/>
              <a:ext cx="4536504" cy="16966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0C530D03-1E49-4189-B93E-B75027CEA3A7}"/>
              </a:ext>
            </a:extLst>
          </p:cNvPr>
          <p:cNvGrpSpPr/>
          <p:nvPr/>
        </p:nvGrpSpPr>
        <p:grpSpPr>
          <a:xfrm>
            <a:off x="107504" y="2971800"/>
            <a:ext cx="9577064" cy="3292353"/>
            <a:chOff x="107504" y="2971800"/>
            <a:chExt cx="9577064" cy="3292353"/>
          </a:xfrm>
        </p:grpSpPr>
        <p:grpSp>
          <p:nvGrpSpPr>
            <p:cNvPr id="71" name="Группа 70">
              <a:extLst>
                <a:ext uri="{FF2B5EF4-FFF2-40B4-BE49-F238E27FC236}">
                  <a16:creationId xmlns:a16="http://schemas.microsoft.com/office/drawing/2014/main" id="{77DB5C97-0E8F-4CD7-B219-4F7243515CEB}"/>
                </a:ext>
              </a:extLst>
            </p:cNvPr>
            <p:cNvGrpSpPr/>
            <p:nvPr/>
          </p:nvGrpSpPr>
          <p:grpSpPr>
            <a:xfrm>
              <a:off x="107504" y="2971800"/>
              <a:ext cx="6443011" cy="2060644"/>
              <a:chOff x="5203261" y="5137449"/>
              <a:chExt cx="3847670" cy="1230586"/>
            </a:xfrm>
          </p:grpSpPr>
          <p:pic>
            <p:nvPicPr>
              <p:cNvPr id="72" name="Рисунок 71">
                <a:extLst>
                  <a:ext uri="{FF2B5EF4-FFF2-40B4-BE49-F238E27FC236}">
                    <a16:creationId xmlns:a16="http://schemas.microsoft.com/office/drawing/2014/main" id="{6D1CBE78-7CDA-48FB-87D7-9AF1E876F7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03261" y="5137449"/>
                <a:ext cx="3847670" cy="1230586"/>
              </a:xfrm>
              <a:prstGeom prst="rect">
                <a:avLst/>
              </a:prstGeom>
            </p:spPr>
          </p:pic>
          <p:sp>
            <p:nvSpPr>
              <p:cNvPr id="73" name="Прямоугольник 72">
                <a:extLst>
                  <a:ext uri="{FF2B5EF4-FFF2-40B4-BE49-F238E27FC236}">
                    <a16:creationId xmlns:a16="http://schemas.microsoft.com/office/drawing/2014/main" id="{FB95DEE5-A1FC-4C8F-BA6E-CA06CE9BA074}"/>
                  </a:ext>
                </a:extLst>
              </p:cNvPr>
              <p:cNvSpPr/>
              <p:nvPr/>
            </p:nvSpPr>
            <p:spPr>
              <a:xfrm>
                <a:off x="5417044" y="5517232"/>
                <a:ext cx="107936" cy="720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64" name="Прямоугольник 63">
              <a:extLst>
                <a:ext uri="{FF2B5EF4-FFF2-40B4-BE49-F238E27FC236}">
                  <a16:creationId xmlns:a16="http://schemas.microsoft.com/office/drawing/2014/main" id="{45B6FD98-9B99-49BD-A4AB-7AF638947468}"/>
                </a:ext>
              </a:extLst>
            </p:cNvPr>
            <p:cNvSpPr/>
            <p:nvPr/>
          </p:nvSpPr>
          <p:spPr>
            <a:xfrm>
              <a:off x="6110068" y="3370949"/>
              <a:ext cx="3033932" cy="215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Boller</a:t>
              </a:r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et. al. 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2009. 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Encyclopedia of Structural Health Monitoring </a:t>
              </a:r>
              <a:endParaRPr lang="ru-RU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Прямоугольник 64">
              <a:extLst>
                <a:ext uri="{FF2B5EF4-FFF2-40B4-BE49-F238E27FC236}">
                  <a16:creationId xmlns:a16="http://schemas.microsoft.com/office/drawing/2014/main" id="{7DD6B52D-7FA6-4F3A-B43A-0C999736617C}"/>
                </a:ext>
              </a:extLst>
            </p:cNvPr>
            <p:cNvSpPr/>
            <p:nvPr/>
          </p:nvSpPr>
          <p:spPr>
            <a:xfrm>
              <a:off x="6372200" y="3559057"/>
              <a:ext cx="250667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Lammering</a:t>
              </a:r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et. al. 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2018. 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Lamb-Wave Based Structural Health Monitoring in Polymer Composites</a:t>
              </a:r>
              <a:endParaRPr lang="ru-RU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feld 17">
              <a:extLst>
                <a:ext uri="{FF2B5EF4-FFF2-40B4-BE49-F238E27FC236}">
                  <a16:creationId xmlns:a16="http://schemas.microsoft.com/office/drawing/2014/main" id="{81083334-1811-4A6D-B656-C579C20E3C54}"/>
                </a:ext>
              </a:extLst>
            </p:cNvPr>
            <p:cNvSpPr txBox="1"/>
            <p:nvPr/>
          </p:nvSpPr>
          <p:spPr>
            <a:xfrm>
              <a:off x="5076056" y="4544204"/>
              <a:ext cx="46085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rgbClr val="000099"/>
                  </a:solidFill>
                </a:rPr>
                <a:t>Происходит ли изменение (деградация) прочностных свойств материала?</a:t>
              </a:r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B390F5DD-09A7-4717-88A1-B09FEC469554}"/>
                </a:ext>
              </a:extLst>
            </p:cNvPr>
            <p:cNvSpPr/>
            <p:nvPr/>
          </p:nvSpPr>
          <p:spPr>
            <a:xfrm>
              <a:off x="200110" y="5176100"/>
              <a:ext cx="437189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1600" dirty="0">
                  <a:solidFill>
                    <a:srgbClr val="000099"/>
                  </a:solidFill>
                </a:rPr>
                <a:t>Возникло ли в конструкции повреждение?</a:t>
              </a:r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290200AE-FB54-477C-8A35-E7A430715B8B}"/>
                </a:ext>
              </a:extLst>
            </p:cNvPr>
            <p:cNvSpPr/>
            <p:nvPr/>
          </p:nvSpPr>
          <p:spPr>
            <a:xfrm>
              <a:off x="5220072" y="5925599"/>
              <a:ext cx="318383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1600" dirty="0">
                  <a:solidFill>
                    <a:srgbClr val="000099"/>
                  </a:solidFill>
                </a:rPr>
                <a:t>Какого типа это повреждение?</a:t>
              </a:r>
              <a:endParaRPr lang="ru-RU" sz="1600" dirty="0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4DCDC82C-63B0-439F-8FE1-519477BF6AF4}"/>
                </a:ext>
              </a:extLst>
            </p:cNvPr>
            <p:cNvSpPr/>
            <p:nvPr/>
          </p:nvSpPr>
          <p:spPr>
            <a:xfrm>
              <a:off x="1907703" y="5557992"/>
              <a:ext cx="464281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1600" dirty="0">
                  <a:solidFill>
                    <a:srgbClr val="000099"/>
                  </a:solidFill>
                </a:rPr>
                <a:t>Где оно локализовано</a:t>
              </a:r>
              <a:r>
                <a:rPr lang="en-US" sz="1600" dirty="0">
                  <a:solidFill>
                    <a:srgbClr val="000099"/>
                  </a:solidFill>
                </a:rPr>
                <a:t> </a:t>
              </a:r>
              <a:r>
                <a:rPr lang="ru-RU" sz="1600" dirty="0">
                  <a:solidFill>
                    <a:srgbClr val="000099"/>
                  </a:solidFill>
                </a:rPr>
                <a:t>и каковы его размеры?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1966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20713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ru-RU" sz="2600" b="1" dirty="0">
                <a:solidFill>
                  <a:srgbClr val="000099"/>
                </a:solidFill>
              </a:rPr>
              <a:t>Бегущие упругие волны или </a:t>
            </a:r>
            <a:r>
              <a:rPr lang="en-US" sz="2600" b="1" dirty="0">
                <a:solidFill>
                  <a:srgbClr val="000099"/>
                </a:solidFill>
              </a:rPr>
              <a:t>elastic guided waves</a:t>
            </a:r>
            <a:endParaRPr lang="ru-RU" sz="2600" b="1" dirty="0">
              <a:solidFill>
                <a:srgbClr val="000099"/>
              </a:solidFill>
            </a:endParaRPr>
          </a:p>
        </p:txBody>
      </p:sp>
      <p:sp>
        <p:nvSpPr>
          <p:cNvPr id="49" name="Inhaltsplatzhalter 18">
            <a:extLst>
              <a:ext uri="{FF2B5EF4-FFF2-40B4-BE49-F238E27FC236}">
                <a16:creationId xmlns:a16="http://schemas.microsoft.com/office/drawing/2014/main" id="{1D707DE2-1160-4670-9BA2-907FE012424D}"/>
              </a:ext>
            </a:extLst>
          </p:cNvPr>
          <p:cNvSpPr txBox="1">
            <a:spLocks/>
          </p:cNvSpPr>
          <p:nvPr/>
        </p:nvSpPr>
        <p:spPr>
          <a:xfrm>
            <a:off x="457199" y="922338"/>
            <a:ext cx="6975475" cy="520382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endParaRPr lang="de-DE" kern="0" dirty="0"/>
          </a:p>
        </p:txBody>
      </p:sp>
      <p:grpSp>
        <p:nvGrpSpPr>
          <p:cNvPr id="55" name="Gruppieren 23">
            <a:extLst>
              <a:ext uri="{FF2B5EF4-FFF2-40B4-BE49-F238E27FC236}">
                <a16:creationId xmlns:a16="http://schemas.microsoft.com/office/drawing/2014/main" id="{8834BC07-BFFD-4CE3-8539-5AB70A2FC6CE}"/>
              </a:ext>
            </a:extLst>
          </p:cNvPr>
          <p:cNvGrpSpPr>
            <a:grpSpLocks noChangeAspect="1"/>
          </p:cNvGrpSpPr>
          <p:nvPr/>
        </p:nvGrpSpPr>
        <p:grpSpPr>
          <a:xfrm>
            <a:off x="3429192" y="1071116"/>
            <a:ext cx="3251080" cy="1692000"/>
            <a:chOff x="304927" y="4043704"/>
            <a:chExt cx="3843536" cy="2000339"/>
          </a:xfrm>
        </p:grpSpPr>
        <p:grpSp>
          <p:nvGrpSpPr>
            <p:cNvPr id="56" name="Gruppieren 22">
              <a:extLst>
                <a:ext uri="{FF2B5EF4-FFF2-40B4-BE49-F238E27FC236}">
                  <a16:creationId xmlns:a16="http://schemas.microsoft.com/office/drawing/2014/main" id="{C828EE05-04CF-4310-9067-0127ABB718C0}"/>
                </a:ext>
              </a:extLst>
            </p:cNvPr>
            <p:cNvGrpSpPr/>
            <p:nvPr/>
          </p:nvGrpSpPr>
          <p:grpSpPr>
            <a:xfrm>
              <a:off x="400347" y="4043704"/>
              <a:ext cx="3748116" cy="2000339"/>
              <a:chOff x="400347" y="4043704"/>
              <a:chExt cx="3748116" cy="2000339"/>
            </a:xfrm>
          </p:grpSpPr>
          <p:grpSp>
            <p:nvGrpSpPr>
              <p:cNvPr id="58" name="Group 24">
                <a:extLst>
                  <a:ext uri="{FF2B5EF4-FFF2-40B4-BE49-F238E27FC236}">
                    <a16:creationId xmlns:a16="http://schemas.microsoft.com/office/drawing/2014/main" id="{5A12E37D-1A73-46EE-A282-998EEBAC32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6043" y="4283505"/>
                <a:ext cx="3644900" cy="1760538"/>
                <a:chOff x="3424" y="2801"/>
                <a:chExt cx="2296" cy="1109"/>
              </a:xfrm>
            </p:grpSpPr>
            <p:sp>
              <p:nvSpPr>
                <p:cNvPr id="61" name="Rectangle 25">
                  <a:extLst>
                    <a:ext uri="{FF2B5EF4-FFF2-40B4-BE49-F238E27FC236}">
                      <a16:creationId xmlns:a16="http://schemas.microsoft.com/office/drawing/2014/main" id="{09590719-A90F-47CD-B7E5-BE11E0A174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6" y="3022"/>
                  <a:ext cx="1996" cy="63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/>
                </a:p>
              </p:txBody>
            </p:sp>
            <p:grpSp>
              <p:nvGrpSpPr>
                <p:cNvPr id="62" name="Group 26">
                  <a:extLst>
                    <a:ext uri="{FF2B5EF4-FFF2-40B4-BE49-F238E27FC236}">
                      <a16:creationId xmlns:a16="http://schemas.microsoft.com/office/drawing/2014/main" id="{E3933B9E-B752-4859-B77B-E9D9B31C729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24" y="2801"/>
                  <a:ext cx="2296" cy="1109"/>
                  <a:chOff x="3424" y="2801"/>
                  <a:chExt cx="2296" cy="1109"/>
                </a:xfrm>
              </p:grpSpPr>
              <p:grpSp>
                <p:nvGrpSpPr>
                  <p:cNvPr id="63" name="Group 27">
                    <a:extLst>
                      <a:ext uri="{FF2B5EF4-FFF2-40B4-BE49-F238E27FC236}">
                        <a16:creationId xmlns:a16="http://schemas.microsoft.com/office/drawing/2014/main" id="{E93E61BC-9C74-4006-9F7E-22D3FCB7180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06" y="3028"/>
                    <a:ext cx="1996" cy="635"/>
                    <a:chOff x="3787" y="3113"/>
                    <a:chExt cx="1860" cy="635"/>
                  </a:xfrm>
                </p:grpSpPr>
                <p:sp>
                  <p:nvSpPr>
                    <p:cNvPr id="108" name="Line 28">
                      <a:extLst>
                        <a:ext uri="{FF2B5EF4-FFF2-40B4-BE49-F238E27FC236}">
                          <a16:creationId xmlns:a16="http://schemas.microsoft.com/office/drawing/2014/main" id="{5D2B5FEB-F99E-4FC5-863E-2D83CE088C2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87" y="3113"/>
                      <a:ext cx="1860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9" name="Line 29">
                      <a:extLst>
                        <a:ext uri="{FF2B5EF4-FFF2-40B4-BE49-F238E27FC236}">
                          <a16:creationId xmlns:a16="http://schemas.microsoft.com/office/drawing/2014/main" id="{AF67FFF8-C35D-442D-BEA7-191A7483410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87" y="3748"/>
                      <a:ext cx="1860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</p:grpSp>
              <p:sp>
                <p:nvSpPr>
                  <p:cNvPr id="64" name="Line 30">
                    <a:extLst>
                      <a:ext uri="{FF2B5EF4-FFF2-40B4-BE49-F238E27FC236}">
                        <a16:creationId xmlns:a16="http://schemas.microsoft.com/office/drawing/2014/main" id="{9C2F6E5B-6651-4419-ADFC-14DE56FFE13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06" y="2982"/>
                    <a:ext cx="0" cy="72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de-DE"/>
                  </a:p>
                </p:txBody>
              </p:sp>
              <p:sp>
                <p:nvSpPr>
                  <p:cNvPr id="65" name="Line 31">
                    <a:extLst>
                      <a:ext uri="{FF2B5EF4-FFF2-40B4-BE49-F238E27FC236}">
                        <a16:creationId xmlns:a16="http://schemas.microsoft.com/office/drawing/2014/main" id="{3122D5E6-6A9A-48AC-84C7-D59A4B97D3C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602" y="2982"/>
                    <a:ext cx="0" cy="72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de-DE"/>
                  </a:p>
                </p:txBody>
              </p:sp>
              <p:grpSp>
                <p:nvGrpSpPr>
                  <p:cNvPr id="66" name="Group 32">
                    <a:extLst>
                      <a:ext uri="{FF2B5EF4-FFF2-40B4-BE49-F238E27FC236}">
                        <a16:creationId xmlns:a16="http://schemas.microsoft.com/office/drawing/2014/main" id="{D508A174-FEF1-4B6C-8206-8FB507F0AA5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06" y="3026"/>
                    <a:ext cx="1993" cy="635"/>
                    <a:chOff x="3651" y="3103"/>
                    <a:chExt cx="1993" cy="635"/>
                  </a:xfrm>
                </p:grpSpPr>
                <p:sp>
                  <p:nvSpPr>
                    <p:cNvPr id="102" name="Line 33">
                      <a:extLst>
                        <a:ext uri="{FF2B5EF4-FFF2-40B4-BE49-F238E27FC236}">
                          <a16:creationId xmlns:a16="http://schemas.microsoft.com/office/drawing/2014/main" id="{75F99565-780B-4BD9-8FA5-C4135671770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742" y="3103"/>
                      <a:ext cx="45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C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3" name="Line 34">
                      <a:extLst>
                        <a:ext uri="{FF2B5EF4-FFF2-40B4-BE49-F238E27FC236}">
                          <a16:creationId xmlns:a16="http://schemas.microsoft.com/office/drawing/2014/main" id="{F3178F7F-9A89-4912-97BF-EFD0B8E6781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196" y="3103"/>
                      <a:ext cx="45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C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4" name="Line 35">
                      <a:extLst>
                        <a:ext uri="{FF2B5EF4-FFF2-40B4-BE49-F238E27FC236}">
                          <a16:creationId xmlns:a16="http://schemas.microsoft.com/office/drawing/2014/main" id="{1F11AAB7-E54C-45E1-ADF7-1F44192F0C5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649" y="3103"/>
                      <a:ext cx="45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C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5" name="Line 36">
                      <a:extLst>
                        <a:ext uri="{FF2B5EF4-FFF2-40B4-BE49-F238E27FC236}">
                          <a16:creationId xmlns:a16="http://schemas.microsoft.com/office/drawing/2014/main" id="{BFBF43A0-5E7B-4DF3-BCF0-3C2365B0BF4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103" y="3103"/>
                      <a:ext cx="45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C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6" name="Line 37">
                      <a:extLst>
                        <a:ext uri="{FF2B5EF4-FFF2-40B4-BE49-F238E27FC236}">
                          <a16:creationId xmlns:a16="http://schemas.microsoft.com/office/drawing/2014/main" id="{D2A92BE9-A045-4087-B198-C75B85FB720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51" y="3612"/>
                      <a:ext cx="93" cy="126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C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7" name="Line 38">
                      <a:extLst>
                        <a:ext uri="{FF2B5EF4-FFF2-40B4-BE49-F238E27FC236}">
                          <a16:creationId xmlns:a16="http://schemas.microsoft.com/office/drawing/2014/main" id="{798ABD3E-9DD5-4B1D-836A-1B5D7D50D2B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556" y="3609"/>
                      <a:ext cx="88" cy="129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C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</p:grpSp>
              <p:grpSp>
                <p:nvGrpSpPr>
                  <p:cNvPr id="67" name="Group 39">
                    <a:extLst>
                      <a:ext uri="{FF2B5EF4-FFF2-40B4-BE49-F238E27FC236}">
                        <a16:creationId xmlns:a16="http://schemas.microsoft.com/office/drawing/2014/main" id="{44425C0E-71DD-4AAA-A3DF-7B034515458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06" y="3028"/>
                    <a:ext cx="1993" cy="635"/>
                    <a:chOff x="3651" y="3103"/>
                    <a:chExt cx="1993" cy="635"/>
                  </a:xfrm>
                </p:grpSpPr>
                <p:sp>
                  <p:nvSpPr>
                    <p:cNvPr id="96" name="Line 40">
                      <a:extLst>
                        <a:ext uri="{FF2B5EF4-FFF2-40B4-BE49-F238E27FC236}">
                          <a16:creationId xmlns:a16="http://schemas.microsoft.com/office/drawing/2014/main" id="{9093F5DA-9504-4ACD-928F-94289BB861A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742" y="3103"/>
                      <a:ext cx="45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C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97" name="Line 41">
                      <a:extLst>
                        <a:ext uri="{FF2B5EF4-FFF2-40B4-BE49-F238E27FC236}">
                          <a16:creationId xmlns:a16="http://schemas.microsoft.com/office/drawing/2014/main" id="{797702FE-89FF-4CE8-B8D3-C48AB2891E4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196" y="3103"/>
                      <a:ext cx="45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C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98" name="Line 42">
                      <a:extLst>
                        <a:ext uri="{FF2B5EF4-FFF2-40B4-BE49-F238E27FC236}">
                          <a16:creationId xmlns:a16="http://schemas.microsoft.com/office/drawing/2014/main" id="{70232DFC-0B91-4750-A748-44BE5246AA8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649" y="3103"/>
                      <a:ext cx="45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C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99" name="Line 43">
                      <a:extLst>
                        <a:ext uri="{FF2B5EF4-FFF2-40B4-BE49-F238E27FC236}">
                          <a16:creationId xmlns:a16="http://schemas.microsoft.com/office/drawing/2014/main" id="{3578669F-73F8-4CA7-B51F-6FE678437F1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103" y="3103"/>
                      <a:ext cx="45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C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0" name="Line 44">
                      <a:extLst>
                        <a:ext uri="{FF2B5EF4-FFF2-40B4-BE49-F238E27FC236}">
                          <a16:creationId xmlns:a16="http://schemas.microsoft.com/office/drawing/2014/main" id="{10BA8EAD-E856-4E6E-B413-BF0BFD37468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51" y="3612"/>
                      <a:ext cx="93" cy="126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C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1" name="Line 45">
                      <a:extLst>
                        <a:ext uri="{FF2B5EF4-FFF2-40B4-BE49-F238E27FC236}">
                          <a16:creationId xmlns:a16="http://schemas.microsoft.com/office/drawing/2014/main" id="{15A5EB54-4E86-4D08-9C64-CE8F4B4C70F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556" y="3609"/>
                      <a:ext cx="88" cy="129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C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</p:grpSp>
              <p:sp>
                <p:nvSpPr>
                  <p:cNvPr id="68" name="Line 46">
                    <a:extLst>
                      <a:ext uri="{FF2B5EF4-FFF2-40B4-BE49-F238E27FC236}">
                        <a16:creationId xmlns:a16="http://schemas.microsoft.com/office/drawing/2014/main" id="{F3CE2BCD-DC4A-4879-8C40-586C09ACC36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24" y="3028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de-DE"/>
                  </a:p>
                </p:txBody>
              </p:sp>
              <p:sp>
                <p:nvSpPr>
                  <p:cNvPr id="69" name="Line 47">
                    <a:extLst>
                      <a:ext uri="{FF2B5EF4-FFF2-40B4-BE49-F238E27FC236}">
                        <a16:creationId xmlns:a16="http://schemas.microsoft.com/office/drawing/2014/main" id="{30403CEA-A6EA-4692-93A7-E1859E7F98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24" y="3663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de-DE"/>
                  </a:p>
                </p:txBody>
              </p:sp>
              <p:sp>
                <p:nvSpPr>
                  <p:cNvPr id="70" name="Line 48">
                    <a:extLst>
                      <a:ext uri="{FF2B5EF4-FFF2-40B4-BE49-F238E27FC236}">
                        <a16:creationId xmlns:a16="http://schemas.microsoft.com/office/drawing/2014/main" id="{0FD94C7F-B600-40B5-848C-92D578F6B16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70" y="3028"/>
                    <a:ext cx="0" cy="63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</p:spPr>
                <p:txBody>
                  <a:bodyPr/>
                  <a:lstStyle/>
                  <a:p>
                    <a:endParaRPr lang="de-DE"/>
                  </a:p>
                </p:txBody>
              </p:sp>
              <p:sp>
                <p:nvSpPr>
                  <p:cNvPr id="71" name="Line 50">
                    <a:extLst>
                      <a:ext uri="{FF2B5EF4-FFF2-40B4-BE49-F238E27FC236}">
                        <a16:creationId xmlns:a16="http://schemas.microsoft.com/office/drawing/2014/main" id="{3B253107-BF14-4D98-BF5A-F6EEBBD5CCC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06" y="2801"/>
                    <a:ext cx="0" cy="5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lg" len="lg"/>
                  </a:ln>
                </p:spPr>
                <p:txBody>
                  <a:bodyPr/>
                  <a:lstStyle/>
                  <a:p>
                    <a:endParaRPr lang="de-DE"/>
                  </a:p>
                </p:txBody>
              </p:sp>
              <p:sp>
                <p:nvSpPr>
                  <p:cNvPr id="72" name="Line 51">
                    <a:extLst>
                      <a:ext uri="{FF2B5EF4-FFF2-40B4-BE49-F238E27FC236}">
                        <a16:creationId xmlns:a16="http://schemas.microsoft.com/office/drawing/2014/main" id="{33DD2CAD-B6B9-4734-91BE-AD6FC8C0D39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602" y="3029"/>
                    <a:ext cx="11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none"/>
                    <a:tailEnd type="triangle" w="lg" len="lg"/>
                  </a:ln>
                </p:spPr>
                <p:txBody>
                  <a:bodyPr/>
                  <a:lstStyle/>
                  <a:p>
                    <a:endParaRPr lang="de-DE"/>
                  </a:p>
                </p:txBody>
              </p:sp>
              <p:grpSp>
                <p:nvGrpSpPr>
                  <p:cNvPr id="73" name="Group 54">
                    <a:extLst>
                      <a:ext uri="{FF2B5EF4-FFF2-40B4-BE49-F238E27FC236}">
                        <a16:creationId xmlns:a16="http://schemas.microsoft.com/office/drawing/2014/main" id="{E0FFAD73-E920-4F76-A74A-81C7E23E7D0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05" y="3028"/>
                    <a:ext cx="1997" cy="635"/>
                    <a:chOff x="3605" y="3113"/>
                    <a:chExt cx="1997" cy="635"/>
                  </a:xfrm>
                </p:grpSpPr>
                <p:sp>
                  <p:nvSpPr>
                    <p:cNvPr id="88" name="Line 55">
                      <a:extLst>
                        <a:ext uri="{FF2B5EF4-FFF2-40B4-BE49-F238E27FC236}">
                          <a16:creationId xmlns:a16="http://schemas.microsoft.com/office/drawing/2014/main" id="{9D53A2CB-7132-4978-9989-ACB9B59E915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6" y="3113"/>
                      <a:ext cx="27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1">
                          <a:lumMod val="50000"/>
                        </a:schemeClr>
                      </a:solidFill>
                      <a:prstDash val="dash"/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89" name="Line 56">
                      <a:extLst>
                        <a:ext uri="{FF2B5EF4-FFF2-40B4-BE49-F238E27FC236}">
                          <a16:creationId xmlns:a16="http://schemas.microsoft.com/office/drawing/2014/main" id="{01F81D38-B391-480E-86A0-76498B7C6F4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68" y="3113"/>
                      <a:ext cx="27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1">
                          <a:lumMod val="50000"/>
                        </a:schemeClr>
                      </a:solidFill>
                      <a:prstDash val="dash"/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90" name="Line 57">
                      <a:extLst>
                        <a:ext uri="{FF2B5EF4-FFF2-40B4-BE49-F238E27FC236}">
                          <a16:creationId xmlns:a16="http://schemas.microsoft.com/office/drawing/2014/main" id="{C9090D20-5E82-4564-815B-5608A4FC56C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241" y="3113"/>
                      <a:ext cx="27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1">
                          <a:lumMod val="50000"/>
                        </a:schemeClr>
                      </a:solidFill>
                      <a:prstDash val="dash"/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91" name="Line 58">
                      <a:extLst>
                        <a:ext uri="{FF2B5EF4-FFF2-40B4-BE49-F238E27FC236}">
                          <a16:creationId xmlns:a16="http://schemas.microsoft.com/office/drawing/2014/main" id="{AAF2E237-3A1E-44D0-BFEB-B8F7B2B51B3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513" y="3113"/>
                      <a:ext cx="27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1">
                          <a:lumMod val="50000"/>
                        </a:schemeClr>
                      </a:solidFill>
                      <a:prstDash val="dash"/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92" name="Line 59">
                      <a:extLst>
                        <a:ext uri="{FF2B5EF4-FFF2-40B4-BE49-F238E27FC236}">
                          <a16:creationId xmlns:a16="http://schemas.microsoft.com/office/drawing/2014/main" id="{41319B94-A819-4FC7-A6B7-10901888A52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785" y="3113"/>
                      <a:ext cx="27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1">
                          <a:lumMod val="50000"/>
                        </a:schemeClr>
                      </a:solidFill>
                      <a:prstDash val="dash"/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93" name="Line 60">
                      <a:extLst>
                        <a:ext uri="{FF2B5EF4-FFF2-40B4-BE49-F238E27FC236}">
                          <a16:creationId xmlns:a16="http://schemas.microsoft.com/office/drawing/2014/main" id="{16D5E51A-92C4-4513-A6FA-4DE67DF1F6B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057" y="3113"/>
                      <a:ext cx="27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1">
                          <a:lumMod val="50000"/>
                        </a:schemeClr>
                      </a:solidFill>
                      <a:prstDash val="dash"/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94" name="Line 61">
                      <a:extLst>
                        <a:ext uri="{FF2B5EF4-FFF2-40B4-BE49-F238E27FC236}">
                          <a16:creationId xmlns:a16="http://schemas.microsoft.com/office/drawing/2014/main" id="{F95DA62E-EA20-45F5-88FF-BBC7E41D168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329" y="3113"/>
                      <a:ext cx="27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1">
                          <a:lumMod val="50000"/>
                        </a:schemeClr>
                      </a:solidFill>
                      <a:prstDash val="dash"/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95" name="Line 62">
                      <a:extLst>
                        <a:ext uri="{FF2B5EF4-FFF2-40B4-BE49-F238E27FC236}">
                          <a16:creationId xmlns:a16="http://schemas.microsoft.com/office/drawing/2014/main" id="{1C55E73E-920D-4EFC-B492-05B0115D215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05" y="3113"/>
                      <a:ext cx="92" cy="213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1">
                          <a:lumMod val="50000"/>
                        </a:schemeClr>
                      </a:solidFill>
                      <a:prstDash val="dash"/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</p:grpSp>
              <p:grpSp>
                <p:nvGrpSpPr>
                  <p:cNvPr id="74" name="Group 63">
                    <a:extLst>
                      <a:ext uri="{FF2B5EF4-FFF2-40B4-BE49-F238E27FC236}">
                        <a16:creationId xmlns:a16="http://schemas.microsoft.com/office/drawing/2014/main" id="{4CCF1D5B-87A3-47AC-8A7F-2FAE49A6C5C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3605" y="3028"/>
                    <a:ext cx="1997" cy="635"/>
                    <a:chOff x="3605" y="3113"/>
                    <a:chExt cx="1997" cy="635"/>
                  </a:xfrm>
                </p:grpSpPr>
                <p:sp>
                  <p:nvSpPr>
                    <p:cNvPr id="80" name="Line 64">
                      <a:extLst>
                        <a:ext uri="{FF2B5EF4-FFF2-40B4-BE49-F238E27FC236}">
                          <a16:creationId xmlns:a16="http://schemas.microsoft.com/office/drawing/2014/main" id="{9DBD1230-50D3-42B2-B073-76E84E46A6D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6" y="3113"/>
                      <a:ext cx="27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1">
                          <a:lumMod val="50000"/>
                        </a:schemeClr>
                      </a:solidFill>
                      <a:prstDash val="dash"/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81" name="Line 65">
                      <a:extLst>
                        <a:ext uri="{FF2B5EF4-FFF2-40B4-BE49-F238E27FC236}">
                          <a16:creationId xmlns:a16="http://schemas.microsoft.com/office/drawing/2014/main" id="{6CF14CF0-E92A-4B34-85DC-55EA6EF7A8D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68" y="3113"/>
                      <a:ext cx="27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1">
                          <a:lumMod val="50000"/>
                        </a:schemeClr>
                      </a:solidFill>
                      <a:prstDash val="dash"/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82" name="Line 66">
                      <a:extLst>
                        <a:ext uri="{FF2B5EF4-FFF2-40B4-BE49-F238E27FC236}">
                          <a16:creationId xmlns:a16="http://schemas.microsoft.com/office/drawing/2014/main" id="{DC2CE769-5206-40E8-B20F-1E2FCB7EE6F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241" y="3113"/>
                      <a:ext cx="27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1">
                          <a:lumMod val="50000"/>
                        </a:schemeClr>
                      </a:solidFill>
                      <a:prstDash val="dash"/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83" name="Line 67">
                      <a:extLst>
                        <a:ext uri="{FF2B5EF4-FFF2-40B4-BE49-F238E27FC236}">
                          <a16:creationId xmlns:a16="http://schemas.microsoft.com/office/drawing/2014/main" id="{3715CA3D-725F-4886-A2BF-46D388D64A1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513" y="3113"/>
                      <a:ext cx="27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1">
                          <a:lumMod val="50000"/>
                        </a:schemeClr>
                      </a:solidFill>
                      <a:prstDash val="dash"/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84" name="Line 68">
                      <a:extLst>
                        <a:ext uri="{FF2B5EF4-FFF2-40B4-BE49-F238E27FC236}">
                          <a16:creationId xmlns:a16="http://schemas.microsoft.com/office/drawing/2014/main" id="{306D8102-5BFA-4677-B466-9349B26B70A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785" y="3113"/>
                      <a:ext cx="27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1">
                          <a:lumMod val="50000"/>
                        </a:schemeClr>
                      </a:solidFill>
                      <a:prstDash val="dash"/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85" name="Line 69">
                      <a:extLst>
                        <a:ext uri="{FF2B5EF4-FFF2-40B4-BE49-F238E27FC236}">
                          <a16:creationId xmlns:a16="http://schemas.microsoft.com/office/drawing/2014/main" id="{2385C169-B665-4FF3-A222-57773DFD352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057" y="3113"/>
                      <a:ext cx="27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1">
                          <a:lumMod val="50000"/>
                        </a:schemeClr>
                      </a:solidFill>
                      <a:prstDash val="dash"/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86" name="Line 70">
                      <a:extLst>
                        <a:ext uri="{FF2B5EF4-FFF2-40B4-BE49-F238E27FC236}">
                          <a16:creationId xmlns:a16="http://schemas.microsoft.com/office/drawing/2014/main" id="{429413CB-42D9-41ED-98E0-E4658ADAC52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329" y="3113"/>
                      <a:ext cx="273" cy="63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1">
                          <a:lumMod val="50000"/>
                        </a:schemeClr>
                      </a:solidFill>
                      <a:prstDash val="dash"/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87" name="Line 71">
                      <a:extLst>
                        <a:ext uri="{FF2B5EF4-FFF2-40B4-BE49-F238E27FC236}">
                          <a16:creationId xmlns:a16="http://schemas.microsoft.com/office/drawing/2014/main" id="{C51E91E6-6ACF-48AE-A763-FAF98FF381A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05" y="3113"/>
                      <a:ext cx="92" cy="213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1">
                          <a:lumMod val="50000"/>
                        </a:schemeClr>
                      </a:solidFill>
                      <a:prstDash val="dash"/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de-DE"/>
                    </a:p>
                  </p:txBody>
                </p:sp>
              </p:grpSp>
              <p:sp>
                <p:nvSpPr>
                  <p:cNvPr id="75" name="Text Box 72">
                    <a:extLst>
                      <a:ext uri="{FF2B5EF4-FFF2-40B4-BE49-F238E27FC236}">
                        <a16:creationId xmlns:a16="http://schemas.microsoft.com/office/drawing/2014/main" id="{58F03E1C-69CE-4B60-AA08-6C0C0E8F064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75" y="3677"/>
                    <a:ext cx="686" cy="233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marL="177800" indent="-177800"/>
                    <a:r>
                      <a:rPr lang="de-DE" dirty="0">
                        <a:solidFill>
                          <a:srgbClr val="CA003B"/>
                        </a:solidFill>
                      </a:rPr>
                      <a:t>P-</a:t>
                    </a:r>
                    <a:r>
                      <a:rPr lang="ru-RU" dirty="0">
                        <a:solidFill>
                          <a:srgbClr val="CA003B"/>
                        </a:solidFill>
                      </a:rPr>
                      <a:t>волны</a:t>
                    </a:r>
                    <a:endParaRPr lang="en-US" dirty="0">
                      <a:solidFill>
                        <a:srgbClr val="CA003B"/>
                      </a:solidFill>
                    </a:endParaRPr>
                  </a:p>
                </p:txBody>
              </p:sp>
              <p:sp>
                <p:nvSpPr>
                  <p:cNvPr id="76" name="Line 73">
                    <a:extLst>
                      <a:ext uri="{FF2B5EF4-FFF2-40B4-BE49-F238E27FC236}">
                        <a16:creationId xmlns:a16="http://schemas.microsoft.com/office/drawing/2014/main" id="{F5343A4B-4D59-41D0-A941-F6BA6F9A9AC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014" y="3596"/>
                    <a:ext cx="91" cy="136"/>
                  </a:xfrm>
                  <a:prstGeom prst="line">
                    <a:avLst/>
                  </a:prstGeom>
                  <a:noFill/>
                  <a:ln w="9525">
                    <a:solidFill>
                      <a:srgbClr val="CA003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de-DE"/>
                  </a:p>
                </p:txBody>
              </p:sp>
              <p:sp>
                <p:nvSpPr>
                  <p:cNvPr id="77" name="Text Box 74">
                    <a:extLst>
                      <a:ext uri="{FF2B5EF4-FFF2-40B4-BE49-F238E27FC236}">
                        <a16:creationId xmlns:a16="http://schemas.microsoft.com/office/drawing/2014/main" id="{8BF8219A-19EC-4829-A20D-038CBE389B3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67" y="3677"/>
                    <a:ext cx="686" cy="233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marL="177800" indent="-177800"/>
                    <a:r>
                      <a:rPr lang="de-DE" dirty="0">
                        <a:solidFill>
                          <a:schemeClr val="hlink"/>
                        </a:solidFill>
                      </a:rPr>
                      <a:t>S-</a:t>
                    </a:r>
                    <a:r>
                      <a:rPr lang="ru-RU" dirty="0">
                        <a:solidFill>
                          <a:schemeClr val="hlink"/>
                        </a:solidFill>
                      </a:rPr>
                      <a:t>волны</a:t>
                    </a:r>
                    <a:endParaRPr lang="en-US" dirty="0">
                      <a:solidFill>
                        <a:schemeClr val="hlink"/>
                      </a:solidFill>
                    </a:endParaRPr>
                  </a:p>
                </p:txBody>
              </p:sp>
              <p:sp>
                <p:nvSpPr>
                  <p:cNvPr id="78" name="Line 75">
                    <a:extLst>
                      <a:ext uri="{FF2B5EF4-FFF2-40B4-BE49-F238E27FC236}">
                        <a16:creationId xmlns:a16="http://schemas.microsoft.com/office/drawing/2014/main" id="{12BB30E9-F0E5-4E28-80D5-F81CDD9EC6D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206" y="3596"/>
                    <a:ext cx="91" cy="136"/>
                  </a:xfrm>
                  <a:prstGeom prst="line">
                    <a:avLst/>
                  </a:prstGeom>
                  <a:noFill/>
                  <a:ln w="9525">
                    <a:solidFill>
                      <a:schemeClr val="hlink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de-DE"/>
                  </a:p>
                </p:txBody>
              </p:sp>
              <p:sp>
                <p:nvSpPr>
                  <p:cNvPr id="79" name="Line 76">
                    <a:extLst>
                      <a:ext uri="{FF2B5EF4-FFF2-40B4-BE49-F238E27FC236}">
                        <a16:creationId xmlns:a16="http://schemas.microsoft.com/office/drawing/2014/main" id="{B890D31E-2A26-4B18-BB3B-B31FABC3AC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06" y="3029"/>
                    <a:ext cx="199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B2B2B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de-DE"/>
                  </a:p>
                </p:txBody>
              </p: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feld 130">
                    <a:extLst>
                      <a:ext uri="{FF2B5EF4-FFF2-40B4-BE49-F238E27FC236}">
                        <a16:creationId xmlns:a16="http://schemas.microsoft.com/office/drawing/2014/main" id="{2D547708-08BC-4D17-A6BA-E3E32FC8B7DB}"/>
                      </a:ext>
                    </a:extLst>
                  </p:cNvPr>
                  <p:cNvSpPr txBox="1"/>
                  <p:nvPr/>
                </p:nvSpPr>
                <p:spPr>
                  <a:xfrm>
                    <a:off x="400347" y="4043704"/>
                    <a:ext cx="255513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de-DE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Textfeld 130">
                    <a:extLst>
                      <a:ext uri="{FF2B5EF4-FFF2-40B4-BE49-F238E27FC236}">
                        <a16:creationId xmlns:a16="http://schemas.microsoft.com/office/drawing/2014/main" id="{2D547708-08BC-4D17-A6BA-E3E32FC8B7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0347" y="4043704"/>
                    <a:ext cx="255513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714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feld 131">
                    <a:extLst>
                      <a:ext uri="{FF2B5EF4-FFF2-40B4-BE49-F238E27FC236}">
                        <a16:creationId xmlns:a16="http://schemas.microsoft.com/office/drawing/2014/main" id="{384D5958-CA84-45C8-B15F-F5B6DDD8AA16}"/>
                      </a:ext>
                    </a:extLst>
                  </p:cNvPr>
                  <p:cNvSpPr txBox="1"/>
                  <p:nvPr/>
                </p:nvSpPr>
                <p:spPr>
                  <a:xfrm>
                    <a:off x="3867014" y="4589731"/>
                    <a:ext cx="281449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de-DE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Textfeld 131">
                    <a:extLst>
                      <a:ext uri="{FF2B5EF4-FFF2-40B4-BE49-F238E27FC236}">
                        <a16:creationId xmlns:a16="http://schemas.microsoft.com/office/drawing/2014/main" id="{384D5958-CA84-45C8-B15F-F5B6DDD8AA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67014" y="4589731"/>
                    <a:ext cx="281449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2128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feld 129">
                  <a:extLst>
                    <a:ext uri="{FF2B5EF4-FFF2-40B4-BE49-F238E27FC236}">
                      <a16:creationId xmlns:a16="http://schemas.microsoft.com/office/drawing/2014/main" id="{EDDA4B3E-DFAD-4B04-A341-B384370F0C6F}"/>
                    </a:ext>
                  </a:extLst>
                </p:cNvPr>
                <p:cNvSpPr txBox="1"/>
                <p:nvPr/>
              </p:nvSpPr>
              <p:spPr>
                <a:xfrm>
                  <a:off x="304927" y="4913682"/>
                  <a:ext cx="361421" cy="40011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de-DE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feld 129">
                  <a:extLst>
                    <a:ext uri="{FF2B5EF4-FFF2-40B4-BE49-F238E27FC236}">
                      <a16:creationId xmlns:a16="http://schemas.microsoft.com/office/drawing/2014/main" id="{EDDA4B3E-DFAD-4B04-A341-B384370F0C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27" y="4913682"/>
                  <a:ext cx="361421" cy="400110"/>
                </a:xfrm>
                <a:prstGeom prst="rect">
                  <a:avLst/>
                </a:prstGeom>
                <a:blipFill>
                  <a:blip r:embed="rId11"/>
                  <a:stretch>
                    <a:fillRect r="-339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Gruppieren 24">
            <a:extLst>
              <a:ext uri="{FF2B5EF4-FFF2-40B4-BE49-F238E27FC236}">
                <a16:creationId xmlns:a16="http://schemas.microsoft.com/office/drawing/2014/main" id="{9FAA9FF1-57D8-4155-AAFA-49FAB253E45C}"/>
              </a:ext>
            </a:extLst>
          </p:cNvPr>
          <p:cNvGrpSpPr/>
          <p:nvPr/>
        </p:nvGrpSpPr>
        <p:grpSpPr>
          <a:xfrm>
            <a:off x="107504" y="836712"/>
            <a:ext cx="3889918" cy="1841706"/>
            <a:chOff x="4992809" y="764704"/>
            <a:chExt cx="3889918" cy="1841706"/>
          </a:xfrm>
        </p:grpSpPr>
        <p:grpSp>
          <p:nvGrpSpPr>
            <p:cNvPr id="111" name="Gruppieren 5">
              <a:extLst>
                <a:ext uri="{FF2B5EF4-FFF2-40B4-BE49-F238E27FC236}">
                  <a16:creationId xmlns:a16="http://schemas.microsoft.com/office/drawing/2014/main" id="{FB343620-2FE7-44B6-AF7A-2A0AD0E9E531}"/>
                </a:ext>
              </a:extLst>
            </p:cNvPr>
            <p:cNvGrpSpPr/>
            <p:nvPr/>
          </p:nvGrpSpPr>
          <p:grpSpPr>
            <a:xfrm>
              <a:off x="4992809" y="1058926"/>
              <a:ext cx="3123552" cy="1238237"/>
              <a:chOff x="4992809" y="1058926"/>
              <a:chExt cx="3123552" cy="1238237"/>
            </a:xfrm>
          </p:grpSpPr>
          <p:grpSp>
            <p:nvGrpSpPr>
              <p:cNvPr id="118" name="Gruppieren 1">
                <a:extLst>
                  <a:ext uri="{FF2B5EF4-FFF2-40B4-BE49-F238E27FC236}">
                    <a16:creationId xmlns:a16="http://schemas.microsoft.com/office/drawing/2014/main" id="{EF67C4FB-8E21-4B89-8EDF-FC467A09265F}"/>
                  </a:ext>
                </a:extLst>
              </p:cNvPr>
              <p:cNvGrpSpPr/>
              <p:nvPr/>
            </p:nvGrpSpPr>
            <p:grpSpPr>
              <a:xfrm>
                <a:off x="5051945" y="1058926"/>
                <a:ext cx="3064416" cy="1238237"/>
                <a:chOff x="5051945" y="1058926"/>
                <a:chExt cx="3064416" cy="1238237"/>
              </a:xfrm>
            </p:grpSpPr>
            <p:grpSp>
              <p:nvGrpSpPr>
                <p:cNvPr id="120" name="Gruppieren 89">
                  <a:extLst>
                    <a:ext uri="{FF2B5EF4-FFF2-40B4-BE49-F238E27FC236}">
                      <a16:creationId xmlns:a16="http://schemas.microsoft.com/office/drawing/2014/main" id="{74F6B3F8-3D9E-49A8-BA3A-2CE492DA4DD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051945" y="1058926"/>
                  <a:ext cx="2768926" cy="1238237"/>
                  <a:chOff x="5080347" y="907442"/>
                  <a:chExt cx="5633697" cy="2519337"/>
                </a:xfrm>
              </p:grpSpPr>
              <p:sp>
                <p:nvSpPr>
                  <p:cNvPr id="122" name="Rechteck 79">
                    <a:extLst>
                      <a:ext uri="{FF2B5EF4-FFF2-40B4-BE49-F238E27FC236}">
                        <a16:creationId xmlns:a16="http://schemas.microsoft.com/office/drawing/2014/main" id="{73A48412-3E21-41B4-9477-8B4B700CF7F4}"/>
                      </a:ext>
                    </a:extLst>
                  </p:cNvPr>
                  <p:cNvSpPr/>
                  <p:nvPr/>
                </p:nvSpPr>
                <p:spPr>
                  <a:xfrm>
                    <a:off x="5080347" y="1992656"/>
                    <a:ext cx="5633697" cy="1434123"/>
                  </a:xfrm>
                  <a:prstGeom prst="rect">
                    <a:avLst/>
                  </a:prstGeom>
                  <a:solidFill>
                    <a:schemeClr val="accent3">
                      <a:lumMod val="65000"/>
                      <a:alpha val="62000"/>
                    </a:schemeClr>
                  </a:solidFill>
                  <a:ln cmpd="sng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23" name="Gruppieren 83">
                    <a:extLst>
                      <a:ext uri="{FF2B5EF4-FFF2-40B4-BE49-F238E27FC236}">
                        <a16:creationId xmlns:a16="http://schemas.microsoft.com/office/drawing/2014/main" id="{9F39F992-1F1B-4E7E-A1A6-1A6F7FBD4E13}"/>
                      </a:ext>
                    </a:extLst>
                  </p:cNvPr>
                  <p:cNvGrpSpPr/>
                  <p:nvPr/>
                </p:nvGrpSpPr>
                <p:grpSpPr>
                  <a:xfrm>
                    <a:off x="7836291" y="907442"/>
                    <a:ext cx="1080005" cy="1080001"/>
                    <a:chOff x="5445302" y="2949620"/>
                    <a:chExt cx="721361" cy="721359"/>
                  </a:xfrm>
                </p:grpSpPr>
                <p:cxnSp>
                  <p:nvCxnSpPr>
                    <p:cNvPr id="124" name="Gerade Verbindung mit Pfeil 81">
                      <a:extLst>
                        <a:ext uri="{FF2B5EF4-FFF2-40B4-BE49-F238E27FC236}">
                          <a16:creationId xmlns:a16="http://schemas.microsoft.com/office/drawing/2014/main" id="{47C13A31-7939-4FF2-AA98-A8F3C3A1791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445302" y="2949620"/>
                      <a:ext cx="0" cy="721358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" name="Gerade Verbindung mit Pfeil 82">
                      <a:extLst>
                        <a:ext uri="{FF2B5EF4-FFF2-40B4-BE49-F238E27FC236}">
                          <a16:creationId xmlns:a16="http://schemas.microsoft.com/office/drawing/2014/main" id="{B31BF3CD-3933-4C72-AE37-CDC3109F43D4}"/>
                        </a:ext>
                      </a:extLst>
                    </p:cNvPr>
                    <p:cNvCxnSpPr/>
                    <p:nvPr/>
                  </p:nvCxnSpPr>
                  <p:spPr>
                    <a:xfrm rot="5400000" flipH="1" flipV="1">
                      <a:off x="5805984" y="3310300"/>
                      <a:ext cx="0" cy="721358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1" name="Textfeld 101">
                      <a:extLst>
                        <a:ext uri="{FF2B5EF4-FFF2-40B4-BE49-F238E27FC236}">
                          <a16:creationId xmlns:a16="http://schemas.microsoft.com/office/drawing/2014/main" id="{000BBC83-D22F-4C90-8199-27530680B28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37025" y="1739559"/>
                      <a:ext cx="1179336" cy="3385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de-DE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=+∞</m:t>
                            </m:r>
                          </m:oMath>
                        </m:oMathPara>
                      </a14:m>
                      <a:endParaRPr lang="de-DE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1" name="Textfeld 101">
                      <a:extLst>
                        <a:ext uri="{FF2B5EF4-FFF2-40B4-BE49-F238E27FC236}">
                          <a16:creationId xmlns:a16="http://schemas.microsoft.com/office/drawing/2014/main" id="{000BBC83-D22F-4C90-8199-27530680B28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37025" y="1739559"/>
                      <a:ext cx="1179336" cy="338554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Textfeld 102">
                    <a:extLst>
                      <a:ext uri="{FF2B5EF4-FFF2-40B4-BE49-F238E27FC236}">
                        <a16:creationId xmlns:a16="http://schemas.microsoft.com/office/drawing/2014/main" id="{B9DF985C-7EF8-4507-B9D3-E30510A1CDCA}"/>
                      </a:ext>
                    </a:extLst>
                  </p:cNvPr>
                  <p:cNvSpPr txBox="1"/>
                  <p:nvPr/>
                </p:nvSpPr>
                <p:spPr>
                  <a:xfrm>
                    <a:off x="4992809" y="1722751"/>
                    <a:ext cx="1179336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oMath>
                      </m:oMathPara>
                    </a14:m>
                    <a:endParaRPr lang="de-DE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9" name="Textfeld 102">
                    <a:extLst>
                      <a:ext uri="{FF2B5EF4-FFF2-40B4-BE49-F238E27FC236}">
                        <a16:creationId xmlns:a16="http://schemas.microsoft.com/office/drawing/2014/main" id="{B9DF985C-7EF8-4507-B9D3-E30510A1CD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92809" y="1722751"/>
                    <a:ext cx="1179336" cy="33855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feld 132">
                  <a:extLst>
                    <a:ext uri="{FF2B5EF4-FFF2-40B4-BE49-F238E27FC236}">
                      <a16:creationId xmlns:a16="http://schemas.microsoft.com/office/drawing/2014/main" id="{298F2FEA-7F2F-452F-9369-0018920D5804}"/>
                    </a:ext>
                  </a:extLst>
                </p:cNvPr>
                <p:cNvSpPr txBox="1"/>
                <p:nvPr/>
              </p:nvSpPr>
              <p:spPr>
                <a:xfrm>
                  <a:off x="6738889" y="1506012"/>
                  <a:ext cx="278602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de-DE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Textfeld 132">
                  <a:extLst>
                    <a:ext uri="{FF2B5EF4-FFF2-40B4-BE49-F238E27FC236}">
                      <a16:creationId xmlns:a16="http://schemas.microsoft.com/office/drawing/2014/main" id="{298F2FEA-7F2F-452F-9369-0018920D58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8889" y="1506012"/>
                  <a:ext cx="278602" cy="400110"/>
                </a:xfrm>
                <a:prstGeom prst="rect">
                  <a:avLst/>
                </a:prstGeom>
                <a:blipFill>
                  <a:blip r:embed="rId14"/>
                  <a:stretch>
                    <a:fillRect r="-43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feld 133">
                  <a:extLst>
                    <a:ext uri="{FF2B5EF4-FFF2-40B4-BE49-F238E27FC236}">
                      <a16:creationId xmlns:a16="http://schemas.microsoft.com/office/drawing/2014/main" id="{D10073DE-E1DC-4F9A-B0C8-204C23F5F78F}"/>
                    </a:ext>
                  </a:extLst>
                </p:cNvPr>
                <p:cNvSpPr txBox="1"/>
                <p:nvPr/>
              </p:nvSpPr>
              <p:spPr>
                <a:xfrm>
                  <a:off x="6156176" y="764704"/>
                  <a:ext cx="287831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de-DE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Textfeld 133">
                  <a:extLst>
                    <a:ext uri="{FF2B5EF4-FFF2-40B4-BE49-F238E27FC236}">
                      <a16:creationId xmlns:a16="http://schemas.microsoft.com/office/drawing/2014/main" id="{D10073DE-E1DC-4F9A-B0C8-204C23F5F7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6176" y="764704"/>
                  <a:ext cx="287831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Gerader Verbinder 20">
              <a:extLst>
                <a:ext uri="{FF2B5EF4-FFF2-40B4-BE49-F238E27FC236}">
                  <a16:creationId xmlns:a16="http://schemas.microsoft.com/office/drawing/2014/main" id="{4CA93D34-213E-4E65-A038-3DBED7F2EF4E}"/>
                </a:ext>
              </a:extLst>
            </p:cNvPr>
            <p:cNvCxnSpPr/>
            <p:nvPr/>
          </p:nvCxnSpPr>
          <p:spPr>
            <a:xfrm>
              <a:off x="5051945" y="1592300"/>
              <a:ext cx="2768926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Gerader Verbinder 134">
              <a:extLst>
                <a:ext uri="{FF2B5EF4-FFF2-40B4-BE49-F238E27FC236}">
                  <a16:creationId xmlns:a16="http://schemas.microsoft.com/office/drawing/2014/main" id="{42DA0699-AC87-4EFB-8277-A660CDD5B9AD}"/>
                </a:ext>
              </a:extLst>
            </p:cNvPr>
            <p:cNvCxnSpPr/>
            <p:nvPr/>
          </p:nvCxnSpPr>
          <p:spPr>
            <a:xfrm>
              <a:off x="5048770" y="2297150"/>
              <a:ext cx="2768926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feld 136">
                  <a:extLst>
                    <a:ext uri="{FF2B5EF4-FFF2-40B4-BE49-F238E27FC236}">
                      <a16:creationId xmlns:a16="http://schemas.microsoft.com/office/drawing/2014/main" id="{0C253D0E-FE43-4C79-8E64-178B5A195E06}"/>
                    </a:ext>
                  </a:extLst>
                </p:cNvPr>
                <p:cNvSpPr txBox="1"/>
                <p:nvPr/>
              </p:nvSpPr>
              <p:spPr>
                <a:xfrm>
                  <a:off x="6639280" y="1186004"/>
                  <a:ext cx="2243447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de-DE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de-DE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de-DE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de-DE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de-DE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)=0</m:t>
                        </m:r>
                      </m:oMath>
                    </m:oMathPara>
                  </a14:m>
                  <a:endParaRPr lang="de-DE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Textfeld 136">
                  <a:extLst>
                    <a:ext uri="{FF2B5EF4-FFF2-40B4-BE49-F238E27FC236}">
                      <a16:creationId xmlns:a16="http://schemas.microsoft.com/office/drawing/2014/main" id="{0C253D0E-FE43-4C79-8E64-178B5A195E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9280" y="1186004"/>
                  <a:ext cx="2243447" cy="338554"/>
                </a:xfrm>
                <a:prstGeom prst="rect">
                  <a:avLst/>
                </a:prstGeom>
                <a:blipFill>
                  <a:blip r:embed="rId16"/>
                  <a:stretch>
                    <a:fillRect b="-1272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feld 137">
                  <a:extLst>
                    <a:ext uri="{FF2B5EF4-FFF2-40B4-BE49-F238E27FC236}">
                      <a16:creationId xmlns:a16="http://schemas.microsoft.com/office/drawing/2014/main" id="{1EE925BE-B443-4468-ABB4-A1FB7AC9F13B}"/>
                    </a:ext>
                  </a:extLst>
                </p:cNvPr>
                <p:cNvSpPr txBox="1"/>
                <p:nvPr/>
              </p:nvSpPr>
              <p:spPr>
                <a:xfrm>
                  <a:off x="6572846" y="2267856"/>
                  <a:ext cx="2243447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de-DE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de-DE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de-D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de-D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de-DE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)=0</m:t>
                        </m:r>
                      </m:oMath>
                    </m:oMathPara>
                  </a14:m>
                  <a:endParaRPr lang="de-DE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Textfeld 137">
                  <a:extLst>
                    <a:ext uri="{FF2B5EF4-FFF2-40B4-BE49-F238E27FC236}">
                      <a16:creationId xmlns:a16="http://schemas.microsoft.com/office/drawing/2014/main" id="{1EE925BE-B443-4468-ABB4-A1FB7AC9F1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2846" y="2267856"/>
                  <a:ext cx="2243447" cy="338554"/>
                </a:xfrm>
                <a:prstGeom prst="rect">
                  <a:avLst/>
                </a:prstGeom>
                <a:blipFill>
                  <a:blip r:embed="rId17"/>
                  <a:stretch>
                    <a:fillRect b="-107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0" name="Gruppieren 37">
            <a:extLst>
              <a:ext uri="{FF2B5EF4-FFF2-40B4-BE49-F238E27FC236}">
                <a16:creationId xmlns:a16="http://schemas.microsoft.com/office/drawing/2014/main" id="{CE422603-1678-4C1B-8EAB-E452C0FD821D}"/>
              </a:ext>
            </a:extLst>
          </p:cNvPr>
          <p:cNvGrpSpPr>
            <a:grpSpLocks noChangeAspect="1"/>
          </p:cNvGrpSpPr>
          <p:nvPr/>
        </p:nvGrpSpPr>
        <p:grpSpPr>
          <a:xfrm>
            <a:off x="4202591" y="3564432"/>
            <a:ext cx="3761861" cy="2815656"/>
            <a:chOff x="5287539" y="4409123"/>
            <a:chExt cx="2799080" cy="2095035"/>
          </a:xfrm>
        </p:grpSpPr>
        <p:grpSp>
          <p:nvGrpSpPr>
            <p:cNvPr id="154" name="Gruppieren 154">
              <a:extLst>
                <a:ext uri="{FF2B5EF4-FFF2-40B4-BE49-F238E27FC236}">
                  <a16:creationId xmlns:a16="http://schemas.microsoft.com/office/drawing/2014/main" id="{FDA9B93F-094B-4649-BE61-7FC87009E763}"/>
                </a:ext>
              </a:extLst>
            </p:cNvPr>
            <p:cNvGrpSpPr/>
            <p:nvPr/>
          </p:nvGrpSpPr>
          <p:grpSpPr>
            <a:xfrm>
              <a:off x="5480168" y="4483719"/>
              <a:ext cx="2520000" cy="1800000"/>
              <a:chOff x="5067728" y="3118132"/>
              <a:chExt cx="3443728" cy="2732251"/>
            </a:xfrm>
          </p:grpSpPr>
          <p:pic>
            <p:nvPicPr>
              <p:cNvPr id="157" name="Grafik 155">
                <a:extLst>
                  <a:ext uri="{FF2B5EF4-FFF2-40B4-BE49-F238E27FC236}">
                    <a16:creationId xmlns:a16="http://schemas.microsoft.com/office/drawing/2014/main" id="{25644F19-E935-45ED-9E40-91B8CEBD03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127" t="5933" r="8157" b="9739"/>
              <a:stretch/>
            </p:blipFill>
            <p:spPr>
              <a:xfrm>
                <a:off x="5067728" y="3118132"/>
                <a:ext cx="3443728" cy="2732251"/>
              </a:xfrm>
              <a:prstGeom prst="rect">
                <a:avLst/>
              </a:prstGeom>
            </p:spPr>
          </p:pic>
          <p:grpSp>
            <p:nvGrpSpPr>
              <p:cNvPr id="158" name="Gruppieren 156">
                <a:extLst>
                  <a:ext uri="{FF2B5EF4-FFF2-40B4-BE49-F238E27FC236}">
                    <a16:creationId xmlns:a16="http://schemas.microsoft.com/office/drawing/2014/main" id="{4B5A974C-5CC7-4BD5-8FD6-23ABB74CD31F}"/>
                  </a:ext>
                </a:extLst>
              </p:cNvPr>
              <p:cNvGrpSpPr/>
              <p:nvPr/>
            </p:nvGrpSpPr>
            <p:grpSpPr>
              <a:xfrm>
                <a:off x="5128901" y="3339584"/>
                <a:ext cx="2640052" cy="2041651"/>
                <a:chOff x="5128901" y="3339584"/>
                <a:chExt cx="2640052" cy="2041651"/>
              </a:xfrm>
            </p:grpSpPr>
            <p:sp>
              <p:nvSpPr>
                <p:cNvPr id="159" name="Textfeld 157">
                  <a:extLst>
                    <a:ext uri="{FF2B5EF4-FFF2-40B4-BE49-F238E27FC236}">
                      <a16:creationId xmlns:a16="http://schemas.microsoft.com/office/drawing/2014/main" id="{3DD65685-A560-47F7-AC40-6741165BE65A}"/>
                    </a:ext>
                  </a:extLst>
                </p:cNvPr>
                <p:cNvSpPr txBox="1"/>
                <p:nvPr/>
              </p:nvSpPr>
              <p:spPr>
                <a:xfrm>
                  <a:off x="5128901" y="4991918"/>
                  <a:ext cx="548640" cy="3893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1400" dirty="0"/>
                    <a:t>A</a:t>
                  </a:r>
                  <a:r>
                    <a:rPr lang="de-DE" sz="1400" baseline="-25000" dirty="0"/>
                    <a:t>0</a:t>
                  </a:r>
                </a:p>
              </p:txBody>
            </p:sp>
            <p:sp>
              <p:nvSpPr>
                <p:cNvPr id="160" name="Textfeld 158">
                  <a:extLst>
                    <a:ext uri="{FF2B5EF4-FFF2-40B4-BE49-F238E27FC236}">
                      <a16:creationId xmlns:a16="http://schemas.microsoft.com/office/drawing/2014/main" id="{4E7B049C-09F5-429B-B259-4C29F46A417B}"/>
                    </a:ext>
                  </a:extLst>
                </p:cNvPr>
                <p:cNvSpPr txBox="1"/>
                <p:nvPr/>
              </p:nvSpPr>
              <p:spPr>
                <a:xfrm>
                  <a:off x="5254249" y="3843789"/>
                  <a:ext cx="548640" cy="3893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1400" dirty="0"/>
                    <a:t>S</a:t>
                  </a:r>
                  <a:r>
                    <a:rPr lang="de-DE" sz="1400" baseline="-25000" dirty="0"/>
                    <a:t>0</a:t>
                  </a:r>
                </a:p>
              </p:txBody>
            </p:sp>
            <p:sp>
              <p:nvSpPr>
                <p:cNvPr id="161" name="Textfeld 159">
                  <a:extLst>
                    <a:ext uri="{FF2B5EF4-FFF2-40B4-BE49-F238E27FC236}">
                      <a16:creationId xmlns:a16="http://schemas.microsoft.com/office/drawing/2014/main" id="{C8199B33-ED27-41B1-AF44-A1FF2A8C31BD}"/>
                    </a:ext>
                  </a:extLst>
                </p:cNvPr>
                <p:cNvSpPr txBox="1"/>
                <p:nvPr/>
              </p:nvSpPr>
              <p:spPr>
                <a:xfrm>
                  <a:off x="5910331" y="4105405"/>
                  <a:ext cx="548640" cy="3893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1400" dirty="0"/>
                    <a:t>A</a:t>
                  </a:r>
                  <a:r>
                    <a:rPr lang="de-DE" sz="1400" baseline="-25000" dirty="0"/>
                    <a:t>1</a:t>
                  </a:r>
                </a:p>
              </p:txBody>
            </p:sp>
            <p:sp>
              <p:nvSpPr>
                <p:cNvPr id="162" name="Textfeld 160">
                  <a:extLst>
                    <a:ext uri="{FF2B5EF4-FFF2-40B4-BE49-F238E27FC236}">
                      <a16:creationId xmlns:a16="http://schemas.microsoft.com/office/drawing/2014/main" id="{7DFCCB29-2233-40CE-84E3-E1C60E9E0715}"/>
                    </a:ext>
                  </a:extLst>
                </p:cNvPr>
                <p:cNvSpPr txBox="1"/>
                <p:nvPr/>
              </p:nvSpPr>
              <p:spPr>
                <a:xfrm>
                  <a:off x="5854983" y="3384755"/>
                  <a:ext cx="548640" cy="3893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1400" dirty="0"/>
                    <a:t>S</a:t>
                  </a:r>
                  <a:r>
                    <a:rPr lang="de-DE" sz="1400" baseline="-25000" dirty="0"/>
                    <a:t>1</a:t>
                  </a:r>
                </a:p>
              </p:txBody>
            </p:sp>
            <p:sp>
              <p:nvSpPr>
                <p:cNvPr id="163" name="Textfeld 161">
                  <a:extLst>
                    <a:ext uri="{FF2B5EF4-FFF2-40B4-BE49-F238E27FC236}">
                      <a16:creationId xmlns:a16="http://schemas.microsoft.com/office/drawing/2014/main" id="{34A2CE31-8B86-4453-8D57-BC59CD9B8CAD}"/>
                    </a:ext>
                  </a:extLst>
                </p:cNvPr>
                <p:cNvSpPr txBox="1"/>
                <p:nvPr/>
              </p:nvSpPr>
              <p:spPr>
                <a:xfrm>
                  <a:off x="6960743" y="3339584"/>
                  <a:ext cx="548640" cy="3893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1400" dirty="0"/>
                    <a:t>S</a:t>
                  </a:r>
                  <a:r>
                    <a:rPr lang="de-DE" sz="1400" baseline="-25000" dirty="0"/>
                    <a:t>2</a:t>
                  </a:r>
                </a:p>
              </p:txBody>
            </p:sp>
            <p:sp>
              <p:nvSpPr>
                <p:cNvPr id="164" name="Textfeld 162">
                  <a:extLst>
                    <a:ext uri="{FF2B5EF4-FFF2-40B4-BE49-F238E27FC236}">
                      <a16:creationId xmlns:a16="http://schemas.microsoft.com/office/drawing/2014/main" id="{EC2438E1-A763-440F-BE8E-7F1265FAF403}"/>
                    </a:ext>
                  </a:extLst>
                </p:cNvPr>
                <p:cNvSpPr txBox="1"/>
                <p:nvPr/>
              </p:nvSpPr>
              <p:spPr>
                <a:xfrm>
                  <a:off x="7220313" y="3949122"/>
                  <a:ext cx="548640" cy="3893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1400" dirty="0"/>
                    <a:t>A</a:t>
                  </a:r>
                  <a:r>
                    <a:rPr lang="de-DE" sz="1400" baseline="-25000" dirty="0"/>
                    <a:t>2</a:t>
                  </a:r>
                </a:p>
              </p:txBody>
            </p:sp>
          </p:grpSp>
        </p:grpSp>
        <p:sp>
          <p:nvSpPr>
            <p:cNvPr id="155" name="Textfeld 36">
              <a:extLst>
                <a:ext uri="{FF2B5EF4-FFF2-40B4-BE49-F238E27FC236}">
                  <a16:creationId xmlns:a16="http://schemas.microsoft.com/office/drawing/2014/main" id="{9C6FC3A0-919B-4B8F-BA78-B81DB26CD872}"/>
                </a:ext>
              </a:extLst>
            </p:cNvPr>
            <p:cNvSpPr txBox="1"/>
            <p:nvPr/>
          </p:nvSpPr>
          <p:spPr>
            <a:xfrm>
              <a:off x="6463149" y="6227159"/>
              <a:ext cx="16234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/>
                <a:t>частота</a:t>
              </a:r>
              <a:r>
                <a:rPr lang="en-GB" sz="1200" dirty="0"/>
                <a:t> (</a:t>
              </a:r>
              <a:r>
                <a:rPr lang="ru-RU" sz="1200" dirty="0"/>
                <a:t>кГц</a:t>
              </a:r>
              <a:r>
                <a:rPr lang="en-GB" sz="1200" dirty="0"/>
                <a:t>-</a:t>
              </a:r>
              <a:r>
                <a:rPr lang="ru-RU" sz="1200" dirty="0"/>
                <a:t>мм</a:t>
              </a:r>
              <a:r>
                <a:rPr lang="en-GB" sz="1200" dirty="0"/>
                <a:t>)</a:t>
              </a:r>
            </a:p>
          </p:txBody>
        </p:sp>
        <p:sp>
          <p:nvSpPr>
            <p:cNvPr id="156" name="Textfeld 163">
              <a:extLst>
                <a:ext uri="{FF2B5EF4-FFF2-40B4-BE49-F238E27FC236}">
                  <a16:creationId xmlns:a16="http://schemas.microsoft.com/office/drawing/2014/main" id="{B5644400-E97C-4F72-941E-4A44B72F2420}"/>
                </a:ext>
              </a:extLst>
            </p:cNvPr>
            <p:cNvSpPr txBox="1"/>
            <p:nvPr/>
          </p:nvSpPr>
          <p:spPr>
            <a:xfrm rot="16200000">
              <a:off x="4792124" y="4904538"/>
              <a:ext cx="14524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200" dirty="0"/>
                <a:t>Фазовая скорость (км/с)</a:t>
              </a:r>
              <a:endParaRPr lang="en-US" sz="1200" dirty="0"/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54304038-A02B-8F5A-2F59-DF790CA4386C}"/>
              </a:ext>
            </a:extLst>
          </p:cNvPr>
          <p:cNvGrpSpPr/>
          <p:nvPr/>
        </p:nvGrpSpPr>
        <p:grpSpPr>
          <a:xfrm>
            <a:off x="111711" y="2624582"/>
            <a:ext cx="3812217" cy="1956546"/>
            <a:chOff x="4860032" y="2444970"/>
            <a:chExt cx="3812217" cy="1956546"/>
          </a:xfrm>
        </p:grpSpPr>
        <p:grpSp>
          <p:nvGrpSpPr>
            <p:cNvPr id="126" name="Gruppieren 193">
              <a:extLst>
                <a:ext uri="{FF2B5EF4-FFF2-40B4-BE49-F238E27FC236}">
                  <a16:creationId xmlns:a16="http://schemas.microsoft.com/office/drawing/2014/main" id="{614ACF6C-8B6F-4726-A8AF-14AC299724EA}"/>
                </a:ext>
              </a:extLst>
            </p:cNvPr>
            <p:cNvGrpSpPr/>
            <p:nvPr/>
          </p:nvGrpSpPr>
          <p:grpSpPr>
            <a:xfrm>
              <a:off x="4860032" y="2480666"/>
              <a:ext cx="3812217" cy="1920850"/>
              <a:chOff x="4693202" y="2480666"/>
              <a:chExt cx="3812217" cy="1920850"/>
            </a:xfrm>
          </p:grpSpPr>
          <p:pic>
            <p:nvPicPr>
              <p:cNvPr id="127" name="Grafik 35">
                <a:extLst>
                  <a:ext uri="{FF2B5EF4-FFF2-40B4-BE49-F238E27FC236}">
                    <a16:creationId xmlns:a16="http://schemas.microsoft.com/office/drawing/2014/main" id="{12C0885D-687A-427B-B54A-287C3ECE31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05419" y="2727352"/>
                <a:ext cx="3600000" cy="1674164"/>
              </a:xfrm>
              <a:prstGeom prst="rect">
                <a:avLst/>
              </a:prstGeom>
            </p:spPr>
          </p:pic>
          <p:grpSp>
            <p:nvGrpSpPr>
              <p:cNvPr id="128" name="Gruppieren 192">
                <a:extLst>
                  <a:ext uri="{FF2B5EF4-FFF2-40B4-BE49-F238E27FC236}">
                    <a16:creationId xmlns:a16="http://schemas.microsoft.com/office/drawing/2014/main" id="{6DB4E410-0996-4466-83B5-BF00C88DACD2}"/>
                  </a:ext>
                </a:extLst>
              </p:cNvPr>
              <p:cNvGrpSpPr/>
              <p:nvPr/>
            </p:nvGrpSpPr>
            <p:grpSpPr>
              <a:xfrm>
                <a:off x="4693202" y="2480666"/>
                <a:ext cx="485969" cy="1384426"/>
                <a:chOff x="4693202" y="2480666"/>
                <a:chExt cx="485969" cy="1384426"/>
              </a:xfrm>
            </p:grpSpPr>
            <p:grpSp>
              <p:nvGrpSpPr>
                <p:cNvPr id="129" name="Gruppieren 31">
                  <a:extLst>
                    <a:ext uri="{FF2B5EF4-FFF2-40B4-BE49-F238E27FC236}">
                      <a16:creationId xmlns:a16="http://schemas.microsoft.com/office/drawing/2014/main" id="{12554D58-CE0E-42CC-A293-7C132DB3CD41}"/>
                    </a:ext>
                  </a:extLst>
                </p:cNvPr>
                <p:cNvGrpSpPr/>
                <p:nvPr/>
              </p:nvGrpSpPr>
              <p:grpSpPr>
                <a:xfrm>
                  <a:off x="4693202" y="2480666"/>
                  <a:ext cx="485969" cy="482531"/>
                  <a:chOff x="6136491" y="3752837"/>
                  <a:chExt cx="943820" cy="856272"/>
                </a:xfrm>
              </p:grpSpPr>
              <p:cxnSp>
                <p:nvCxnSpPr>
                  <p:cNvPr id="135" name="Gerade Verbindung mit Pfeil 140">
                    <a:extLst>
                      <a:ext uri="{FF2B5EF4-FFF2-40B4-BE49-F238E27FC236}">
                        <a16:creationId xmlns:a16="http://schemas.microsoft.com/office/drawing/2014/main" id="{758B08AA-2DEE-4061-BD77-07BBD6AABB8B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6814904" y="4281983"/>
                    <a:ext cx="0" cy="530814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6" name="Textfeld 141">
                        <a:extLst>
                          <a:ext uri="{FF2B5EF4-FFF2-40B4-BE49-F238E27FC236}">
                            <a16:creationId xmlns:a16="http://schemas.microsoft.com/office/drawing/2014/main" id="{986523AE-962D-455C-8D26-B2A7B833A5D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70996" y="4062946"/>
                        <a:ext cx="278602" cy="5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de-DE" sz="1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36" name="Textfeld 141">
                        <a:extLst>
                          <a:ext uri="{FF2B5EF4-FFF2-40B4-BE49-F238E27FC236}">
                            <a16:creationId xmlns:a16="http://schemas.microsoft.com/office/drawing/2014/main" id="{986523AE-962D-455C-8D26-B2A7B833A5D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770996" y="4062946"/>
                        <a:ext cx="278602" cy="546163"/>
                      </a:xfrm>
                      <a:prstGeom prst="rect">
                        <a:avLst/>
                      </a:prstGeom>
                      <a:blipFill>
                        <a:blip r:embed="rId20"/>
                        <a:stretch>
                          <a:fillRect r="-45833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ru-RU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7" name="Textfeld 142">
                        <a:extLst>
                          <a:ext uri="{FF2B5EF4-FFF2-40B4-BE49-F238E27FC236}">
                            <a16:creationId xmlns:a16="http://schemas.microsoft.com/office/drawing/2014/main" id="{B1B3CAEC-C519-48AA-9118-21331CCE655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36491" y="3752837"/>
                        <a:ext cx="287831" cy="5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oMath>
                          </m:oMathPara>
                        </a14:m>
                        <a:endParaRPr lang="de-DE" sz="1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37" name="Textfeld 142">
                        <a:extLst>
                          <a:ext uri="{FF2B5EF4-FFF2-40B4-BE49-F238E27FC236}">
                            <a16:creationId xmlns:a16="http://schemas.microsoft.com/office/drawing/2014/main" id="{B1B3CAEC-C519-48AA-9118-21331CCE655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136491" y="3752837"/>
                        <a:ext cx="287831" cy="546163"/>
                      </a:xfrm>
                      <a:prstGeom prst="rect">
                        <a:avLst/>
                      </a:prstGeom>
                      <a:blipFill>
                        <a:blip r:embed="rId21"/>
                        <a:stretch>
                          <a:fillRect r="-41667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ru-RU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38" name="Gerade Verbindung mit Pfeil 139">
                    <a:extLst>
                      <a:ext uri="{FF2B5EF4-FFF2-40B4-BE49-F238E27FC236}">
                        <a16:creationId xmlns:a16="http://schemas.microsoft.com/office/drawing/2014/main" id="{F5E90F5C-4AF8-4F1C-8D2F-11BBE249BA0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49495" y="4016577"/>
                    <a:ext cx="0" cy="530814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0" name="Gruppieren 164">
                  <a:extLst>
                    <a:ext uri="{FF2B5EF4-FFF2-40B4-BE49-F238E27FC236}">
                      <a16:creationId xmlns:a16="http://schemas.microsoft.com/office/drawing/2014/main" id="{B9D3446D-7AD4-4AF4-90D4-410A08DC248E}"/>
                    </a:ext>
                  </a:extLst>
                </p:cNvPr>
                <p:cNvGrpSpPr/>
                <p:nvPr/>
              </p:nvGrpSpPr>
              <p:grpSpPr>
                <a:xfrm>
                  <a:off x="4696823" y="3384820"/>
                  <a:ext cx="472833" cy="480272"/>
                  <a:chOff x="6162007" y="3768456"/>
                  <a:chExt cx="918305" cy="852262"/>
                </a:xfrm>
              </p:grpSpPr>
              <p:cxnSp>
                <p:nvCxnSpPr>
                  <p:cNvPr id="131" name="Gerade Verbindung mit Pfeil 165">
                    <a:extLst>
                      <a:ext uri="{FF2B5EF4-FFF2-40B4-BE49-F238E27FC236}">
                        <a16:creationId xmlns:a16="http://schemas.microsoft.com/office/drawing/2014/main" id="{AC17A0D3-C6DE-456E-BE8D-AA7B5DDDB01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49496" y="4042248"/>
                    <a:ext cx="0" cy="530813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" name="Gerade Verbindung mit Pfeil 166">
                    <a:extLst>
                      <a:ext uri="{FF2B5EF4-FFF2-40B4-BE49-F238E27FC236}">
                        <a16:creationId xmlns:a16="http://schemas.microsoft.com/office/drawing/2014/main" id="{2DB70E31-641F-49E0-AF99-9AADDC75AABC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6814904" y="4307655"/>
                    <a:ext cx="0" cy="530814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3" name="Textfeld 167">
                        <a:extLst>
                          <a:ext uri="{FF2B5EF4-FFF2-40B4-BE49-F238E27FC236}">
                            <a16:creationId xmlns:a16="http://schemas.microsoft.com/office/drawing/2014/main" id="{8CFD7881-ABFE-458A-BC6C-D3444652340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01709" y="4074555"/>
                        <a:ext cx="278603" cy="5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de-DE" sz="1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33" name="Textfeld 167">
                        <a:extLst>
                          <a:ext uri="{FF2B5EF4-FFF2-40B4-BE49-F238E27FC236}">
                            <a16:creationId xmlns:a16="http://schemas.microsoft.com/office/drawing/2014/main" id="{8CFD7881-ABFE-458A-BC6C-D3444652340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01709" y="4074555"/>
                        <a:ext cx="278603" cy="546163"/>
                      </a:xfrm>
                      <a:prstGeom prst="rect">
                        <a:avLst/>
                      </a:prstGeom>
                      <a:blipFill>
                        <a:blip r:embed="rId22"/>
                        <a:stretch>
                          <a:fillRect r="-47826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ru-RU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4" name="Textfeld 168">
                        <a:extLst>
                          <a:ext uri="{FF2B5EF4-FFF2-40B4-BE49-F238E27FC236}">
                            <a16:creationId xmlns:a16="http://schemas.microsoft.com/office/drawing/2014/main" id="{94DEA381-958B-4F48-8349-4F67EA82698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62007" y="3768456"/>
                        <a:ext cx="287830" cy="5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oMath>
                          </m:oMathPara>
                        </a14:m>
                        <a:endParaRPr lang="de-DE" sz="1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34" name="Textfeld 168">
                        <a:extLst>
                          <a:ext uri="{FF2B5EF4-FFF2-40B4-BE49-F238E27FC236}">
                            <a16:creationId xmlns:a16="http://schemas.microsoft.com/office/drawing/2014/main" id="{94DEA381-958B-4F48-8349-4F67EA82698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162007" y="3768456"/>
                        <a:ext cx="287830" cy="546163"/>
                      </a:xfrm>
                      <a:prstGeom prst="rect">
                        <a:avLst/>
                      </a:prstGeom>
                      <a:blipFill>
                        <a:blip r:embed="rId23"/>
                        <a:stretch>
                          <a:fillRect r="-36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ru-RU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</p:grpSp>
        <p:sp>
          <p:nvSpPr>
            <p:cNvPr id="141" name="Textfeld 169">
              <a:extLst>
                <a:ext uri="{FF2B5EF4-FFF2-40B4-BE49-F238E27FC236}">
                  <a16:creationId xmlns:a16="http://schemas.microsoft.com/office/drawing/2014/main" id="{413F5A80-3DEB-42FA-A763-9D82FED68CC0}"/>
                </a:ext>
              </a:extLst>
            </p:cNvPr>
            <p:cNvSpPr txBox="1"/>
            <p:nvPr/>
          </p:nvSpPr>
          <p:spPr>
            <a:xfrm>
              <a:off x="8125401" y="3859645"/>
              <a:ext cx="401476" cy="2564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/>
                <a:t>S</a:t>
              </a:r>
              <a:r>
                <a:rPr lang="de-DE" sz="1400" baseline="-25000" dirty="0"/>
                <a:t>0</a:t>
              </a:r>
            </a:p>
          </p:txBody>
        </p:sp>
        <p:sp>
          <p:nvSpPr>
            <p:cNvPr id="142" name="Textfeld 170">
              <a:extLst>
                <a:ext uri="{FF2B5EF4-FFF2-40B4-BE49-F238E27FC236}">
                  <a16:creationId xmlns:a16="http://schemas.microsoft.com/office/drawing/2014/main" id="{D4188D77-4D2C-4993-A235-44878F4FE3CC}"/>
                </a:ext>
              </a:extLst>
            </p:cNvPr>
            <p:cNvSpPr txBox="1"/>
            <p:nvPr/>
          </p:nvSpPr>
          <p:spPr>
            <a:xfrm>
              <a:off x="8125401" y="2926195"/>
              <a:ext cx="401476" cy="2564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/>
                <a:t>A</a:t>
              </a:r>
              <a:r>
                <a:rPr lang="de-DE" sz="1400" baseline="-25000" dirty="0"/>
                <a:t>0</a:t>
              </a:r>
            </a:p>
          </p:txBody>
        </p:sp>
        <p:grpSp>
          <p:nvGrpSpPr>
            <p:cNvPr id="143" name="Gruppieren 188">
              <a:extLst>
                <a:ext uri="{FF2B5EF4-FFF2-40B4-BE49-F238E27FC236}">
                  <a16:creationId xmlns:a16="http://schemas.microsoft.com/office/drawing/2014/main" id="{12125B91-361F-4E3F-A4B1-86610B4AF8F2}"/>
                </a:ext>
              </a:extLst>
            </p:cNvPr>
            <p:cNvGrpSpPr/>
            <p:nvPr/>
          </p:nvGrpSpPr>
          <p:grpSpPr>
            <a:xfrm>
              <a:off x="5788678" y="2444970"/>
              <a:ext cx="214598" cy="429199"/>
              <a:chOff x="5621848" y="2444970"/>
              <a:chExt cx="214598" cy="429199"/>
            </a:xfrm>
          </p:grpSpPr>
          <p:cxnSp>
            <p:nvCxnSpPr>
              <p:cNvPr id="149" name="Gerader Verbinder 175">
                <a:extLst>
                  <a:ext uri="{FF2B5EF4-FFF2-40B4-BE49-F238E27FC236}">
                    <a16:creationId xmlns:a16="http://schemas.microsoft.com/office/drawing/2014/main" id="{78DA6929-9157-4E5C-AD32-B99A44BDDA62}"/>
                  </a:ext>
                </a:extLst>
              </p:cNvPr>
              <p:cNvCxnSpPr/>
              <p:nvPr/>
            </p:nvCxnSpPr>
            <p:spPr>
              <a:xfrm flipV="1">
                <a:off x="5695950" y="2702719"/>
                <a:ext cx="0" cy="1714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0" name="Gruppieren 179">
                <a:extLst>
                  <a:ext uri="{FF2B5EF4-FFF2-40B4-BE49-F238E27FC236}">
                    <a16:creationId xmlns:a16="http://schemas.microsoft.com/office/drawing/2014/main" id="{AC879F67-C882-46CA-A451-A24B566E6C4A}"/>
                  </a:ext>
                </a:extLst>
              </p:cNvPr>
              <p:cNvGrpSpPr/>
              <p:nvPr/>
            </p:nvGrpSpPr>
            <p:grpSpPr>
              <a:xfrm>
                <a:off x="5621848" y="2444970"/>
                <a:ext cx="214598" cy="429199"/>
                <a:chOff x="5621848" y="2444970"/>
                <a:chExt cx="214598" cy="429199"/>
              </a:xfrm>
            </p:grpSpPr>
            <p:cxnSp>
              <p:nvCxnSpPr>
                <p:cNvPr id="151" name="Gerader Verbinder 176">
                  <a:extLst>
                    <a:ext uri="{FF2B5EF4-FFF2-40B4-BE49-F238E27FC236}">
                      <a16:creationId xmlns:a16="http://schemas.microsoft.com/office/drawing/2014/main" id="{AA117190-C728-4E67-BAFD-12643E93346A}"/>
                    </a:ext>
                  </a:extLst>
                </p:cNvPr>
                <p:cNvCxnSpPr/>
                <p:nvPr/>
              </p:nvCxnSpPr>
              <p:spPr>
                <a:xfrm flipV="1">
                  <a:off x="5812632" y="2702719"/>
                  <a:ext cx="0" cy="17145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Gerader Verbinder 177">
                  <a:extLst>
                    <a:ext uri="{FF2B5EF4-FFF2-40B4-BE49-F238E27FC236}">
                      <a16:creationId xmlns:a16="http://schemas.microsoft.com/office/drawing/2014/main" id="{096D7B30-3E2D-4819-9B99-86DE06B1EFC8}"/>
                    </a:ext>
                  </a:extLst>
                </p:cNvPr>
                <p:cNvCxnSpPr/>
                <p:nvPr/>
              </p:nvCxnSpPr>
              <p:spPr>
                <a:xfrm rot="5400000" flipV="1">
                  <a:off x="5750721" y="2648770"/>
                  <a:ext cx="0" cy="17145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3" name="Textfeld 178">
                      <a:extLst>
                        <a:ext uri="{FF2B5EF4-FFF2-40B4-BE49-F238E27FC236}">
                          <a16:creationId xmlns:a16="http://schemas.microsoft.com/office/drawing/2014/main" id="{642AD63D-E71C-4AF1-A150-D15E0A7CA8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21848" y="2444970"/>
                      <a:ext cx="148203" cy="3348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de-DE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e-DE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b>
                            </m:sSub>
                          </m:oMath>
                        </m:oMathPara>
                      </a14:m>
                      <a:endParaRPr lang="de-DE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9" name="Textfeld 17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21848" y="2444970"/>
                      <a:ext cx="148203" cy="334835"/>
                    </a:xfrm>
                    <a:prstGeom prst="rect">
                      <a:avLst/>
                    </a:prstGeom>
                    <a:blipFill rotWithShape="0">
                      <a:blip r:embed="rId24"/>
                      <a:stretch>
                        <a:fillRect r="-124000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44" name="Gruppieren 191">
              <a:extLst>
                <a:ext uri="{FF2B5EF4-FFF2-40B4-BE49-F238E27FC236}">
                  <a16:creationId xmlns:a16="http://schemas.microsoft.com/office/drawing/2014/main" id="{BBCF0FE6-C1A6-44AD-A1BA-6EFD86B09F9B}"/>
                </a:ext>
              </a:extLst>
            </p:cNvPr>
            <p:cNvGrpSpPr/>
            <p:nvPr/>
          </p:nvGrpSpPr>
          <p:grpSpPr>
            <a:xfrm>
              <a:off x="7025860" y="3340605"/>
              <a:ext cx="510770" cy="425093"/>
              <a:chOff x="6859030" y="3340605"/>
              <a:chExt cx="510770" cy="425093"/>
            </a:xfrm>
          </p:grpSpPr>
          <p:cxnSp>
            <p:nvCxnSpPr>
              <p:cNvPr id="145" name="Gerader Verbinder 181">
                <a:extLst>
                  <a:ext uri="{FF2B5EF4-FFF2-40B4-BE49-F238E27FC236}">
                    <a16:creationId xmlns:a16="http://schemas.microsoft.com/office/drawing/2014/main" id="{51BE9454-7C93-49B5-A252-D4915D370D70}"/>
                  </a:ext>
                </a:extLst>
              </p:cNvPr>
              <p:cNvCxnSpPr/>
              <p:nvPr/>
            </p:nvCxnSpPr>
            <p:spPr>
              <a:xfrm flipV="1">
                <a:off x="7345986" y="3592085"/>
                <a:ext cx="0" cy="1714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82">
                <a:extLst>
                  <a:ext uri="{FF2B5EF4-FFF2-40B4-BE49-F238E27FC236}">
                    <a16:creationId xmlns:a16="http://schemas.microsoft.com/office/drawing/2014/main" id="{5180AD6F-98ED-4F67-9519-DDF13361AED0}"/>
                  </a:ext>
                </a:extLst>
              </p:cNvPr>
              <p:cNvCxnSpPr/>
              <p:nvPr/>
            </p:nvCxnSpPr>
            <p:spPr>
              <a:xfrm>
                <a:off x="6859030" y="3622638"/>
                <a:ext cx="510770" cy="122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Textfeld 183">
                    <a:extLst>
                      <a:ext uri="{FF2B5EF4-FFF2-40B4-BE49-F238E27FC236}">
                        <a16:creationId xmlns:a16="http://schemas.microsoft.com/office/drawing/2014/main" id="{2E7DA854-CBB9-4800-9A2A-6CD8E052279F}"/>
                      </a:ext>
                    </a:extLst>
                  </p:cNvPr>
                  <p:cNvSpPr txBox="1"/>
                  <p:nvPr/>
                </p:nvSpPr>
                <p:spPr>
                  <a:xfrm>
                    <a:off x="6945813" y="3340605"/>
                    <a:ext cx="148203" cy="3348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de-DE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de-DE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de-DE" sz="1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4" name="Textfeld 18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45813" y="3340605"/>
                    <a:ext cx="148203" cy="334835"/>
                  </a:xfrm>
                  <a:prstGeom prst="rect">
                    <a:avLst/>
                  </a:prstGeom>
                  <a:blipFill rotWithShape="0">
                    <a:blip r:embed="rId25"/>
                    <a:stretch>
                      <a:fillRect r="-112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8" name="Gerader Verbinder 184">
                <a:extLst>
                  <a:ext uri="{FF2B5EF4-FFF2-40B4-BE49-F238E27FC236}">
                    <a16:creationId xmlns:a16="http://schemas.microsoft.com/office/drawing/2014/main" id="{851CC9A8-328B-4415-B405-B5234E1B2E09}"/>
                  </a:ext>
                </a:extLst>
              </p:cNvPr>
              <p:cNvCxnSpPr/>
              <p:nvPr/>
            </p:nvCxnSpPr>
            <p:spPr>
              <a:xfrm flipV="1">
                <a:off x="6894656" y="3594248"/>
                <a:ext cx="0" cy="1714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93BCF97-A994-4013-A5CD-9D4C66840A70}"/>
              </a:ext>
            </a:extLst>
          </p:cNvPr>
          <p:cNvSpPr/>
          <p:nvPr/>
        </p:nvSpPr>
        <p:spPr>
          <a:xfrm>
            <a:off x="3598016" y="629924"/>
            <a:ext cx="1947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FontTx/>
              <a:buNone/>
            </a:pPr>
            <a:r>
              <a:rPr lang="ru-RU" sz="2000" b="1" kern="0" dirty="0"/>
              <a:t>Волны Лэмба</a:t>
            </a:r>
            <a:endParaRPr lang="en-US" sz="2000" b="1" kern="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159CE4-C520-34A7-2020-FE3D9E88858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49115" y="1224734"/>
            <a:ext cx="1440000" cy="180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9D7D2D-DAAC-2DA8-30B6-81A1C4C4B741}"/>
              </a:ext>
            </a:extLst>
          </p:cNvPr>
          <p:cNvSpPr txBox="1"/>
          <p:nvPr/>
        </p:nvSpPr>
        <p:spPr>
          <a:xfrm>
            <a:off x="7322921" y="2986851"/>
            <a:ext cx="14923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solidFill>
                  <a:srgbClr val="202122"/>
                </a:solidFill>
                <a:latin typeface="Arial" panose="020B0604020202020204" pitchFamily="34" charset="0"/>
              </a:rPr>
              <a:t>Гораций Лэмб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sz="140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(Horace Lamb)</a:t>
            </a:r>
          </a:p>
          <a:p>
            <a:pPr algn="ctr"/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18</a:t>
            </a:r>
            <a:r>
              <a:rPr lang="ru-RU" sz="1400" dirty="0">
                <a:solidFill>
                  <a:srgbClr val="202122"/>
                </a:solidFill>
                <a:latin typeface="Arial" panose="020B0604020202020204" pitchFamily="34" charset="0"/>
              </a:rPr>
              <a:t>4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9-1934</a:t>
            </a:r>
            <a:endParaRPr lang="ru-RU" sz="1400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E742D65E-9861-63F0-AE8D-B6E05F3BF482}"/>
              </a:ext>
            </a:extLst>
          </p:cNvPr>
          <p:cNvGrpSpPr/>
          <p:nvPr/>
        </p:nvGrpSpPr>
        <p:grpSpPr>
          <a:xfrm>
            <a:off x="251520" y="4690455"/>
            <a:ext cx="8568953" cy="1618865"/>
            <a:chOff x="107503" y="4690455"/>
            <a:chExt cx="8568953" cy="1618865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458A2445-F3EF-DC22-69D3-6D4BB89541EC}"/>
                </a:ext>
              </a:extLst>
            </p:cNvPr>
            <p:cNvGrpSpPr/>
            <p:nvPr/>
          </p:nvGrpSpPr>
          <p:grpSpPr>
            <a:xfrm>
              <a:off x="107503" y="4837805"/>
              <a:ext cx="8568953" cy="1471515"/>
              <a:chOff x="107503" y="4837805"/>
              <a:chExt cx="8568953" cy="1471515"/>
            </a:xfrm>
          </p:grpSpPr>
          <p:pic>
            <p:nvPicPr>
              <p:cNvPr id="11" name="Lamb_Symmetric">
                <a:hlinkClick r:id="" action="ppaction://media"/>
                <a:extLst>
                  <a:ext uri="{FF2B5EF4-FFF2-40B4-BE49-F238E27FC236}">
                    <a16:creationId xmlns:a16="http://schemas.microsoft.com/office/drawing/2014/main" id="{BB800738-F794-A8E3-5906-CCC70DDA8846}"/>
                  </a:ext>
                </a:extLst>
              </p:cNvPr>
              <p:cNvPicPr>
                <a:picLocks noChangeAspect="1"/>
              </p:cNvPicPr>
              <p:nvPr>
                <a:videoFile r:link="rId4"/>
                <p:extLst>
                  <p:ext uri="{DAA4B4D4-6D71-4841-9C94-3DE7FCFB9230}">
                    <p14:media xmlns:p14="http://schemas.microsoft.com/office/powerpoint/2010/main" r:link="rId3"/>
                  </p:ext>
                </p:extLst>
              </p:nvPr>
            </p:nvPicPr>
            <p:blipFill>
              <a:blip r:embed="rId27"/>
              <a:stretch>
                <a:fillRect/>
              </a:stretch>
            </p:blipFill>
            <p:spPr>
              <a:xfrm>
                <a:off x="107503" y="4837805"/>
                <a:ext cx="4217147" cy="1471515"/>
              </a:xfrm>
              <a:prstGeom prst="rect">
                <a:avLst/>
              </a:prstGeom>
            </p:spPr>
          </p:pic>
          <p:pic>
            <p:nvPicPr>
              <p:cNvPr id="13" name="Lamb_Asymmetric">
                <a:hlinkClick r:id="" action="ppaction://media"/>
                <a:extLst>
                  <a:ext uri="{FF2B5EF4-FFF2-40B4-BE49-F238E27FC236}">
                    <a16:creationId xmlns:a16="http://schemas.microsoft.com/office/drawing/2014/main" id="{5F97BF0C-E942-DB01-3585-F7E22D3D71C4}"/>
                  </a:ext>
                </a:extLst>
              </p:cNvPr>
              <p:cNvPicPr>
                <a:picLocks noChangeAspect="1"/>
              </p:cNvPicPr>
              <p:nvPr>
                <a:videoFile r:link="rId6"/>
                <p:extLst>
                  <p:ext uri="{DAA4B4D4-6D71-4841-9C94-3DE7FCFB9230}">
                    <p14:media xmlns:p14="http://schemas.microsoft.com/office/powerpoint/2010/main" r:link="rId5"/>
                  </p:ext>
                </p:extLst>
              </p:nvPr>
            </p:nvPicPr>
            <p:blipFill>
              <a:blip r:embed="rId28"/>
              <a:stretch>
                <a:fillRect/>
              </a:stretch>
            </p:blipFill>
            <p:spPr>
              <a:xfrm>
                <a:off x="4612682" y="4860121"/>
                <a:ext cx="4063774" cy="1411180"/>
              </a:xfrm>
              <a:prstGeom prst="rect">
                <a:avLst/>
              </a:prstGeom>
            </p:spPr>
          </p:pic>
        </p:grpSp>
        <p:graphicFrame>
          <p:nvGraphicFramePr>
            <p:cNvPr id="15" name="Объект 14">
              <a:extLst>
                <a:ext uri="{FF2B5EF4-FFF2-40B4-BE49-F238E27FC236}">
                  <a16:creationId xmlns:a16="http://schemas.microsoft.com/office/drawing/2014/main" id="{8D514833-762F-0EE4-8706-73F3458918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24865" y="4690455"/>
            <a:ext cx="2359503" cy="222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752480" imgH="164880" progId="Equation.DSMT4">
                    <p:embed/>
                  </p:oleObj>
                </mc:Choice>
                <mc:Fallback>
                  <p:oleObj name="Equation" r:id="rId29" imgW="1752480" imgH="164880" progId="Equation.DSMT4">
                    <p:embed/>
                    <p:pic>
                      <p:nvPicPr>
                        <p:cNvPr id="15" name="Объект 14">
                          <a:extLst>
                            <a:ext uri="{FF2B5EF4-FFF2-40B4-BE49-F238E27FC236}">
                              <a16:creationId xmlns:a16="http://schemas.microsoft.com/office/drawing/2014/main" id="{8D514833-762F-0EE4-8706-73F3458918E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5524865" y="4690455"/>
                          <a:ext cx="2359503" cy="22227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Объект 15">
              <a:extLst>
                <a:ext uri="{FF2B5EF4-FFF2-40B4-BE49-F238E27FC236}">
                  <a16:creationId xmlns:a16="http://schemas.microsoft.com/office/drawing/2014/main" id="{28008F70-42BD-6035-A9BC-A641508036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26702" y="4691188"/>
            <a:ext cx="1949154" cy="222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1447560" imgH="164880" progId="Equation.DSMT4">
                    <p:embed/>
                  </p:oleObj>
                </mc:Choice>
                <mc:Fallback>
                  <p:oleObj name="Equation" r:id="rId31" imgW="1447560" imgH="164880" progId="Equation.DSMT4">
                    <p:embed/>
                    <p:pic>
                      <p:nvPicPr>
                        <p:cNvPr id="16" name="Объект 15">
                          <a:extLst>
                            <a:ext uri="{FF2B5EF4-FFF2-40B4-BE49-F238E27FC236}">
                              <a16:creationId xmlns:a16="http://schemas.microsoft.com/office/drawing/2014/main" id="{28008F70-42BD-6035-A9BC-A641508036C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326702" y="4691188"/>
                          <a:ext cx="1949154" cy="22227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9699D40C-2B7A-C9C6-9216-1F0BE16F44F3}"/>
              </a:ext>
            </a:extLst>
          </p:cNvPr>
          <p:cNvGrpSpPr/>
          <p:nvPr/>
        </p:nvGrpSpPr>
        <p:grpSpPr>
          <a:xfrm>
            <a:off x="683568" y="2980043"/>
            <a:ext cx="7834425" cy="2825221"/>
            <a:chOff x="683568" y="2980043"/>
            <a:chExt cx="7834425" cy="2825221"/>
          </a:xfrm>
        </p:grpSpPr>
        <p:pic>
          <p:nvPicPr>
            <p:cNvPr id="18" name="videoplayback2">
              <a:hlinkClick r:id="" action="ppaction://media"/>
              <a:extLst>
                <a:ext uri="{FF2B5EF4-FFF2-40B4-BE49-F238E27FC236}">
                  <a16:creationId xmlns:a16="http://schemas.microsoft.com/office/drawing/2014/main" id="{77D3EDEC-B4AA-DD62-139E-B8AE5FA826AF}"/>
                </a:ext>
              </a:extLst>
            </p:cNvPr>
            <p:cNvPicPr>
              <a:picLocks noChangeAspect="1"/>
            </p:cNvPicPr>
            <p:nvPr>
              <a:videoFile r:link="rId1"/>
              <p:extLst>
                <p:ext uri="{DAA4B4D4-6D71-4841-9C94-3DE7FCFB9230}">
                  <p14:media xmlns:p14="http://schemas.microsoft.com/office/powerpoint/2010/main" r:embed="rId2">
                    <p14:trim end="18245"/>
                  </p14:media>
                </p:ext>
              </p:extLst>
            </p:nvPr>
          </p:nvPicPr>
          <p:blipFill>
            <a:blip r:embed="rId33"/>
            <a:stretch>
              <a:fillRect/>
            </a:stretch>
          </p:blipFill>
          <p:spPr>
            <a:xfrm>
              <a:off x="2421993" y="3023964"/>
              <a:ext cx="6096000" cy="2781300"/>
            </a:xfrm>
            <a:prstGeom prst="rect">
              <a:avLst/>
            </a:prstGeom>
          </p:spPr>
        </p:pic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6BE6A5E0-9735-EBCA-6047-E22732819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683568" y="2980043"/>
              <a:ext cx="1416567" cy="28252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598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1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23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20713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ru-RU" sz="2600" b="1" dirty="0">
                <a:solidFill>
                  <a:srgbClr val="000099"/>
                </a:solidFill>
              </a:rPr>
              <a:t>Бегущие упругие волны или </a:t>
            </a:r>
            <a:r>
              <a:rPr lang="en-US" sz="2600" b="1" dirty="0">
                <a:solidFill>
                  <a:srgbClr val="000099"/>
                </a:solidFill>
              </a:rPr>
              <a:t>elastic guided waves</a:t>
            </a:r>
            <a:endParaRPr lang="ru-RU" sz="2600" b="1" dirty="0">
              <a:solidFill>
                <a:srgbClr val="000099"/>
              </a:solidFill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A0BF5D64-6775-0288-8F16-93A7874B381B}"/>
              </a:ext>
            </a:extLst>
          </p:cNvPr>
          <p:cNvGrpSpPr/>
          <p:nvPr/>
        </p:nvGrpSpPr>
        <p:grpSpPr>
          <a:xfrm>
            <a:off x="0" y="3676962"/>
            <a:ext cx="9144000" cy="2632358"/>
            <a:chOff x="0" y="3676962"/>
            <a:chExt cx="9144000" cy="2632358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2FE2D3D0-C7CC-1BC9-C28D-1319F5C5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7678" y="4077072"/>
              <a:ext cx="2782194" cy="2088232"/>
            </a:xfrm>
            <a:prstGeom prst="rect">
              <a:avLst/>
            </a:prstGeom>
          </p:spPr>
        </p:pic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F28B323B-5A61-E008-1D33-8204EF1510A1}"/>
                </a:ext>
              </a:extLst>
            </p:cNvPr>
            <p:cNvSpPr/>
            <p:nvPr/>
          </p:nvSpPr>
          <p:spPr>
            <a:xfrm>
              <a:off x="0" y="3676962"/>
              <a:ext cx="91440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ctr">
                <a:buFontTx/>
                <a:buNone/>
              </a:pPr>
              <a:r>
                <a:rPr lang="ru-RU" sz="2000" b="1" kern="0" dirty="0"/>
                <a:t>Нормальные моды в волноводах сложного сечения</a:t>
              </a:r>
              <a:endParaRPr lang="en-US" sz="2000" b="1" kern="0" dirty="0"/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48E455E4-51C7-C2A0-0562-AB8667F95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543" y="4103679"/>
              <a:ext cx="4705929" cy="2205641"/>
            </a:xfrm>
            <a:prstGeom prst="rect">
              <a:avLst/>
            </a:prstGeom>
          </p:spPr>
        </p:pic>
      </p:grp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0DA656-121A-45BE-F7AB-418C4AC458BD}"/>
              </a:ext>
            </a:extLst>
          </p:cNvPr>
          <p:cNvSpPr/>
          <p:nvPr/>
        </p:nvSpPr>
        <p:spPr>
          <a:xfrm>
            <a:off x="0" y="629924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FontTx/>
              <a:buNone/>
            </a:pPr>
            <a:r>
              <a:rPr lang="ru-RU" sz="2000" b="1" kern="0" dirty="0"/>
              <a:t>Волны </a:t>
            </a:r>
            <a:r>
              <a:rPr lang="ru-RU" sz="2000" b="1" kern="0" dirty="0" err="1"/>
              <a:t>лэмбовского</a:t>
            </a:r>
            <a:r>
              <a:rPr lang="ru-RU" sz="2000" b="1" kern="0" dirty="0"/>
              <a:t> типа</a:t>
            </a:r>
            <a:endParaRPr lang="en-US" sz="2000" b="1" kern="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18DD1E4-42B1-CD05-B572-0DBB5FEB6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805" y="1366720"/>
            <a:ext cx="2817111" cy="1584176"/>
          </a:xfrm>
          <a:prstGeom prst="rect">
            <a:avLst/>
          </a:prstGeom>
        </p:spPr>
      </p:pic>
      <p:pic>
        <p:nvPicPr>
          <p:cNvPr id="26628" name="Picture 4">
            <a:extLst>
              <a:ext uri="{FF2B5EF4-FFF2-40B4-BE49-F238E27FC236}">
                <a16:creationId xmlns:a16="http://schemas.microsoft.com/office/drawing/2014/main" id="{018E04BA-A37F-1FEB-95D3-57F978F06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69194"/>
            <a:ext cx="2420735" cy="2053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E7EC85E-5E77-0C65-52F0-5839532049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5908" y="1090565"/>
            <a:ext cx="2895600" cy="2362200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D6D96AE-150E-4C21-1A7C-A3E54717818B}"/>
              </a:ext>
            </a:extLst>
          </p:cNvPr>
          <p:cNvSpPr/>
          <p:nvPr/>
        </p:nvSpPr>
        <p:spPr>
          <a:xfrm>
            <a:off x="0" y="980728"/>
            <a:ext cx="32038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FontTx/>
              <a:buNone/>
            </a:pPr>
            <a:r>
              <a:rPr lang="ru-RU" sz="1400" kern="0" dirty="0"/>
              <a:t>слоистые композитные материалы</a:t>
            </a:r>
            <a:endParaRPr lang="en-US" sz="1400" kern="0" dirty="0"/>
          </a:p>
        </p:txBody>
      </p:sp>
    </p:spTree>
    <p:extLst>
      <p:ext uri="{BB962C8B-B14F-4D97-AF65-F5344CB8AC3E}">
        <p14:creationId xmlns:p14="http://schemas.microsoft.com/office/powerpoint/2010/main" val="181925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1544"/>
          </a:xfrm>
          <a:noFill/>
          <a:ln/>
        </p:spPr>
        <p:txBody>
          <a:bodyPr/>
          <a:lstStyle/>
          <a:p>
            <a:r>
              <a:rPr lang="ru-RU" sz="2600" b="1" dirty="0">
                <a:solidFill>
                  <a:srgbClr val="000099"/>
                </a:solidFill>
              </a:rPr>
              <a:t>Примеры реализации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6E08A22E-609E-4BC3-9B6D-2ED8BA1CB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029" y="1057860"/>
            <a:ext cx="2328063" cy="288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Concept of built-in electronics and sensors for large area sensing">
            <a:extLst>
              <a:ext uri="{FF2B5EF4-FFF2-40B4-BE49-F238E27FC236}">
                <a16:creationId xmlns:a16="http://schemas.microsoft.com/office/drawing/2014/main" id="{ABADE172-6B50-42F0-902E-5E5CF6995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19" y="808793"/>
            <a:ext cx="4470657" cy="2887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671D1AA-0260-4370-B24A-FC9B5823C235}"/>
              </a:ext>
            </a:extLst>
          </p:cNvPr>
          <p:cNvSpPr/>
          <p:nvPr/>
        </p:nvSpPr>
        <p:spPr>
          <a:xfrm>
            <a:off x="6012160" y="719306"/>
            <a:ext cx="28083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99"/>
                </a:solidFill>
              </a:rPr>
              <a:t>Smart Layer (</a:t>
            </a:r>
            <a:r>
              <a:rPr lang="en-US" sz="1600" dirty="0" err="1">
                <a:solidFill>
                  <a:srgbClr val="000099"/>
                </a:solidFill>
              </a:rPr>
              <a:t>Acellent</a:t>
            </a:r>
            <a:r>
              <a:rPr lang="en-US" sz="1600" dirty="0">
                <a:solidFill>
                  <a:srgbClr val="000099"/>
                </a:solidFill>
              </a:rPr>
              <a:t>, USA)</a:t>
            </a:r>
            <a:endParaRPr lang="ru-RU" sz="1600" dirty="0">
              <a:solidFill>
                <a:srgbClr val="000099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7B1B57-70E2-4F3A-A122-83AA33E2D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19" y="4149080"/>
            <a:ext cx="4352532" cy="1515882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CDB7FC3-E1F8-418B-B80B-853449EA5B9F}"/>
              </a:ext>
            </a:extLst>
          </p:cNvPr>
          <p:cNvSpPr/>
          <p:nvPr/>
        </p:nvSpPr>
        <p:spPr>
          <a:xfrm>
            <a:off x="523421" y="5634727"/>
            <a:ext cx="41177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</a:rPr>
              <a:t>Stretchable sensor network (Nanjing University of Aeronautics and Astronautics, Nanjing, China)</a:t>
            </a:r>
            <a:endParaRPr lang="ru-RU" sz="1400" dirty="0">
              <a:solidFill>
                <a:srgbClr val="000099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ADB2B3-3D59-43EA-BEDF-BCFA8B018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3636" y="4145255"/>
            <a:ext cx="3478846" cy="1515882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4F04AB1-478D-49D8-9AC3-C5113D938A10}"/>
              </a:ext>
            </a:extLst>
          </p:cNvPr>
          <p:cNvSpPr/>
          <p:nvPr/>
        </p:nvSpPr>
        <p:spPr>
          <a:xfrm>
            <a:off x="5499542" y="5664962"/>
            <a:ext cx="36070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</a:rPr>
              <a:t>Printable nanocomposite sensors</a:t>
            </a:r>
          </a:p>
          <a:p>
            <a:r>
              <a:rPr lang="en-US" sz="1400" dirty="0">
                <a:solidFill>
                  <a:srgbClr val="000099"/>
                </a:solidFill>
              </a:rPr>
              <a:t>(Hong Kong Polytechnic University, China)</a:t>
            </a:r>
            <a:endParaRPr lang="ru-RU" sz="14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724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1544"/>
          </a:xfrm>
          <a:noFill/>
          <a:ln/>
        </p:spPr>
        <p:txBody>
          <a:bodyPr/>
          <a:lstStyle/>
          <a:p>
            <a:r>
              <a:rPr lang="ru-RU" sz="2600" b="1" dirty="0">
                <a:solidFill>
                  <a:srgbClr val="000099"/>
                </a:solidFill>
              </a:rPr>
              <a:t>Базовые «манипуляции» с сигналами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2FE544F-6EC6-EBDA-F8A7-115030299201}"/>
              </a:ext>
            </a:extLst>
          </p:cNvPr>
          <p:cNvSpPr/>
          <p:nvPr/>
        </p:nvSpPr>
        <p:spPr>
          <a:xfrm>
            <a:off x="2011735" y="2354362"/>
            <a:ext cx="512053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solidFill>
                  <a:srgbClr val="000099"/>
                </a:solidFill>
              </a:rPr>
              <a:t>Типичные лабораторные образцы из углепластика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B49ADC-F6B6-3212-2C9D-A25724927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709034"/>
            <a:ext cx="3290657" cy="164532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3F1B4F2-9574-25EC-4FA5-31D8DE120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561" y="729502"/>
            <a:ext cx="4573887" cy="1645329"/>
          </a:xfrm>
          <a:prstGeom prst="rect">
            <a:avLst/>
          </a:prstGeom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B5DB7B42-8B58-10BE-4257-5BA63F2E0CC4}"/>
              </a:ext>
            </a:extLst>
          </p:cNvPr>
          <p:cNvGrpSpPr/>
          <p:nvPr/>
        </p:nvGrpSpPr>
        <p:grpSpPr>
          <a:xfrm>
            <a:off x="78743" y="2664396"/>
            <a:ext cx="3780226" cy="3638458"/>
            <a:chOff x="78743" y="2664396"/>
            <a:chExt cx="3780226" cy="3638458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3FE1001A-17D1-6597-DEFA-B732B4F8D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743" y="2664396"/>
              <a:ext cx="3780226" cy="3409336"/>
            </a:xfrm>
            <a:prstGeom prst="rect">
              <a:avLst/>
            </a:prstGeom>
          </p:spPr>
        </p:pic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89451410-4AA0-32A7-8D55-63B31DF21C5A}"/>
                </a:ext>
              </a:extLst>
            </p:cNvPr>
            <p:cNvSpPr/>
            <p:nvPr/>
          </p:nvSpPr>
          <p:spPr>
            <a:xfrm>
              <a:off x="323528" y="5995077"/>
              <a:ext cx="3312368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400" dirty="0">
                  <a:solidFill>
                    <a:srgbClr val="000099"/>
                  </a:solidFill>
                </a:rPr>
                <a:t>Измеренные </a:t>
              </a:r>
              <a:r>
                <a:rPr lang="ru-RU" sz="1400" dirty="0" err="1">
                  <a:solidFill>
                    <a:srgbClr val="000099"/>
                  </a:solidFill>
                </a:rPr>
                <a:t>пьезосенсором</a:t>
              </a:r>
              <a:r>
                <a:rPr lang="ru-RU" sz="1400" dirty="0">
                  <a:solidFill>
                    <a:srgbClr val="000099"/>
                  </a:solidFill>
                </a:rPr>
                <a:t> сигналы</a:t>
              </a:r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6408BCB-F584-36A9-8460-32D963708D98}"/>
              </a:ext>
            </a:extLst>
          </p:cNvPr>
          <p:cNvGrpSpPr/>
          <p:nvPr/>
        </p:nvGrpSpPr>
        <p:grpSpPr>
          <a:xfrm>
            <a:off x="3995936" y="2844920"/>
            <a:ext cx="5013530" cy="3457837"/>
            <a:chOff x="3995936" y="2844920"/>
            <a:chExt cx="5013530" cy="3457837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A970FBFB-9F81-AADA-D90B-631665A6E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95936" y="2844920"/>
              <a:ext cx="5013530" cy="3121168"/>
            </a:xfrm>
            <a:prstGeom prst="rect">
              <a:avLst/>
            </a:prstGeom>
          </p:spPr>
        </p:pic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2C8C6474-7DBC-6268-926A-AC8C2E92BBA9}"/>
                </a:ext>
              </a:extLst>
            </p:cNvPr>
            <p:cNvSpPr/>
            <p:nvPr/>
          </p:nvSpPr>
          <p:spPr>
            <a:xfrm>
              <a:off x="4030561" y="5994980"/>
              <a:ext cx="4978905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400" dirty="0">
                  <a:solidFill>
                    <a:srgbClr val="000099"/>
                  </a:solidFill>
                </a:rPr>
                <a:t>Примеры индексов поврежденности (</a:t>
              </a:r>
              <a:r>
                <a:rPr lang="en-US" sz="1400" dirty="0">
                  <a:solidFill>
                    <a:srgbClr val="000099"/>
                  </a:solidFill>
                </a:rPr>
                <a:t>damage indexes</a:t>
              </a:r>
              <a:r>
                <a:rPr lang="ru-RU" sz="1400" dirty="0">
                  <a:solidFill>
                    <a:srgbClr val="000099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599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1544"/>
          </a:xfrm>
          <a:noFill/>
          <a:ln/>
        </p:spPr>
        <p:txBody>
          <a:bodyPr/>
          <a:lstStyle/>
          <a:p>
            <a:r>
              <a:rPr lang="ru-RU" sz="2600" b="1" dirty="0">
                <a:solidFill>
                  <a:srgbClr val="000099"/>
                </a:solidFill>
              </a:rPr>
              <a:t>Пример использования Фурье-анализа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BDA6CDE-2B15-3EB7-F0EB-78513D11338B}"/>
              </a:ext>
            </a:extLst>
          </p:cNvPr>
          <p:cNvSpPr/>
          <p:nvPr/>
        </p:nvSpPr>
        <p:spPr>
          <a:xfrm>
            <a:off x="2605521" y="1977368"/>
            <a:ext cx="393295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solidFill>
                  <a:srgbClr val="000099"/>
                </a:solidFill>
              </a:rPr>
              <a:t>Обнаружение дефектов типа расслоений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0F4B024-0411-72DA-37F7-F9DF6FFF4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691760"/>
            <a:ext cx="4026897" cy="122509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29902FA-5439-98DE-5A2B-5A03F3FB6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659558"/>
            <a:ext cx="3432486" cy="1358361"/>
          </a:xfrm>
          <a:prstGeom prst="rect">
            <a:avLst/>
          </a:prstGeom>
        </p:spPr>
      </p:pic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1756810F-8B06-7EF1-E5F6-FE1E5D864786}"/>
              </a:ext>
            </a:extLst>
          </p:cNvPr>
          <p:cNvGrpSpPr/>
          <p:nvPr/>
        </p:nvGrpSpPr>
        <p:grpSpPr>
          <a:xfrm>
            <a:off x="35496" y="2513459"/>
            <a:ext cx="4462462" cy="3667373"/>
            <a:chOff x="35496" y="2513459"/>
            <a:chExt cx="4462462" cy="3667373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81C55316-1B1E-4A6E-6DB5-7CDCC0C15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496" y="3404295"/>
              <a:ext cx="4462462" cy="2776537"/>
            </a:xfrm>
            <a:prstGeom prst="rect">
              <a:avLst/>
            </a:prstGeom>
          </p:spPr>
        </p:pic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6E4EA952-3BD2-17B6-22D9-0BB32A1D8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02556" y="2513459"/>
              <a:ext cx="1876425" cy="771525"/>
            </a:xfrm>
            <a:prstGeom prst="rect">
              <a:avLst/>
            </a:prstGeom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338CE774-2E77-155E-2AC9-7369A818A0C4}"/>
              </a:ext>
            </a:extLst>
          </p:cNvPr>
          <p:cNvGrpSpPr/>
          <p:nvPr/>
        </p:nvGrpSpPr>
        <p:grpSpPr>
          <a:xfrm>
            <a:off x="4644008" y="2537138"/>
            <a:ext cx="4291243" cy="3786275"/>
            <a:chOff x="4644008" y="2537138"/>
            <a:chExt cx="4291243" cy="3786275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80F2BF64-B33A-F64B-35FB-432C7F9F5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11633" y="2537138"/>
              <a:ext cx="2449364" cy="766467"/>
            </a:xfrm>
            <a:prstGeom prst="rect">
              <a:avLst/>
            </a:prstGeom>
          </p:spPr>
        </p:pic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74789A91-2CE5-02C3-FC32-56DBEFE82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4008" y="3356750"/>
              <a:ext cx="4291243" cy="29666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643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1544"/>
          </a:xfrm>
          <a:noFill/>
          <a:ln/>
        </p:spPr>
        <p:txBody>
          <a:bodyPr/>
          <a:lstStyle/>
          <a:p>
            <a:r>
              <a:rPr lang="ru-RU" sz="2600" b="1" dirty="0">
                <a:solidFill>
                  <a:srgbClr val="000099"/>
                </a:solidFill>
              </a:rPr>
              <a:t>Подготовка данных для </a:t>
            </a:r>
            <a:r>
              <a:rPr lang="en-US" sz="2600" b="1" dirty="0">
                <a:solidFill>
                  <a:srgbClr val="000099"/>
                </a:solidFill>
              </a:rPr>
              <a:t>ML</a:t>
            </a:r>
            <a:endParaRPr lang="ru-RU" sz="2600" b="1" dirty="0">
              <a:solidFill>
                <a:srgbClr val="000099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3961065-85BD-DD45-DC1E-2964F6C62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3821147"/>
            <a:ext cx="4261918" cy="228215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6F48CF-CD3D-29F5-6360-A1BC57F8A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199014"/>
            <a:ext cx="4858904" cy="152641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3E3B114-89B6-AABB-EBBA-03138125F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804778"/>
            <a:ext cx="573405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526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0713"/>
          </a:xfrm>
          <a:noFill/>
        </p:spPr>
        <p:txBody>
          <a:bodyPr/>
          <a:lstStyle/>
          <a:p>
            <a:pPr eaLnBrk="1" hangingPunct="1"/>
            <a:r>
              <a:rPr lang="ru-RU" sz="3400" b="1" dirty="0">
                <a:solidFill>
                  <a:srgbClr val="000099"/>
                </a:solidFill>
              </a:rPr>
              <a:t>Краткое содержание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10" y="978504"/>
            <a:ext cx="7858180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ru-RU" sz="2500" b="1" dirty="0">
                <a:solidFill>
                  <a:srgbClr val="0000FF"/>
                </a:solidFill>
              </a:rPr>
              <a:t>Базовые определения</a:t>
            </a:r>
            <a:endParaRPr lang="en-US" sz="2500" b="1" dirty="0">
              <a:solidFill>
                <a:srgbClr val="0000FF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en-US" sz="2500" b="1" dirty="0">
              <a:solidFill>
                <a:srgbClr val="009900"/>
              </a:solidFill>
            </a:endParaRPr>
          </a:p>
          <a:p>
            <a:pPr marL="342900" indent="-342900" algn="just">
              <a:buAutoNum type="arabicPeriod"/>
            </a:pPr>
            <a:r>
              <a:rPr lang="ru-RU" sz="2500" b="1" dirty="0">
                <a:solidFill>
                  <a:srgbClr val="0000FF"/>
                </a:solidFill>
              </a:rPr>
              <a:t>Непрерывный Фурье-анализ</a:t>
            </a:r>
            <a:endParaRPr lang="en-US" sz="2500" b="1" dirty="0">
              <a:solidFill>
                <a:srgbClr val="0000FF"/>
              </a:solidFill>
            </a:endParaRPr>
          </a:p>
          <a:p>
            <a:pPr marL="342900" indent="-342900" algn="just">
              <a:buAutoNum type="arabicPeriod"/>
            </a:pPr>
            <a:endParaRPr lang="en-US" sz="2500" b="1" dirty="0">
              <a:solidFill>
                <a:srgbClr val="009900"/>
              </a:solidFill>
            </a:endParaRPr>
          </a:p>
          <a:p>
            <a:pPr marL="342900" indent="-342900" algn="just">
              <a:buAutoNum type="arabicPeriod"/>
            </a:pPr>
            <a:r>
              <a:rPr lang="ru-RU" sz="2500" b="1" dirty="0">
                <a:solidFill>
                  <a:srgbClr val="0000FF"/>
                </a:solidFill>
              </a:rPr>
              <a:t>Дискретный Фурье-анализ</a:t>
            </a:r>
            <a:endParaRPr lang="en-US" sz="2500" b="1" dirty="0">
              <a:solidFill>
                <a:srgbClr val="0000FF"/>
              </a:solidFill>
            </a:endParaRPr>
          </a:p>
          <a:p>
            <a:pPr marL="342900" indent="-342900" algn="just">
              <a:buAutoNum type="arabicPeriod"/>
            </a:pPr>
            <a:endParaRPr lang="en-US" sz="2500" b="1" dirty="0">
              <a:solidFill>
                <a:srgbClr val="009900"/>
              </a:solidFill>
            </a:endParaRPr>
          </a:p>
          <a:p>
            <a:pPr marL="342900" indent="-342900" algn="just">
              <a:buAutoNum type="arabicPeriod"/>
            </a:pPr>
            <a:r>
              <a:rPr lang="ru-RU" sz="2500" b="1" dirty="0">
                <a:solidFill>
                  <a:srgbClr val="0000FF"/>
                </a:solidFill>
              </a:rPr>
              <a:t>Фильтры</a:t>
            </a:r>
          </a:p>
          <a:p>
            <a:pPr algn="just"/>
            <a:endParaRPr lang="ru-RU" sz="2500" b="1" dirty="0">
              <a:solidFill>
                <a:srgbClr val="0000FF"/>
              </a:solidFill>
            </a:endParaRPr>
          </a:p>
          <a:p>
            <a:pPr algn="just"/>
            <a:r>
              <a:rPr lang="ru-RU" sz="2500" b="1" dirty="0">
                <a:solidFill>
                  <a:srgbClr val="0000FF"/>
                </a:solidFill>
              </a:rPr>
              <a:t>5. Частотно-временной анализ</a:t>
            </a:r>
          </a:p>
          <a:p>
            <a:pPr algn="just"/>
            <a:endParaRPr lang="ru-RU" sz="2500" b="1" dirty="0">
              <a:solidFill>
                <a:srgbClr val="0000FF"/>
              </a:solidFill>
            </a:endParaRPr>
          </a:p>
          <a:p>
            <a:pPr algn="just"/>
            <a:r>
              <a:rPr lang="ru-RU" sz="2500" b="1" dirty="0">
                <a:solidFill>
                  <a:srgbClr val="0000FF"/>
                </a:solidFill>
              </a:rPr>
              <a:t>6. Приложения</a:t>
            </a:r>
            <a:endParaRPr lang="en-US" sz="25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215516" y="1844824"/>
            <a:ext cx="871296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rgbClr val="C00000"/>
                </a:solidFill>
              </a:rPr>
              <a:t>Базовые определения</a:t>
            </a:r>
            <a:endParaRPr lang="en-US" sz="6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25" name="Picture 17" descr="https://upload.wikimedia.org/wikipedia/commons/thumb/7/7a/Cauchy_sequence_illustration2.svg/250px-Cauchy_sequence_illustration2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07172" y="4889744"/>
            <a:ext cx="2654676" cy="1476000"/>
          </a:xfrm>
          <a:prstGeom prst="rect">
            <a:avLst/>
          </a:prstGeom>
          <a:noFill/>
        </p:spPr>
      </p:pic>
      <p:pic>
        <p:nvPicPr>
          <p:cNvPr id="171023" name="Picture 15" descr="https://upload.wikimedia.org/wikipedia/commons/thumb/6/62/Cauchy_sequence_illustration.svg/250px-Cauchy_sequence_illustration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4880245"/>
            <a:ext cx="2651274" cy="1474108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51520" y="775943"/>
            <a:ext cx="47914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ru-RU" sz="2200" b="1" dirty="0">
                <a:solidFill>
                  <a:srgbClr val="0000FF"/>
                </a:solidFill>
              </a:rPr>
              <a:t>Метрическое пространство</a:t>
            </a:r>
            <a:r>
              <a:rPr lang="en-US" sz="2200" b="1" dirty="0">
                <a:solidFill>
                  <a:srgbClr val="0000FF"/>
                </a:solidFill>
              </a:rPr>
              <a:t>:</a:t>
            </a:r>
            <a:endParaRPr lang="ru-RU" sz="2200" b="1" dirty="0">
              <a:solidFill>
                <a:srgbClr val="0000FF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3200" b="1" dirty="0">
                <a:solidFill>
                  <a:srgbClr val="000099"/>
                </a:solidFill>
              </a:rPr>
              <a:t>Базовые определения</a:t>
            </a:r>
            <a:endParaRPr lang="en-US" sz="3200" b="1" dirty="0">
              <a:solidFill>
                <a:srgbClr val="000099"/>
              </a:solidFill>
            </a:endParaRPr>
          </a:p>
        </p:txBody>
      </p:sp>
      <p:sp>
        <p:nvSpPr>
          <p:cNvPr id="171015" name="Object 7"/>
          <p:cNvSpPr txBox="1"/>
          <p:nvPr/>
        </p:nvSpPr>
        <p:spPr bwMode="auto">
          <a:xfrm>
            <a:off x="336550" y="1860550"/>
            <a:ext cx="4473575" cy="301625"/>
          </a:xfrm>
          <a:prstGeom prst="rect">
            <a:avLst/>
          </a:prstGeom>
          <a:noFill/>
        </p:spPr>
        <p:txBody>
          <a:bodyPr>
            <a:normAutofit fontScale="92500" lnSpcReduction="20000"/>
          </a:bodyPr>
          <a:lstStyle/>
          <a:p>
            <a:endParaRPr lang="ru-RU" dirty="0"/>
          </a:p>
        </p:txBody>
      </p:sp>
      <p:graphicFrame>
        <p:nvGraphicFramePr>
          <p:cNvPr id="1710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724630"/>
              </p:ext>
            </p:extLst>
          </p:nvPr>
        </p:nvGraphicFramePr>
        <p:xfrm>
          <a:off x="3214658" y="2049136"/>
          <a:ext cx="2649537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90640" imgH="711000" progId="Equation.DSMT4">
                  <p:embed/>
                </p:oleObj>
              </mc:Choice>
              <mc:Fallback>
                <p:oleObj name="Equation" r:id="rId4" imgW="1790640" imgH="7110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58" y="2049136"/>
                        <a:ext cx="2649537" cy="1057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532582" y="4572468"/>
            <a:ext cx="2594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Последовательность Коши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520" y="3308858"/>
            <a:ext cx="4355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b="1" dirty="0">
                <a:solidFill>
                  <a:srgbClr val="0000FF"/>
                </a:solidFill>
              </a:rPr>
              <a:t>Последовательность Коши</a:t>
            </a:r>
            <a:r>
              <a:rPr lang="en-US" sz="2200" b="1" dirty="0">
                <a:solidFill>
                  <a:srgbClr val="0000FF"/>
                </a:solidFill>
              </a:rPr>
              <a:t>:</a:t>
            </a:r>
            <a:endParaRPr lang="ru-RU" sz="22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4A3E56-9114-4A8C-A84C-B5683FDD9CEA}"/>
                  </a:ext>
                </a:extLst>
              </p:cNvPr>
              <p:cNvSpPr txBox="1"/>
              <p:nvPr/>
            </p:nvSpPr>
            <p:spPr>
              <a:xfrm>
                <a:off x="251520" y="1282130"/>
                <a:ext cx="86409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Метрическое пространство – это упорядоченная пара </a:t>
                </a:r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множество, а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метрика на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есть функция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ru-RU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такая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что для любых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4A3E56-9114-4A8C-A84C-B5683FDD9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282130"/>
                <a:ext cx="8640960" cy="646331"/>
              </a:xfrm>
              <a:prstGeom prst="rect">
                <a:avLst/>
              </a:prstGeom>
              <a:blipFill>
                <a:blip r:embed="rId6"/>
                <a:stretch>
                  <a:fillRect l="-564" t="-4717" r="-564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782FC4-98B9-4B4D-BBE9-62D4B9D9AC9B}"/>
                  </a:ext>
                </a:extLst>
              </p:cNvPr>
              <p:cNvSpPr txBox="1"/>
              <p:nvPr/>
            </p:nvSpPr>
            <p:spPr>
              <a:xfrm>
                <a:off x="251520" y="3825537"/>
                <a:ext cx="86409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Последовательность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из метрического пространства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</m:oMath>
                </a14:m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называется последовательностью Коши, если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 ∃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 ∀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)&lt;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ru-RU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782FC4-98B9-4B4D-BBE9-62D4B9D9A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3825537"/>
                <a:ext cx="8640960" cy="646331"/>
              </a:xfrm>
              <a:prstGeom prst="rect">
                <a:avLst/>
              </a:prstGeom>
              <a:blipFill>
                <a:blip r:embed="rId7"/>
                <a:stretch>
                  <a:fillRect l="-564" t="-5660" r="-564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D37BF149-D892-4232-AD33-CA56021DF166}"/>
              </a:ext>
            </a:extLst>
          </p:cNvPr>
          <p:cNvSpPr txBox="1"/>
          <p:nvPr/>
        </p:nvSpPr>
        <p:spPr>
          <a:xfrm>
            <a:off x="4607172" y="4554460"/>
            <a:ext cx="2654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Не последовательность Коши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6743" y="2245618"/>
            <a:ext cx="37833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ru-RU" sz="2200" b="1" dirty="0" err="1">
                <a:solidFill>
                  <a:srgbClr val="0000FF"/>
                </a:solidFill>
              </a:rPr>
              <a:t>Банахово</a:t>
            </a:r>
            <a:r>
              <a:rPr lang="ru-RU" sz="2200" b="1" dirty="0">
                <a:solidFill>
                  <a:srgbClr val="0000FF"/>
                </a:solidFill>
              </a:rPr>
              <a:t> пространство</a:t>
            </a:r>
            <a:r>
              <a:rPr lang="en-US" sz="2200" b="1" dirty="0">
                <a:solidFill>
                  <a:srgbClr val="0000FF"/>
                </a:solidFill>
              </a:rPr>
              <a:t>:</a:t>
            </a:r>
            <a:endParaRPr lang="ru-RU" sz="22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/>
              <p:cNvSpPr txBox="1"/>
              <p:nvPr/>
            </p:nvSpPr>
            <p:spPr bwMode="auto">
              <a:xfrm>
                <a:off x="156742" y="2748352"/>
                <a:ext cx="8807746" cy="100811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 algn="just"/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</a:t>
                </a:r>
                <a:r>
                  <a:rPr lang="ru-RU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анахово</a:t>
                </a:r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пространство – это нормированное векторное пространство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u-RU" b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для каждой последовательности Коши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Sup>
                      <m:sSubSup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i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существует элемент</a:t>
                </a:r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u-RU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ru-RU" i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такой, что </a:t>
                </a:r>
                <a:br>
                  <a:rPr lang="ru-RU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Объект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742" y="2748352"/>
                <a:ext cx="8807746" cy="1008112"/>
              </a:xfrm>
              <a:prstGeom prst="rect">
                <a:avLst/>
              </a:prstGeom>
              <a:blipFill>
                <a:blip r:embed="rId2"/>
                <a:stretch>
                  <a:fillRect l="-623" t="-3636" r="-5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3200" b="1" dirty="0">
                <a:solidFill>
                  <a:srgbClr val="000099"/>
                </a:solidFill>
              </a:rPr>
              <a:t>Базовые определения</a:t>
            </a:r>
            <a:endParaRPr lang="en-US" sz="3200" b="1" dirty="0">
              <a:solidFill>
                <a:srgbClr val="00009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115" name="Object 3"/>
              <p:cNvSpPr txBox="1"/>
              <p:nvPr/>
            </p:nvSpPr>
            <p:spPr bwMode="auto">
              <a:xfrm>
                <a:off x="156742" y="3899338"/>
                <a:ext cx="8630217" cy="3571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ru-RU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ru-RU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-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норма вектора</a:t>
                </a:r>
                <a:endParaRPr lang="ru-RU" dirty="0"/>
              </a:p>
            </p:txBody>
          </p:sp>
        </mc:Choice>
        <mc:Fallback xmlns="">
          <p:sp>
            <p:nvSpPr>
              <p:cNvPr id="9011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742" y="3899338"/>
                <a:ext cx="8630217" cy="357188"/>
              </a:xfrm>
              <a:prstGeom prst="rect">
                <a:avLst/>
              </a:prstGeom>
              <a:blipFill>
                <a:blip r:embed="rId3"/>
                <a:stretch>
                  <a:fillRect t="-10345" b="-310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79512" y="836712"/>
            <a:ext cx="55446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b="1" dirty="0">
                <a:solidFill>
                  <a:srgbClr val="0000FF"/>
                </a:solidFill>
              </a:rPr>
              <a:t>Полное метрическое пространство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122" name="Object 10"/>
              <p:cNvSpPr txBox="1"/>
              <p:nvPr/>
            </p:nvSpPr>
            <p:spPr bwMode="auto">
              <a:xfrm>
                <a:off x="156742" y="4486327"/>
                <a:ext cx="4559274" cy="1646401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r>
                  <a:rPr 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||=0⇒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br>
                  <a:rPr lang="ru-RU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||≤||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||+||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</m:t>
                    </m:r>
                  </m:oMath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3)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ℂ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&amp;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||=|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|⋅||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9012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742" y="4486327"/>
                <a:ext cx="4559274" cy="1646401"/>
              </a:xfrm>
              <a:prstGeom prst="rect">
                <a:avLst/>
              </a:prstGeom>
              <a:blipFill>
                <a:blip r:embed="rId4"/>
                <a:stretch>
                  <a:fillRect l="-1203" t="-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092C8B-1316-460E-99CA-19452DD1E9A8}"/>
                  </a:ext>
                </a:extLst>
              </p:cNvPr>
              <p:cNvSpPr txBox="1"/>
              <p:nvPr/>
            </p:nvSpPr>
            <p:spPr>
              <a:xfrm>
                <a:off x="251520" y="1372158"/>
                <a:ext cx="871296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Метрическое пространство </a:t>
                </a:r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называется полным, если каждая последовательность точек Коши в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имеет предел, который также находится в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092C8B-1316-460E-99CA-19452DD1E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372158"/>
                <a:ext cx="8712968" cy="646331"/>
              </a:xfrm>
              <a:prstGeom prst="rect">
                <a:avLst/>
              </a:prstGeom>
              <a:blipFill>
                <a:blip r:embed="rId5"/>
                <a:stretch>
                  <a:fillRect l="-559" t="-4717" r="-559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3200" b="1" dirty="0">
                <a:solidFill>
                  <a:srgbClr val="000099"/>
                </a:solidFill>
              </a:rPr>
              <a:t>Базовые определения</a:t>
            </a:r>
            <a:endParaRPr lang="en-US" sz="3200" b="1" dirty="0">
              <a:solidFill>
                <a:srgbClr val="000099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340768"/>
            <a:ext cx="42874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ru-RU" sz="2200" b="1" dirty="0">
                <a:solidFill>
                  <a:srgbClr val="0000FF"/>
                </a:solidFill>
              </a:rPr>
              <a:t>Гильбертово пространство</a:t>
            </a:r>
            <a:r>
              <a:rPr lang="en-US" sz="2200" b="1" dirty="0">
                <a:solidFill>
                  <a:srgbClr val="0000FF"/>
                </a:solidFill>
              </a:rPr>
              <a:t>:</a:t>
            </a:r>
            <a:endParaRPr lang="ru-RU" sz="22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118" name="Object 6"/>
              <p:cNvSpPr txBox="1"/>
              <p:nvPr/>
            </p:nvSpPr>
            <p:spPr bwMode="auto">
              <a:xfrm>
                <a:off x="179512" y="4898169"/>
                <a:ext cx="7849244" cy="4016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Норма :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||:||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=⟨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⟩≥0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9011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4898169"/>
                <a:ext cx="7849244" cy="401638"/>
              </a:xfrm>
              <a:prstGeom prst="rect">
                <a:avLst/>
              </a:prstGeom>
              <a:blipFill>
                <a:blip r:embed="rId2"/>
                <a:stretch>
                  <a:fillRect l="-621" t="-9231" b="-169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119" name="Object 7"/>
              <p:cNvSpPr txBox="1"/>
              <p:nvPr/>
            </p:nvSpPr>
            <p:spPr bwMode="auto">
              <a:xfrm>
                <a:off x="179512" y="4272503"/>
                <a:ext cx="6120680" cy="67580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Метрика : 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)=||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||=</m:t>
                    </m:r>
                    <m:rad>
                      <m:radPr>
                        <m:degHide m:val="on"/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ra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9011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4272503"/>
                <a:ext cx="6120680" cy="675803"/>
              </a:xfrm>
              <a:prstGeom prst="rect">
                <a:avLst/>
              </a:prstGeom>
              <a:blipFill>
                <a:blip r:embed="rId3"/>
                <a:stretch>
                  <a:fillRect l="-7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88E878-2978-4C64-A1E6-844CB2673384}"/>
                  </a:ext>
                </a:extLst>
              </p:cNvPr>
              <p:cNvSpPr txBox="1"/>
              <p:nvPr/>
            </p:nvSpPr>
            <p:spPr>
              <a:xfrm>
                <a:off x="107504" y="1918076"/>
                <a:ext cx="8856984" cy="2354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Гильбертово пространство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это полное метрическое пространство с введенной операцией скалярного произведения </a:t>
                </a:r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⟩</m:t>
                    </m:r>
                    <m:r>
                      <m:rPr>
                        <m:nor/>
                      </m:rPr>
                      <a:rPr lang="ru-RU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любой пары его элементов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b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 что </a:t>
                </a:r>
              </a:p>
              <a:p>
                <a:pPr algn="just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⟩</m:t>
                    </m:r>
                    <m:r>
                      <m:rPr>
                        <m:nor/>
                      </m:rPr>
                      <a:rPr lang="ru-RU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вещественное или комплексное (в общем случае) число;</a:t>
                </a:r>
              </a:p>
              <a:p>
                <a:pPr algn="just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⟩=</m:t>
                    </m:r>
                    <m:bar>
                      <m:barPr>
                        <m:pos m:val="top"/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ba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algn="just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u-RU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ru-RU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&gt;0</m:t>
                    </m:r>
                    <m:r>
                      <a:rPr lang="ru-RU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ru-RU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algn="just"/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</a:t>
                </a:r>
                <a14:m>
                  <m:oMath xmlns:m="http://schemas.openxmlformats.org/officeDocument/2006/math">
                    <m:r>
                      <a:rPr lang="ru-RU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⟩=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̄"/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⟩+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acc>
                      <m:accPr>
                        <m:chr m:val="̄"/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88E878-2978-4C64-A1E6-844CB2673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918076"/>
                <a:ext cx="8856984" cy="2354427"/>
              </a:xfrm>
              <a:prstGeom prst="rect">
                <a:avLst/>
              </a:prstGeom>
              <a:blipFill>
                <a:blip r:embed="rId4"/>
                <a:stretch>
                  <a:fillRect l="-619" t="-1554" r="-5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3200" b="1" dirty="0">
                <a:solidFill>
                  <a:srgbClr val="000099"/>
                </a:solidFill>
              </a:rPr>
              <a:t>Базовые определения</a:t>
            </a:r>
            <a:endParaRPr lang="en-US" sz="3200" b="1" dirty="0">
              <a:solidFill>
                <a:srgbClr val="000099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1588094"/>
            <a:ext cx="3351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ru-RU" sz="2200" b="1" dirty="0">
                <a:solidFill>
                  <a:srgbClr val="0000FF"/>
                </a:solidFill>
              </a:rPr>
              <a:t>Плотное множество: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473" name="Object 9"/>
              <p:cNvSpPr txBox="1"/>
              <p:nvPr/>
            </p:nvSpPr>
            <p:spPr bwMode="auto">
              <a:xfrm>
                <a:off x="2015716" y="3717032"/>
                <a:ext cx="5040560" cy="111199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ru-RU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∪{</m:t>
                      </m:r>
                      <m:func>
                        <m:func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ru-RU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ru-RU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ℕ</m:t>
                      </m:r>
                      <m:r>
                        <a:rPr lang="ru-RU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9047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5716" y="3717032"/>
                <a:ext cx="5040560" cy="1111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7">
                <a:extLst>
                  <a:ext uri="{FF2B5EF4-FFF2-40B4-BE49-F238E27FC236}">
                    <a16:creationId xmlns:a16="http://schemas.microsoft.com/office/drawing/2014/main" id="{8AD65DBB-FDE2-4BC3-9F2F-B1C5FF30D5C6}"/>
                  </a:ext>
                </a:extLst>
              </p:cNvPr>
              <p:cNvSpPr txBox="1"/>
              <p:nvPr/>
            </p:nvSpPr>
            <p:spPr bwMode="auto">
              <a:xfrm>
                <a:off x="179512" y="2263775"/>
                <a:ext cx="8712968" cy="132487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algn="just"/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Рассмотрим множество </a:t>
                </a:r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его подмножество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endParaRPr lang="ru-RU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Замыкание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это объединение самого множества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совокупности всех пределов последовательностей элементов в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</p:txBody>
          </p:sp>
        </mc:Choice>
        <mc:Fallback xmlns="">
          <p:sp>
            <p:nvSpPr>
              <p:cNvPr id="11" name="Object 7">
                <a:extLst>
                  <a:ext uri="{FF2B5EF4-FFF2-40B4-BE49-F238E27FC236}">
                    <a16:creationId xmlns:a16="http://schemas.microsoft.com/office/drawing/2014/main" id="{8AD65DBB-FDE2-4BC3-9F2F-B1C5FF30D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2263775"/>
                <a:ext cx="8712968" cy="1324870"/>
              </a:xfrm>
              <a:prstGeom prst="rect">
                <a:avLst/>
              </a:prstGeom>
              <a:blipFill>
                <a:blip r:embed="rId3"/>
                <a:stretch>
                  <a:fillRect l="-559" t="-2294" r="-5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FA009C-F1B7-42A4-B836-A852BC3C641A}"/>
                  </a:ext>
                </a:extLst>
              </p:cNvPr>
              <p:cNvSpPr txBox="1"/>
              <p:nvPr/>
            </p:nvSpPr>
            <p:spPr>
              <a:xfrm>
                <a:off x="179512" y="4509120"/>
                <a:ext cx="2687852" cy="3710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плотно в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если </a:t>
                </a:r>
                <a14:m>
                  <m:oMath xmlns:m="http://schemas.openxmlformats.org/officeDocument/2006/math">
                    <m:acc>
                      <m:accPr>
                        <m:chr m:val="̄"/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FA009C-F1B7-42A4-B836-A852BC3C6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4509120"/>
                <a:ext cx="2687852" cy="371064"/>
              </a:xfrm>
              <a:prstGeom prst="rect">
                <a:avLst/>
              </a:prstGeom>
              <a:blipFill>
                <a:blip r:embed="rId4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79512" y="833892"/>
                <a:ext cx="7167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/>
                <a:r>
                  <a:rPr lang="ru-RU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Пространство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0000FF"/>
                    </a:solidFill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ru-RU" sz="20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Банахово</a:t>
                </a:r>
                <a:r>
                  <a:rPr lang="ru-RU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но не Гильбертово</a:t>
                </a:r>
                <a:r>
                  <a:rPr lang="en-US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u-RU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833892"/>
                <a:ext cx="7167740" cy="400110"/>
              </a:xfrm>
              <a:prstGeom prst="rect">
                <a:avLst/>
              </a:prstGeom>
              <a:blipFill>
                <a:blip r:embed="rId2"/>
                <a:stretch>
                  <a:fillRect l="-850" t="-9231" b="-27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/>
              <p:cNvSpPr txBox="1"/>
              <p:nvPr/>
            </p:nvSpPr>
            <p:spPr bwMode="auto">
              <a:xfrm>
                <a:off x="179512" y="1395856"/>
                <a:ext cx="8784976" cy="80900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 множество всех измеримых функций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ru-RU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ru-RU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ru-RU" i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таких, что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)|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&lt;∞</m:t>
                        </m:r>
                      </m:e>
                    </m:nary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4" name="Объект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1395856"/>
                <a:ext cx="8784976" cy="809008"/>
              </a:xfrm>
              <a:prstGeom prst="rect">
                <a:avLst/>
              </a:prstGeom>
              <a:blipFill>
                <a:blip r:embed="rId3"/>
                <a:stretch>
                  <a:fillRect l="-555" t="-67669" b="-488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3200" b="1" dirty="0">
                <a:solidFill>
                  <a:srgbClr val="000099"/>
                </a:solidFill>
              </a:rPr>
              <a:t>Базовые определения</a:t>
            </a:r>
            <a:endParaRPr lang="en-US" sz="3200" b="1" dirty="0">
              <a:solidFill>
                <a:srgbClr val="00009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143" name="Object 7"/>
              <p:cNvSpPr txBox="1"/>
              <p:nvPr/>
            </p:nvSpPr>
            <p:spPr bwMode="auto">
              <a:xfrm>
                <a:off x="3583316" y="1839557"/>
                <a:ext cx="1977368" cy="66426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)|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114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3316" y="1839557"/>
                <a:ext cx="1977368" cy="6642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44" name="Object 8"/>
              <p:cNvSpPr txBox="1"/>
              <p:nvPr/>
            </p:nvSpPr>
            <p:spPr bwMode="auto">
              <a:xfrm>
                <a:off x="179512" y="3001765"/>
                <a:ext cx="8856984" cy="141291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 набор всех измеримых функций 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ru-RU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ℂ</m:t>
                    </m:r>
                    <m:r>
                      <m:rPr>
                        <m:nor/>
                      </m:rPr>
                      <a:rPr lang="ru-RU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таких, что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&lt;∞</m:t>
                        </m:r>
                      </m:e>
                    </m:nary>
                  </m:oMath>
                </a14:m>
                <a:r>
                  <a:rPr lang="ru-RU" dirty="0"/>
                  <a:t>.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Скалярное произведение в котором определяется как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ru-RU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bar>
                            <m:barPr>
                              <m:pos m:val="top"/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bar>
                        </m:e>
                      </m:nary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ru-RU" dirty="0"/>
              </a:p>
              <a:p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114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3001765"/>
                <a:ext cx="8856984" cy="1412914"/>
              </a:xfrm>
              <a:prstGeom prst="rect">
                <a:avLst/>
              </a:prstGeom>
              <a:blipFill>
                <a:blip r:embed="rId5"/>
                <a:stretch>
                  <a:fillRect l="-551" t="-383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8"/>
              <p:cNvSpPr txBox="1"/>
              <p:nvPr/>
            </p:nvSpPr>
            <p:spPr bwMode="auto">
              <a:xfrm>
                <a:off x="179512" y="4644501"/>
                <a:ext cx="8784976" cy="151216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Пространство быстро убывающих функций в</a:t>
                </a:r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br>
                  <a:rPr lang="ru-RU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ru-RU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</m:d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|   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&lt;∞  ∀ 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br>
                  <a:rPr lang="ru-RU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ru-RU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sup</m:t>
                          </m:r>
                        </m:e>
                        <m:li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lim>
                      </m:limLow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sSup>
                        <m:s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)|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4644501"/>
                <a:ext cx="8784976" cy="1512167"/>
              </a:xfrm>
              <a:prstGeom prst="rect">
                <a:avLst/>
              </a:prstGeom>
              <a:blipFill>
                <a:blip r:embed="rId6"/>
                <a:stretch>
                  <a:fillRect l="-555" t="-2419" b="-76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16C673-BB1F-47B5-944D-51E0D27D05BD}"/>
                  </a:ext>
                </a:extLst>
              </p:cNvPr>
              <p:cNvSpPr txBox="1"/>
              <p:nvPr/>
            </p:nvSpPr>
            <p:spPr>
              <a:xfrm>
                <a:off x="179512" y="2486183"/>
                <a:ext cx="7167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/>
                <a:r>
                  <a:rPr lang="ru-RU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Пространство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𝐋</m:t>
                        </m:r>
                      </m:e>
                      <m:sub>
                        <m:r>
                          <a:rPr lang="ru-RU" sz="2000" b="1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0000FF"/>
                    </a:solidFill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ru-RU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Гильбертово пространство</a:t>
                </a:r>
                <a:r>
                  <a:rPr lang="en-US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u-RU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16C673-BB1F-47B5-944D-51E0D27D0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2486183"/>
                <a:ext cx="7167740" cy="400110"/>
              </a:xfrm>
              <a:prstGeom prst="rect">
                <a:avLst/>
              </a:prstGeom>
              <a:blipFill>
                <a:blip r:embed="rId7"/>
                <a:stretch>
                  <a:fillRect l="-850" t="-9231" b="-27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D2E8878-8198-4010-A73E-9AD5381E3776}"/>
                  </a:ext>
                </a:extLst>
              </p:cNvPr>
              <p:cNvSpPr txBox="1"/>
              <p:nvPr/>
            </p:nvSpPr>
            <p:spPr>
              <a:xfrm>
                <a:off x="179512" y="4214624"/>
                <a:ext cx="7167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/>
                <a:r>
                  <a:rPr lang="ru-RU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Пространство Шварца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en-US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Гильбертово пространство</a:t>
                </a:r>
                <a:r>
                  <a:rPr lang="en-US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u-RU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D2E8878-8198-4010-A73E-9AD5381E3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4214624"/>
                <a:ext cx="7167740" cy="400110"/>
              </a:xfrm>
              <a:prstGeom prst="rect">
                <a:avLst/>
              </a:prstGeom>
              <a:blipFill>
                <a:blip r:embed="rId8"/>
                <a:stretch>
                  <a:fillRect l="-850" t="-7576" b="-257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1464449" y="2714620"/>
            <a:ext cx="632226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10000"/>
              </a:spcBef>
            </a:pPr>
            <a:r>
              <a:rPr lang="ru-RU" sz="6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Фурье-анализ</a:t>
            </a:r>
            <a:endParaRPr lang="en-US" sz="6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7E3A03-718C-44F6-8109-14EF3934C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415"/>
          </a:xfrm>
        </p:spPr>
        <p:txBody>
          <a:bodyPr/>
          <a:lstStyle/>
          <a:p>
            <a:r>
              <a:rPr lang="ru-RU" sz="3200" b="1" dirty="0">
                <a:solidFill>
                  <a:srgbClr val="002060"/>
                </a:solidFill>
              </a:rPr>
              <a:t>Фурье-анализ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8B19006-3A01-416D-9239-69F199B6CE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27784" y="1022731"/>
                <a:ext cx="4032448" cy="1152128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ru-RU" sz="1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Сигнал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вектор в бесконечномерном линейном нормированном пространстве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ru-RU" sz="1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8B19006-3A01-416D-9239-69F199B6CE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27784" y="1022731"/>
                <a:ext cx="4032448" cy="1152128"/>
              </a:xfrm>
              <a:blipFill>
                <a:blip r:embed="rId2"/>
                <a:stretch>
                  <a:fillRect t="-3175" r="-6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F85638ED-A6FB-41AE-B8DC-131256C6FBA3}"/>
              </a:ext>
            </a:extLst>
          </p:cNvPr>
          <p:cNvGrpSpPr/>
          <p:nvPr/>
        </p:nvGrpSpPr>
        <p:grpSpPr>
          <a:xfrm>
            <a:off x="-180528" y="2204864"/>
            <a:ext cx="9097691" cy="2520280"/>
            <a:chOff x="-432048" y="2436277"/>
            <a:chExt cx="9097691" cy="25202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Объект 2">
                  <a:extLst>
                    <a:ext uri="{FF2B5EF4-FFF2-40B4-BE49-F238E27FC236}">
                      <a16:creationId xmlns:a16="http://schemas.microsoft.com/office/drawing/2014/main" id="{1EECA233-31FE-4A7A-BC98-FDCFCAAB30A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-432048" y="2436277"/>
                  <a:ext cx="4392488" cy="25202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5pPr>
                  <a:lvl6pPr marL="25146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6pPr>
                  <a:lvl7pPr marL="29718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7pPr>
                  <a:lvl8pPr marL="34290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8pPr>
                  <a:lvl9pPr marL="38862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9pPr>
                </a:lstStyle>
                <a:p>
                  <a:pPr marL="0" indent="0" algn="ctr">
                    <a:buFontTx/>
                    <a:buNone/>
                  </a:pPr>
                  <a:r>
                    <a:rPr lang="ru-RU" sz="1800" kern="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Норма сигнала</a:t>
                  </a:r>
                  <a:r>
                    <a:rPr lang="ru-RU" sz="1800" kern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</a:t>
                  </a:r>
                </a:p>
                <a:p>
                  <a:pPr marL="0" indent="0" algn="ctr"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‖"/>
                            <m:endChr m:val="‖"/>
                            <m:ctrlPr>
                              <a:rPr lang="ru-RU" sz="1800" i="1" kern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e>
                        </m:rad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limLoc m:val="undOvr"/>
                                <m:ctrlP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b>
                                  <m:sSubPr>
                                    <m:ctrlP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24"/>
                                      </m:rP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m:rPr>
                                        <m:brk m:alnAt="24"/>
                                      </m:rP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  <m:sup>
                                <m:sSub>
                                  <m:sSubPr>
                                    <m:ctrlP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</m:nary>
                          </m:e>
                        </m:rad>
                      </m:oMath>
                    </m:oMathPara>
                  </a14:m>
                  <a:endParaRPr lang="en-US" sz="1800" kern="0" dirty="0"/>
                </a:p>
                <a:p>
                  <a:pPr marL="0" indent="0" algn="ctr"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‖"/>
                            <m:endChr m:val="‖"/>
                            <m:ctrlPr>
                              <a:rPr lang="ru-RU" sz="1800" i="1" kern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ru-RU" sz="1800" b="0" i="1" kern="0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limLoc m:val="undOvr"/>
                            <m:ctrlPr>
                              <a:rPr lang="en-US" sz="1800" i="1" kern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24"/>
                                  </m:r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m:rPr>
                                    <m:brk m:alnAt="24"/>
                                  </m:r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800" i="1" kern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oMath>
                    </m:oMathPara>
                  </a14:m>
                  <a:endParaRPr lang="en-US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0" indent="0" algn="ctr">
                    <a:buFontTx/>
                    <a:buNone/>
                  </a:pPr>
                  <a:endParaRPr lang="ru-RU" sz="1800" kern="0" dirty="0"/>
                </a:p>
              </p:txBody>
            </p:sp>
          </mc:Choice>
          <mc:Fallback xmlns="">
            <p:sp>
              <p:nvSpPr>
                <p:cNvPr id="4" name="Объект 2">
                  <a:extLst>
                    <a:ext uri="{FF2B5EF4-FFF2-40B4-BE49-F238E27FC236}">
                      <a16:creationId xmlns:a16="http://schemas.microsoft.com/office/drawing/2014/main" id="{1EECA233-31FE-4A7A-BC98-FDCFCAAB30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-432048" y="2436277"/>
                  <a:ext cx="4392488" cy="2520280"/>
                </a:xfrm>
                <a:prstGeom prst="rect">
                  <a:avLst/>
                </a:prstGeom>
                <a:blipFill>
                  <a:blip r:embed="rId3"/>
                  <a:stretch>
                    <a:fillRect t="-145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Прямая со стрелкой 5">
              <a:extLst>
                <a:ext uri="{FF2B5EF4-FFF2-40B4-BE49-F238E27FC236}">
                  <a16:creationId xmlns:a16="http://schemas.microsoft.com/office/drawing/2014/main" id="{C62F9DD4-290D-4F14-B491-14049C00E823}"/>
                </a:ext>
              </a:extLst>
            </p:cNvPr>
            <p:cNvCxnSpPr>
              <a:cxnSpLocks/>
            </p:cNvCxnSpPr>
            <p:nvPr/>
          </p:nvCxnSpPr>
          <p:spPr>
            <a:xfrm>
              <a:off x="3419872" y="3284984"/>
              <a:ext cx="685090" cy="0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 стрелкой 7">
              <a:extLst>
                <a:ext uri="{FF2B5EF4-FFF2-40B4-BE49-F238E27FC236}">
                  <a16:creationId xmlns:a16="http://schemas.microsoft.com/office/drawing/2014/main" id="{2D6E3E4C-2ACA-4A73-9F7C-FEB460022916}"/>
                </a:ext>
              </a:extLst>
            </p:cNvPr>
            <p:cNvCxnSpPr>
              <a:cxnSpLocks/>
            </p:cNvCxnSpPr>
            <p:nvPr/>
          </p:nvCxnSpPr>
          <p:spPr>
            <a:xfrm>
              <a:off x="2843808" y="4221088"/>
              <a:ext cx="1116632" cy="0"/>
            </a:xfrm>
            <a:prstGeom prst="straightConnector1">
              <a:avLst/>
            </a:prstGeom>
            <a:ln w="19050">
              <a:solidFill>
                <a:srgbClr val="0000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A183FE2-DDD6-4232-9155-E6D8F3BF8A5D}"/>
                    </a:ext>
                  </a:extLst>
                </p:cNvPr>
                <p:cNvSpPr txBox="1"/>
                <p:nvPr/>
              </p:nvSpPr>
              <p:spPr>
                <a:xfrm>
                  <a:off x="2555776" y="3087978"/>
                  <a:ext cx="457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ru-RU" sz="16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A183FE2-DDD6-4232-9155-E6D8F3BF8A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5776" y="3087978"/>
                  <a:ext cx="4572000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25BC7CD-2892-45FC-8FE1-A7FC93FD6D90}"/>
                    </a:ext>
                  </a:extLst>
                </p:cNvPr>
                <p:cNvSpPr txBox="1"/>
                <p:nvPr/>
              </p:nvSpPr>
              <p:spPr>
                <a:xfrm>
                  <a:off x="2412268" y="4036422"/>
                  <a:ext cx="457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ru-RU" sz="16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25BC7CD-2892-45FC-8FE1-A7FC93FD6D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2268" y="4036422"/>
                  <a:ext cx="457200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Стрелка: вправо 14">
              <a:extLst>
                <a:ext uri="{FF2B5EF4-FFF2-40B4-BE49-F238E27FC236}">
                  <a16:creationId xmlns:a16="http://schemas.microsoft.com/office/drawing/2014/main" id="{DACADE8A-82F1-49E8-BCF0-100E4CCC2295}"/>
                </a:ext>
              </a:extLst>
            </p:cNvPr>
            <p:cNvSpPr/>
            <p:nvPr/>
          </p:nvSpPr>
          <p:spPr>
            <a:xfrm>
              <a:off x="5569809" y="3621613"/>
              <a:ext cx="792088" cy="216024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3DABB2D-E92D-4BC4-8CBE-1FC7D87804FE}"/>
                    </a:ext>
                  </a:extLst>
                </p:cNvPr>
                <p:cNvSpPr txBox="1"/>
                <p:nvPr/>
              </p:nvSpPr>
              <p:spPr>
                <a:xfrm>
                  <a:off x="6506419" y="3065184"/>
                  <a:ext cx="2159224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ru-RU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Метрика </a:t>
                  </a:r>
                </a:p>
                <a:p>
                  <a:pPr algn="ctr"/>
                  <a:endPara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</m:d>
                      </m:oMath>
                    </m:oMathPara>
                  </a14:m>
                  <a:endParaRPr lang="en-US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oMath>
                    </m:oMathPara>
                  </a14:m>
                  <a:endPara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3DABB2D-E92D-4BC4-8CBE-1FC7D87804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6419" y="3065184"/>
                  <a:ext cx="2159224" cy="1200329"/>
                </a:xfrm>
                <a:prstGeom prst="rect">
                  <a:avLst/>
                </a:prstGeom>
                <a:blipFill>
                  <a:blip r:embed="rId6"/>
                  <a:stretch>
                    <a:fillRect t="-3046" b="-355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85C4C4-6817-4580-8300-9003E305D68E}"/>
                  </a:ext>
                </a:extLst>
              </p:cNvPr>
              <p:cNvSpPr txBox="1"/>
              <p:nvPr/>
            </p:nvSpPr>
            <p:spPr>
              <a:xfrm>
                <a:off x="107504" y="4759301"/>
                <a:ext cx="8928992" cy="1295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энергия суммы не аддитивна: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+2 </m:t>
                    </m:r>
                    <m:nary>
                      <m:naryPr>
                        <m:limLoc m:val="undOvr"/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4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24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𝑢𝑣𝑑𝑡</m:t>
                        </m:r>
                      </m:e>
                    </m:nary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ru-RU" sz="1400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содержит взаимную энергию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𝑓𝑔</m:t>
                        </m:r>
                      </m:sub>
                    </m:sSub>
                    <m:r>
                      <a:rPr lang="en-US" sz="1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4"/>
                              </m:rPr>
                              <a:rPr lang="en-US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24"/>
                              </m:rPr>
                              <a:rPr lang="en-US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𝑓𝑔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которое можно использовать в качестве скалярного произведения: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400" i="1" ker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400" i="1" ker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4"/>
                                </m:rPr>
                                <a:rPr lang="en-US" sz="1400" i="1" ker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4"/>
                                </m:rPr>
                                <a:rPr lang="en-US" sz="1400" i="1" ker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1400" i="1" ker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i="1" ker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 lang="en-US" sz="1400" i="1" ker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400" i="1" ker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ker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1400" i="1" ker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kern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sz="1400" i="1" ker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400" i="1" ker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ker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400" i="1" ker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ru-RU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85C4C4-6817-4580-8300-9003E305D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759301"/>
                <a:ext cx="8928992" cy="1295098"/>
              </a:xfrm>
              <a:prstGeom prst="rect">
                <a:avLst/>
              </a:prstGeom>
              <a:blipFill>
                <a:blip r:embed="rId7"/>
                <a:stretch>
                  <a:fillRect l="-205" t="-27358" r="-2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8466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CC24D68-7B96-42AB-8B3F-4C8A16F6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415"/>
          </a:xfrm>
        </p:spPr>
        <p:txBody>
          <a:bodyPr/>
          <a:lstStyle/>
          <a:p>
            <a:r>
              <a:rPr lang="ru-RU" sz="3200" b="1" dirty="0">
                <a:solidFill>
                  <a:srgbClr val="002060"/>
                </a:solidFill>
              </a:rPr>
              <a:t>Фурье-анализ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27B54C29-FD55-490A-A5A1-398868A788B5}"/>
              </a:ext>
            </a:extLst>
          </p:cNvPr>
          <p:cNvGrpSpPr/>
          <p:nvPr/>
        </p:nvGrpSpPr>
        <p:grpSpPr>
          <a:xfrm>
            <a:off x="827584" y="777236"/>
            <a:ext cx="8640961" cy="277000"/>
            <a:chOff x="899591" y="692695"/>
            <a:chExt cx="7945417" cy="277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687D1B2-9B69-499A-B9BA-15C054FF3E8E}"/>
                    </a:ext>
                  </a:extLst>
                </p:cNvPr>
                <p:cNvSpPr txBox="1"/>
                <p:nvPr/>
              </p:nvSpPr>
              <p:spPr>
                <a:xfrm>
                  <a:off x="899591" y="692696"/>
                  <a:ext cx="238361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a14:m>
                  <a:r>
                    <a:rPr lang="en-US" sz="1200" dirty="0"/>
                    <a:t> – </a:t>
                  </a:r>
                  <a:r>
                    <a:rPr lang="ru-RU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Гильбертово пространство</a:t>
                  </a:r>
                  <a:endParaRPr lang="ru-RU" sz="12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687D1B2-9B69-499A-B9BA-15C054FF3E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591" y="692696"/>
                  <a:ext cx="2383617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2174" b="-15217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7FE2755-AED5-4FF7-8E68-D1BE29E8D46F}"/>
                    </a:ext>
                  </a:extLst>
                </p:cNvPr>
                <p:cNvSpPr txBox="1"/>
                <p:nvPr/>
              </p:nvSpPr>
              <p:spPr>
                <a:xfrm>
                  <a:off x="3635896" y="692695"/>
                  <a:ext cx="520911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12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Два сигнала </a:t>
                  </a:r>
                  <a:r>
                    <a:rPr lang="ru-RU" sz="1200" b="0" dirty="0"/>
                    <a:t>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∈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a14:m>
                  <a:r>
                    <a:rPr lang="ru-RU" sz="1200" dirty="0"/>
                    <a:t> </a:t>
                  </a:r>
                  <a:r>
                    <a:rPr lang="ru-RU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называются ортогональными, если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ru-RU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≡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a14:m>
                  <a:endParaRPr lang="ru-RU" sz="12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7FE2755-AED5-4FF7-8E68-D1BE29E8D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5896" y="692695"/>
                  <a:ext cx="520911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08" b="-15217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DF9DBE26-B48D-48E6-A5F3-3CA20045A7CA}"/>
                </a:ext>
              </a:extLst>
            </p:cNvPr>
            <p:cNvCxnSpPr>
              <a:cxnSpLocks/>
            </p:cNvCxnSpPr>
            <p:nvPr/>
          </p:nvCxnSpPr>
          <p:spPr>
            <a:xfrm>
              <a:off x="3347864" y="697959"/>
              <a:ext cx="0" cy="271736"/>
            </a:xfrm>
            <a:prstGeom prst="line">
              <a:avLst/>
            </a:prstGeom>
            <a:ln w="1905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6DE2EF-0433-478E-BB43-232E5A3965DB}"/>
                  </a:ext>
                </a:extLst>
              </p:cNvPr>
              <p:cNvSpPr txBox="1"/>
              <p:nvPr/>
            </p:nvSpPr>
            <p:spPr>
              <a:xfrm>
                <a:off x="323528" y="2060848"/>
                <a:ext cx="8640957" cy="1107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задана б</a:t>
                </a:r>
                <a:r>
                  <a:rPr lang="ru-RU" sz="16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есконечная ортонормированная система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функций</a:t>
                </a:r>
                <a:r>
                  <a:rPr lang="en-US" sz="16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</m:sSubSup>
                    <m:r>
                      <a:rPr lang="en-US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1,  </m:t>
                              </m:r>
                              <m:r>
                                <a:rPr lang="ru-RU" sz="1400" b="0" i="1" smtClean="0">
                                  <a:latin typeface="Cambria Math" panose="02040503050406030204" pitchFamily="18" charset="0"/>
                                </a:rPr>
                                <m:t>если 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если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 ≠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eqArr>
                        </m:e>
                      </m:d>
                      <m:r>
                        <a:rPr lang="ru-RU" sz="14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sz="1600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1600" b="0" i="0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sz="1600" b="0" i="1" dirty="0" smtClean="0">
                          <a:latin typeface="Cambria Math" panose="02040503050406030204" pitchFamily="18" charset="0"/>
                        </a:rPr>
                        <m:t> где      </m:t>
                      </m:r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ru-RU" sz="16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4"/>
                                </m:r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4"/>
                                </m:r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6DE2EF-0433-478E-BB43-232E5A396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060848"/>
                <a:ext cx="8640957" cy="1107932"/>
              </a:xfrm>
              <a:prstGeom prst="rect">
                <a:avLst/>
              </a:prstGeom>
              <a:blipFill>
                <a:blip r:embed="rId4"/>
                <a:stretch>
                  <a:fillRect l="-353" t="-27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03308CF-8E60-49BC-BE92-D5D67A724822}"/>
              </a:ext>
            </a:extLst>
          </p:cNvPr>
          <p:cNvSpPr txBox="1"/>
          <p:nvPr/>
        </p:nvSpPr>
        <p:spPr>
          <a:xfrm>
            <a:off x="3419872" y="3068960"/>
            <a:ext cx="18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Обобщенный ряд Фурье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6FBC15-CD32-4ABD-849C-E3B6EA5E6FDE}"/>
              </a:ext>
            </a:extLst>
          </p:cNvPr>
          <p:cNvSpPr txBox="1"/>
          <p:nvPr/>
        </p:nvSpPr>
        <p:spPr>
          <a:xfrm>
            <a:off x="1212316" y="3759423"/>
            <a:ext cx="3384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нергия 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сигнала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разложенного в обобщённый ряд Фурье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dirty="0"/>
            </a:b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5F3EC9A-691E-4C06-99CC-AADE5BDA44BF}"/>
                  </a:ext>
                </a:extLst>
              </p:cNvPr>
              <p:cNvSpPr txBox="1"/>
              <p:nvPr/>
            </p:nvSpPr>
            <p:spPr>
              <a:xfrm>
                <a:off x="5364088" y="3715227"/>
                <a:ext cx="1108830" cy="7555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5F3EC9A-691E-4C06-99CC-AADE5BDA4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3715227"/>
                <a:ext cx="1108830" cy="7555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8355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5750BED-86B5-4AFA-B7AE-607261536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415"/>
          </a:xfrm>
        </p:spPr>
        <p:txBody>
          <a:bodyPr/>
          <a:lstStyle/>
          <a:p>
            <a:r>
              <a:rPr lang="ru-RU" sz="3200" b="1" dirty="0">
                <a:solidFill>
                  <a:srgbClr val="002060"/>
                </a:solidFill>
              </a:rPr>
              <a:t>Фурье-анализ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29011E-07CD-4301-8365-CB1C54A66507}"/>
                  </a:ext>
                </a:extLst>
              </p:cNvPr>
              <p:cNvSpPr txBox="1"/>
              <p:nvPr/>
            </p:nvSpPr>
            <p:spPr>
              <a:xfrm>
                <a:off x="1461853" y="908720"/>
                <a:ext cx="6206491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=1,2,… 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периодический сигнал </a:t>
                </a:r>
                <a:br>
                  <a:rPr lang="ru-RU" dirty="0"/>
                </a:br>
                <a:r>
                  <a:rPr lang="en-US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29011E-07CD-4301-8365-CB1C54A66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853" y="908720"/>
                <a:ext cx="6206491" cy="553998"/>
              </a:xfrm>
              <a:prstGeom prst="rect">
                <a:avLst/>
              </a:prstGeom>
              <a:blipFill>
                <a:blip r:embed="rId2"/>
                <a:stretch>
                  <a:fillRect l="-2358" t="-14286" r="-1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8C2E62-3372-4035-AF6C-68A8394F8403}"/>
                  </a:ext>
                </a:extLst>
              </p:cNvPr>
              <p:cNvSpPr txBox="1"/>
              <p:nvPr/>
            </p:nvSpPr>
            <p:spPr>
              <a:xfrm>
                <a:off x="1835696" y="1773761"/>
                <a:ext cx="5610638" cy="784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=∞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где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и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8C2E62-3372-4035-AF6C-68A8394F8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1773761"/>
                <a:ext cx="5610638" cy="7845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Стрелка: вниз 7">
            <a:extLst>
              <a:ext uri="{FF2B5EF4-FFF2-40B4-BE49-F238E27FC236}">
                <a16:creationId xmlns:a16="http://schemas.microsoft.com/office/drawing/2014/main" id="{3FDD55BA-4B0F-43CD-8BE0-D286AEBC0E8D}"/>
              </a:ext>
            </a:extLst>
          </p:cNvPr>
          <p:cNvSpPr/>
          <p:nvPr/>
        </p:nvSpPr>
        <p:spPr>
          <a:xfrm>
            <a:off x="4496999" y="1279775"/>
            <a:ext cx="144016" cy="553998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8134E0-2688-4B09-9216-7BB923EF1B22}"/>
              </a:ext>
            </a:extLst>
          </p:cNvPr>
          <p:cNvSpPr txBox="1"/>
          <p:nvPr/>
        </p:nvSpPr>
        <p:spPr>
          <a:xfrm>
            <a:off x="2286000" y="13407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Ряд      Фурье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E51789-D70A-481F-802F-ACEE4F400ABB}"/>
                  </a:ext>
                </a:extLst>
              </p:cNvPr>
              <p:cNvSpPr txBox="1"/>
              <p:nvPr/>
            </p:nvSpPr>
            <p:spPr>
              <a:xfrm>
                <a:off x="261537" y="2780928"/>
                <a:ext cx="6882012" cy="8444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 как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ru-RU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ru-RU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𝑖𝑘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𝑖𝑘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d>
                      <m:dPr>
                        <m:begChr m:val="|"/>
                        <m:endChr m:val="|"/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de-DE" dirty="0"/>
              </a:p>
              <a:p>
                <a:br>
                  <a:rPr lang="de-DE" dirty="0"/>
                </a:br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E51789-D70A-481F-802F-ACEE4F400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37" y="2780928"/>
                <a:ext cx="6882012" cy="844462"/>
              </a:xfrm>
              <a:prstGeom prst="rect">
                <a:avLst/>
              </a:prstGeom>
              <a:blipFill>
                <a:blip r:embed="rId4"/>
                <a:stretch>
                  <a:fillRect l="-2126" t="-79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FBB1F5-8976-4AE3-87AB-F57A33A82885}"/>
                  </a:ext>
                </a:extLst>
              </p:cNvPr>
              <p:cNvSpPr txBox="1"/>
              <p:nvPr/>
            </p:nvSpPr>
            <p:spPr>
              <a:xfrm>
                <a:off x="284531" y="3226478"/>
                <a:ext cx="8712968" cy="29240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Введем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</a:rPr>
                  <a:t>сумму </a:t>
                </a:r>
                <a:endParaRPr lang="en-US" dirty="0">
                  <a:latin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=∞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ru-RU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</m:e>
                      </m:nary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undOv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𝑖𝑘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𝑖𝑘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  <a:p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рассмотрим как интегральную, поэтому в пределе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ℱ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ℱ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FBB1F5-8976-4AE3-87AB-F57A33A82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31" y="3226478"/>
                <a:ext cx="8712968" cy="2924006"/>
              </a:xfrm>
              <a:prstGeom prst="rect">
                <a:avLst/>
              </a:prstGeom>
              <a:blipFill>
                <a:blip r:embed="rId5"/>
                <a:stretch>
                  <a:fillRect l="-1679" t="-8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08C117E9-4E09-4BEC-8713-071DA90612A9}"/>
              </a:ext>
            </a:extLst>
          </p:cNvPr>
          <p:cNvCxnSpPr>
            <a:cxnSpLocks/>
          </p:cNvCxnSpPr>
          <p:nvPr/>
        </p:nvCxnSpPr>
        <p:spPr>
          <a:xfrm flipV="1">
            <a:off x="5724128" y="4850015"/>
            <a:ext cx="956843" cy="402519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0BD8BE2-1A3F-47BB-ABB4-1A3BECE97587}"/>
              </a:ext>
            </a:extLst>
          </p:cNvPr>
          <p:cNvSpPr/>
          <p:nvPr/>
        </p:nvSpPr>
        <p:spPr>
          <a:xfrm>
            <a:off x="5076056" y="5224937"/>
            <a:ext cx="648072" cy="453723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66B949-8A0C-437A-8EEC-42E2D6B842C3}"/>
              </a:ext>
            </a:extLst>
          </p:cNvPr>
          <p:cNvSpPr txBox="1"/>
          <p:nvPr/>
        </p:nvSpPr>
        <p:spPr>
          <a:xfrm>
            <a:off x="6372200" y="4534784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Спектральная плотность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640161-5287-4B3F-BC6F-BBF1291E90F7}"/>
              </a:ext>
            </a:extLst>
          </p:cNvPr>
          <p:cNvSpPr txBox="1"/>
          <p:nvPr/>
        </p:nvSpPr>
        <p:spPr>
          <a:xfrm>
            <a:off x="5400092" y="5785902"/>
            <a:ext cx="27203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Прямое преобразование Фурье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205BCB-F897-4DFA-9108-1A6F845660B9}"/>
              </a:ext>
            </a:extLst>
          </p:cNvPr>
          <p:cNvSpPr txBox="1"/>
          <p:nvPr/>
        </p:nvSpPr>
        <p:spPr>
          <a:xfrm>
            <a:off x="1502275" y="5785903"/>
            <a:ext cx="27203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Обратное преобразование Фурье</a:t>
            </a:r>
          </a:p>
        </p:txBody>
      </p:sp>
    </p:spTree>
    <p:extLst>
      <p:ext uri="{BB962C8B-B14F-4D97-AF65-F5344CB8AC3E}">
        <p14:creationId xmlns:p14="http://schemas.microsoft.com/office/powerpoint/2010/main" val="1726747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62" name="Object 2"/>
          <p:cNvGraphicFramePr>
            <a:graphicFrameLocks noChangeAspect="1"/>
          </p:cNvGraphicFramePr>
          <p:nvPr/>
        </p:nvGraphicFramePr>
        <p:xfrm>
          <a:off x="611188" y="785813"/>
          <a:ext cx="360045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8320" imgH="203040" progId="Equation.DSMT4">
                  <p:embed/>
                </p:oleObj>
              </mc:Choice>
              <mc:Fallback>
                <p:oleObj name="Equation" r:id="rId2" imgW="1498320" imgH="203040" progId="Equation.DSMT4">
                  <p:embed/>
                  <p:pic>
                    <p:nvPicPr>
                      <p:cNvPr id="921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785813"/>
                        <a:ext cx="3600450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Фурье-анализ</a:t>
            </a:r>
          </a:p>
        </p:txBody>
      </p:sp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3707904" y="1488290"/>
          <a:ext cx="512445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33360" imgH="241200" progId="Equation.DSMT4">
                  <p:embed/>
                </p:oleObj>
              </mc:Choice>
              <mc:Fallback>
                <p:oleObj name="Equation" r:id="rId4" imgW="2133360" imgH="241200" progId="Equation.DSMT4">
                  <p:embed/>
                  <p:pic>
                    <p:nvPicPr>
                      <p:cNvPr id="921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1488290"/>
                        <a:ext cx="5124450" cy="579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Прямая со стрелкой 6"/>
          <p:cNvCxnSpPr/>
          <p:nvPr/>
        </p:nvCxnSpPr>
        <p:spPr>
          <a:xfrm>
            <a:off x="4429124" y="1201719"/>
            <a:ext cx="642942" cy="35719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2164" name="Object 4"/>
          <p:cNvGraphicFramePr>
            <a:graphicFrameLocks noChangeAspect="1"/>
          </p:cNvGraphicFramePr>
          <p:nvPr/>
        </p:nvGraphicFramePr>
        <p:xfrm>
          <a:off x="2463999" y="2363010"/>
          <a:ext cx="4679769" cy="725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81000" imgH="431640" progId="Equation.DSMT4">
                  <p:embed/>
                </p:oleObj>
              </mc:Choice>
              <mc:Fallback>
                <p:oleObj name="Equation" r:id="rId6" imgW="2781000" imgH="431640" progId="Equation.DSMT4">
                  <p:embed/>
                  <p:pic>
                    <p:nvPicPr>
                      <p:cNvPr id="921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999" y="2363010"/>
                        <a:ext cx="4679769" cy="7253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6" name="Object 6"/>
          <p:cNvGraphicFramePr>
            <a:graphicFrameLocks noChangeAspect="1"/>
          </p:cNvGraphicFramePr>
          <p:nvPr/>
        </p:nvGraphicFramePr>
        <p:xfrm>
          <a:off x="276225" y="3295650"/>
          <a:ext cx="228441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000" imgH="228600" progId="Equation.DSMT4">
                  <p:embed/>
                </p:oleObj>
              </mc:Choice>
              <mc:Fallback>
                <p:oleObj name="Equation" r:id="rId8" imgW="927000" imgH="228600" progId="Equation.DSMT4">
                  <p:embed/>
                  <p:pic>
                    <p:nvPicPr>
                      <p:cNvPr id="921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" y="3295650"/>
                        <a:ext cx="2284413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7" name="Object 7"/>
          <p:cNvGraphicFramePr>
            <a:graphicFrameLocks noChangeAspect="1"/>
          </p:cNvGraphicFramePr>
          <p:nvPr/>
        </p:nvGraphicFramePr>
        <p:xfrm>
          <a:off x="1362075" y="4071938"/>
          <a:ext cx="237966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65160" imgH="228600" progId="Equation.DSMT4">
                  <p:embed/>
                </p:oleObj>
              </mc:Choice>
              <mc:Fallback>
                <p:oleObj name="Equation" r:id="rId10" imgW="965160" imgH="228600" progId="Equation.DSMT4">
                  <p:embed/>
                  <p:pic>
                    <p:nvPicPr>
                      <p:cNvPr id="921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4071938"/>
                        <a:ext cx="2379663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8" name="Object 8"/>
          <p:cNvGraphicFramePr>
            <a:graphicFrameLocks noChangeAspect="1"/>
          </p:cNvGraphicFramePr>
          <p:nvPr/>
        </p:nvGraphicFramePr>
        <p:xfrm>
          <a:off x="306388" y="4857750"/>
          <a:ext cx="22225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01440" imgH="203040" progId="Equation.DSMT4">
                  <p:embed/>
                </p:oleObj>
              </mc:Choice>
              <mc:Fallback>
                <p:oleObj name="Equation" r:id="rId12" imgW="901440" imgH="203040" progId="Equation.DSMT4">
                  <p:embed/>
                  <p:pic>
                    <p:nvPicPr>
                      <p:cNvPr id="921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8" y="4857750"/>
                        <a:ext cx="2222500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Овал 14"/>
          <p:cNvSpPr>
            <a:spLocks noChangeAspect="1"/>
          </p:cNvSpPr>
          <p:nvPr/>
        </p:nvSpPr>
        <p:spPr>
          <a:xfrm>
            <a:off x="4786313" y="3214681"/>
            <a:ext cx="2135995" cy="215150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>
            <a:spLocks noChangeAspect="1"/>
          </p:cNvSpPr>
          <p:nvPr/>
        </p:nvSpPr>
        <p:spPr>
          <a:xfrm>
            <a:off x="5643570" y="3920699"/>
            <a:ext cx="2135995" cy="215150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/>
          <p:cNvSpPr/>
          <p:nvPr/>
        </p:nvSpPr>
        <p:spPr>
          <a:xfrm>
            <a:off x="5929322" y="4245198"/>
            <a:ext cx="785818" cy="75543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92170" name="Object 10"/>
          <p:cNvGraphicFramePr>
            <a:graphicFrameLocks noChangeAspect="1"/>
          </p:cNvGraphicFramePr>
          <p:nvPr/>
        </p:nvGraphicFramePr>
        <p:xfrm>
          <a:off x="5286380" y="3500438"/>
          <a:ext cx="4064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4880" imgH="228600" progId="Equation.DSMT4">
                  <p:embed/>
                </p:oleObj>
              </mc:Choice>
              <mc:Fallback>
                <p:oleObj name="Equation" r:id="rId14" imgW="164880" imgH="228600" progId="Equation.DSMT4">
                  <p:embed/>
                  <p:pic>
                    <p:nvPicPr>
                      <p:cNvPr id="9217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80" y="3500438"/>
                        <a:ext cx="406400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1" name="Object 11"/>
          <p:cNvGraphicFramePr>
            <a:graphicFrameLocks noChangeAspect="1"/>
          </p:cNvGraphicFramePr>
          <p:nvPr/>
        </p:nvGraphicFramePr>
        <p:xfrm>
          <a:off x="7058025" y="5143500"/>
          <a:ext cx="43656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7480" imgH="228600" progId="Equation.DSMT4">
                  <p:embed/>
                </p:oleObj>
              </mc:Choice>
              <mc:Fallback>
                <p:oleObj name="Equation" r:id="rId16" imgW="177480" imgH="228600" progId="Equation.DSMT4">
                  <p:embed/>
                  <p:pic>
                    <p:nvPicPr>
                      <p:cNvPr id="9217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8025" y="5143500"/>
                        <a:ext cx="436563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2" name="Object 12"/>
          <p:cNvGraphicFramePr>
            <a:graphicFrameLocks noChangeAspect="1"/>
          </p:cNvGraphicFramePr>
          <p:nvPr/>
        </p:nvGraphicFramePr>
        <p:xfrm>
          <a:off x="6175375" y="4429132"/>
          <a:ext cx="3429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9680" imgH="177480" progId="Equation.DSMT4">
                  <p:embed/>
                </p:oleObj>
              </mc:Choice>
              <mc:Fallback>
                <p:oleObj name="Equation" r:id="rId18" imgW="139680" imgH="177480" progId="Equation.DSMT4">
                  <p:embed/>
                  <p:pic>
                    <p:nvPicPr>
                      <p:cNvPr id="9217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5375" y="4429132"/>
                        <a:ext cx="342900" cy="436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3" name="Object 13"/>
          <p:cNvGraphicFramePr>
            <a:graphicFrameLocks noChangeAspect="1"/>
          </p:cNvGraphicFramePr>
          <p:nvPr/>
        </p:nvGraphicFramePr>
        <p:xfrm>
          <a:off x="7475564" y="3357563"/>
          <a:ext cx="739774" cy="512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30120" imgH="228600" progId="Equation.DSMT4">
                  <p:embed/>
                </p:oleObj>
              </mc:Choice>
              <mc:Fallback>
                <p:oleObj name="Equation" r:id="rId20" imgW="330120" imgH="228600" progId="Equation.DSMT4">
                  <p:embed/>
                  <p:pic>
                    <p:nvPicPr>
                      <p:cNvPr id="9217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5564" y="3357563"/>
                        <a:ext cx="739774" cy="5124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Прямая соединительная линия 22"/>
          <p:cNvCxnSpPr/>
          <p:nvPr/>
        </p:nvCxnSpPr>
        <p:spPr>
          <a:xfrm flipV="1">
            <a:off x="6500826" y="3857628"/>
            <a:ext cx="928694" cy="7143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2174" name="Object 14"/>
          <p:cNvGraphicFramePr>
            <a:graphicFrameLocks noChangeAspect="1"/>
          </p:cNvGraphicFramePr>
          <p:nvPr/>
        </p:nvGraphicFramePr>
        <p:xfrm>
          <a:off x="6685862" y="2857496"/>
          <a:ext cx="600782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68280" imgH="393480" progId="Equation.DSMT4">
                  <p:embed/>
                </p:oleObj>
              </mc:Choice>
              <mc:Fallback>
                <p:oleObj name="Equation" r:id="rId22" imgW="368280" imgH="393480" progId="Equation.DSMT4">
                  <p:embed/>
                  <p:pic>
                    <p:nvPicPr>
                      <p:cNvPr id="9217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5862" y="2857496"/>
                        <a:ext cx="600782" cy="642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Прямая соединительная линия 26"/>
          <p:cNvCxnSpPr/>
          <p:nvPr/>
        </p:nvCxnSpPr>
        <p:spPr>
          <a:xfrm rot="5400000" flipH="1" flipV="1">
            <a:off x="6429388" y="3714752"/>
            <a:ext cx="571504" cy="28575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2175" name="Object 15"/>
          <p:cNvGraphicFramePr>
            <a:graphicFrameLocks noChangeAspect="1"/>
          </p:cNvGraphicFramePr>
          <p:nvPr/>
        </p:nvGraphicFramePr>
        <p:xfrm>
          <a:off x="7988329" y="4071938"/>
          <a:ext cx="575127" cy="714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17160" imgH="393480" progId="Equation.DSMT4">
                  <p:embed/>
                </p:oleObj>
              </mc:Choice>
              <mc:Fallback>
                <p:oleObj name="Equation" r:id="rId24" imgW="317160" imgH="393480" progId="Equation.DSMT4">
                  <p:embed/>
                  <p:pic>
                    <p:nvPicPr>
                      <p:cNvPr id="9217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8329" y="4071938"/>
                        <a:ext cx="575127" cy="7143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Прямая соединительная линия 30"/>
          <p:cNvCxnSpPr/>
          <p:nvPr/>
        </p:nvCxnSpPr>
        <p:spPr>
          <a:xfrm flipV="1">
            <a:off x="7143768" y="4500570"/>
            <a:ext cx="785818" cy="5000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2176" name="Object 16"/>
          <p:cNvGraphicFramePr>
            <a:graphicFrameLocks noChangeAspect="1"/>
          </p:cNvGraphicFramePr>
          <p:nvPr/>
        </p:nvGraphicFramePr>
        <p:xfrm>
          <a:off x="3817767" y="5429264"/>
          <a:ext cx="897109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07960" imgH="444240" progId="Equation.DSMT4">
                  <p:embed/>
                </p:oleObj>
              </mc:Choice>
              <mc:Fallback>
                <p:oleObj name="Equation" r:id="rId26" imgW="507960" imgH="444240" progId="Equation.DSMT4">
                  <p:embed/>
                  <p:pic>
                    <p:nvPicPr>
                      <p:cNvPr id="9217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7767" y="5429264"/>
                        <a:ext cx="897109" cy="7858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" name="Прямая соединительная линия 33"/>
          <p:cNvCxnSpPr/>
          <p:nvPr/>
        </p:nvCxnSpPr>
        <p:spPr>
          <a:xfrm rot="5400000">
            <a:off x="3857620" y="4714884"/>
            <a:ext cx="1143008" cy="28575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 rot="16200000" flipV="1">
            <a:off x="4714876" y="3714752"/>
            <a:ext cx="571504" cy="42862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83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99C4399-402A-4E30-8632-7CB8ED243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415"/>
          </a:xfrm>
        </p:spPr>
        <p:txBody>
          <a:bodyPr/>
          <a:lstStyle/>
          <a:p>
            <a:r>
              <a:rPr lang="ru-RU" sz="3200" b="1" dirty="0">
                <a:solidFill>
                  <a:srgbClr val="002060"/>
                </a:solidFill>
              </a:rPr>
              <a:t>Фурье-анализ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CC536C-11C2-4815-919C-12674E1A9C70}"/>
                  </a:ext>
                </a:extLst>
              </p:cNvPr>
              <p:cNvSpPr txBox="1"/>
              <p:nvPr/>
            </p:nvSpPr>
            <p:spPr>
              <a:xfrm>
                <a:off x="251520" y="1988840"/>
                <a:ext cx="8712968" cy="14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существования спектра 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необходимо выполнение условия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Интеграл Фурье может не существовать и для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т. к.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ru-RU" dirty="0" smtClean="0">
                        <a:latin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ctr"/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Преобразование Фурье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произвольной функции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принадлежит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CC536C-11C2-4815-919C-12674E1A9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988840"/>
                <a:ext cx="8712968" cy="1486241"/>
              </a:xfrm>
              <a:prstGeom prst="rect">
                <a:avLst/>
              </a:prstGeom>
              <a:blipFill>
                <a:blip r:embed="rId2"/>
                <a:stretch>
                  <a:fillRect t="-2049" b="-57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13D261-1783-4668-B076-AB1536C9A89D}"/>
                  </a:ext>
                </a:extLst>
              </p:cNvPr>
              <p:cNvSpPr txBox="1"/>
              <p:nvPr/>
            </p:nvSpPr>
            <p:spPr>
              <a:xfrm>
                <a:off x="1835696" y="4149080"/>
                <a:ext cx="576064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0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Отображение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: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определено и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биективно</a:t>
                </a:r>
                <a:endParaRPr lang="ru-RU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13D261-1783-4668-B076-AB1536C9A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4149080"/>
                <a:ext cx="5760640" cy="400110"/>
              </a:xfrm>
              <a:prstGeom prst="rect">
                <a:avLst/>
              </a:prstGeom>
              <a:blipFill>
                <a:blip r:embed="rId3"/>
                <a:stretch>
                  <a:fillRect l="-1058" t="-9231" b="-27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21BE343-3D0C-4AB5-8EA6-B4659ADD2BC0}"/>
              </a:ext>
            </a:extLst>
          </p:cNvPr>
          <p:cNvSpPr/>
          <p:nvPr/>
        </p:nvSpPr>
        <p:spPr>
          <a:xfrm>
            <a:off x="1619672" y="3861048"/>
            <a:ext cx="6120680" cy="1080120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6333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1050D79-9B7A-4DD9-9243-C2A3AD0AD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415"/>
          </a:xfrm>
        </p:spPr>
        <p:txBody>
          <a:bodyPr/>
          <a:lstStyle/>
          <a:p>
            <a:r>
              <a:rPr lang="ru-RU" sz="3200" b="1" dirty="0">
                <a:solidFill>
                  <a:srgbClr val="002060"/>
                </a:solidFill>
              </a:rPr>
              <a:t>Фурье-анализ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D9BD4C-B3FA-4268-924F-660945234AD4}"/>
                  </a:ext>
                </a:extLst>
              </p:cNvPr>
              <p:cNvSpPr txBox="1"/>
              <p:nvPr/>
            </p:nvSpPr>
            <p:spPr>
              <a:xfrm>
                <a:off x="395536" y="1700808"/>
                <a:ext cx="8352928" cy="2941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Например: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рассмотрим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0, 2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𝜋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0,  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0, 2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r>
                        <a:rPr lang="ru-RU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Заменим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𝑖𝑡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𝑖𝑡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</m:t>
                      </m:r>
                      <m:r>
                        <a:rPr lang="ru-RU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𝑖𝑡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𝑖𝑡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𝑖𝑡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e>
                              </m:d>
                            </m:den>
                          </m:f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𝑖𝑡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</m:den>
                          </m:f>
                        </m:e>
                      </m:d>
                      <m:d>
                        <m:dPr>
                          <m:begChr m:val="|"/>
                          <m:endChr m:val="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𝜋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𝜋𝜔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ru-RU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D9BD4C-B3FA-4268-924F-660945234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700808"/>
                <a:ext cx="8352928" cy="2941511"/>
              </a:xfrm>
              <a:prstGeom prst="rect">
                <a:avLst/>
              </a:prstGeom>
              <a:blipFill>
                <a:blip r:embed="rId2"/>
                <a:stretch>
                  <a:fillRect l="-657" t="-10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6397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Фурье-анализ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282" y="783535"/>
            <a:ext cx="22145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ru-RU" sz="2200" b="1" dirty="0">
                <a:solidFill>
                  <a:srgbClr val="0000FF"/>
                </a:solidFill>
              </a:rPr>
              <a:t>Сдвиг</a:t>
            </a:r>
            <a:r>
              <a:rPr lang="en-US" sz="2200" b="1" dirty="0">
                <a:solidFill>
                  <a:srgbClr val="0000FF"/>
                </a:solidFill>
              </a:rPr>
              <a:t>:</a:t>
            </a:r>
            <a:endParaRPr lang="ru-RU" sz="2200" b="1" dirty="0">
              <a:solidFill>
                <a:srgbClr val="0000FF"/>
              </a:solidFill>
            </a:endParaRPr>
          </a:p>
        </p:txBody>
      </p:sp>
      <p:pic>
        <p:nvPicPr>
          <p:cNvPr id="94218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86306" y="747704"/>
            <a:ext cx="451485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4219" name="Object 11"/>
          <p:cNvGraphicFramePr>
            <a:graphicFrameLocks noChangeAspect="1"/>
          </p:cNvGraphicFramePr>
          <p:nvPr/>
        </p:nvGraphicFramePr>
        <p:xfrm>
          <a:off x="596900" y="1285875"/>
          <a:ext cx="3014663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34960" imgH="228600" progId="Equation.DSMT4">
                  <p:embed/>
                </p:oleObj>
              </mc:Choice>
              <mc:Fallback>
                <p:oleObj name="Equation" r:id="rId3" imgW="1434960" imgH="228600" progId="Equation.DSMT4">
                  <p:embed/>
                  <p:pic>
                    <p:nvPicPr>
                      <p:cNvPr id="942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" y="1285875"/>
                        <a:ext cx="3014663" cy="477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20" name="Object 12"/>
          <p:cNvGraphicFramePr>
            <a:graphicFrameLocks noChangeAspect="1"/>
          </p:cNvGraphicFramePr>
          <p:nvPr/>
        </p:nvGraphicFramePr>
        <p:xfrm>
          <a:off x="949325" y="1852613"/>
          <a:ext cx="2347913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17440" imgH="228600" progId="Equation.DSMT4">
                  <p:embed/>
                </p:oleObj>
              </mc:Choice>
              <mc:Fallback>
                <p:oleObj name="Equation" r:id="rId5" imgW="1117440" imgH="228600" progId="Equation.DSMT4">
                  <p:embed/>
                  <p:pic>
                    <p:nvPicPr>
                      <p:cNvPr id="942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1852613"/>
                        <a:ext cx="2347913" cy="477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558507"/>
              </p:ext>
            </p:extLst>
          </p:nvPr>
        </p:nvGraphicFramePr>
        <p:xfrm>
          <a:off x="3436938" y="2311400"/>
          <a:ext cx="29892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22360" imgH="241200" progId="Equation.DSMT4">
                  <p:embed/>
                </p:oleObj>
              </mc:Choice>
              <mc:Fallback>
                <p:oleObj name="Equation" r:id="rId7" imgW="1422360" imgH="241200" progId="Equation.DSMT4">
                  <p:embed/>
                  <p:pic>
                    <p:nvPicPr>
                      <p:cNvPr id="9422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6938" y="2311400"/>
                        <a:ext cx="2989262" cy="50323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51808"/>
              </p:ext>
            </p:extLst>
          </p:nvPr>
        </p:nvGraphicFramePr>
        <p:xfrm>
          <a:off x="3368675" y="3098800"/>
          <a:ext cx="30924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73120" imgH="241200" progId="Equation.DSMT4">
                  <p:embed/>
                </p:oleObj>
              </mc:Choice>
              <mc:Fallback>
                <p:oleObj name="Equation" r:id="rId9" imgW="1473120" imgH="241200" progId="Equation.DSMT4">
                  <p:embed/>
                  <p:pic>
                    <p:nvPicPr>
                      <p:cNvPr id="9422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675" y="3098800"/>
                        <a:ext cx="3092450" cy="50323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7" name="Object 9"/>
          <p:cNvGraphicFramePr>
            <a:graphicFrameLocks noChangeAspect="1"/>
          </p:cNvGraphicFramePr>
          <p:nvPr/>
        </p:nvGraphicFramePr>
        <p:xfrm>
          <a:off x="2143108" y="738173"/>
          <a:ext cx="2532062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54080" imgH="228600" progId="Equation.DSMT4">
                  <p:embed/>
                </p:oleObj>
              </mc:Choice>
              <mc:Fallback>
                <p:oleObj name="Equation" r:id="rId11" imgW="1054080" imgH="228600" progId="Equation.DSMT4">
                  <p:embed/>
                  <p:pic>
                    <p:nvPicPr>
                      <p:cNvPr id="942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08" y="738173"/>
                        <a:ext cx="2532062" cy="54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0034" y="3825225"/>
            <a:ext cx="22145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ru-RU" sz="2200" b="1" dirty="0">
                <a:solidFill>
                  <a:srgbClr val="0000FF"/>
                </a:solidFill>
              </a:rPr>
              <a:t>Сжатие</a:t>
            </a:r>
            <a:r>
              <a:rPr lang="en-US" sz="2200" b="1" dirty="0">
                <a:solidFill>
                  <a:srgbClr val="0000FF"/>
                </a:solidFill>
              </a:rPr>
              <a:t>:</a:t>
            </a:r>
            <a:endParaRPr lang="ru-RU" sz="2200" b="1" dirty="0">
              <a:solidFill>
                <a:srgbClr val="0000FF"/>
              </a:solidFill>
            </a:endParaRPr>
          </a:p>
        </p:txBody>
      </p:sp>
      <p:graphicFrame>
        <p:nvGraphicFramePr>
          <p:cNvPr id="23" name="Object 9"/>
          <p:cNvGraphicFramePr>
            <a:graphicFrameLocks noChangeAspect="1"/>
          </p:cNvGraphicFramePr>
          <p:nvPr/>
        </p:nvGraphicFramePr>
        <p:xfrm>
          <a:off x="2071670" y="3779863"/>
          <a:ext cx="2563813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66680" imgH="228600" progId="Equation.DSMT4">
                  <p:embed/>
                </p:oleObj>
              </mc:Choice>
              <mc:Fallback>
                <p:oleObj name="Equation" r:id="rId13" imgW="1066680" imgH="228600" progId="Equation.DSMT4">
                  <p:embed/>
                  <p:pic>
                    <p:nvPicPr>
                      <p:cNvPr id="2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70" y="3779863"/>
                        <a:ext cx="2563813" cy="54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4226" name="Picture 18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938740" y="3786190"/>
            <a:ext cx="3633788" cy="188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4227" name="Object 19"/>
          <p:cNvGraphicFramePr>
            <a:graphicFrameLocks noChangeAspect="1"/>
          </p:cNvGraphicFramePr>
          <p:nvPr/>
        </p:nvGraphicFramePr>
        <p:xfrm>
          <a:off x="317500" y="4500563"/>
          <a:ext cx="3094038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73120" imgH="228600" progId="Equation.DSMT4">
                  <p:embed/>
                </p:oleObj>
              </mc:Choice>
              <mc:Fallback>
                <p:oleObj name="Equation" r:id="rId16" imgW="1473120" imgH="228600" progId="Equation.DSMT4">
                  <p:embed/>
                  <p:pic>
                    <p:nvPicPr>
                      <p:cNvPr id="9422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" y="4500563"/>
                        <a:ext cx="3094038" cy="477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28" name="Object 20"/>
          <p:cNvGraphicFramePr>
            <a:graphicFrameLocks noChangeAspect="1"/>
          </p:cNvGraphicFramePr>
          <p:nvPr/>
        </p:nvGraphicFramePr>
        <p:xfrm>
          <a:off x="706438" y="5094288"/>
          <a:ext cx="2347912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17440" imgH="203040" progId="Equation.DSMT4">
                  <p:embed/>
                </p:oleObj>
              </mc:Choice>
              <mc:Fallback>
                <p:oleObj name="Equation" r:id="rId18" imgW="1117440" imgH="203040" progId="Equation.DSMT4">
                  <p:embed/>
                  <p:pic>
                    <p:nvPicPr>
                      <p:cNvPr id="9422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438" y="5094288"/>
                        <a:ext cx="2347912" cy="423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842151"/>
              </p:ext>
            </p:extLst>
          </p:nvPr>
        </p:nvGraphicFramePr>
        <p:xfrm>
          <a:off x="3089275" y="5715000"/>
          <a:ext cx="360203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14320" imgH="266400" progId="Equation.DSMT4">
                  <p:embed/>
                </p:oleObj>
              </mc:Choice>
              <mc:Fallback>
                <p:oleObj name="Equation" r:id="rId20" imgW="1714320" imgH="266400" progId="Equation.DSMT4">
                  <p:embed/>
                  <p:pic>
                    <p:nvPicPr>
                      <p:cNvPr id="9422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9275" y="5715000"/>
                        <a:ext cx="3602038" cy="55562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29388" y="2357430"/>
            <a:ext cx="7858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en-US" sz="2200" b="1" dirty="0">
                <a:solidFill>
                  <a:srgbClr val="0000FF"/>
                </a:solidFill>
              </a:rPr>
              <a:t>(R1)</a:t>
            </a:r>
            <a:endParaRPr lang="ru-RU" sz="22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29388" y="3140989"/>
            <a:ext cx="7858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en-US" sz="2200" b="1" dirty="0">
                <a:solidFill>
                  <a:srgbClr val="0000FF"/>
                </a:solidFill>
              </a:rPr>
              <a:t>(R2)</a:t>
            </a:r>
            <a:endParaRPr lang="ru-RU" sz="22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72264" y="5784195"/>
            <a:ext cx="7858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en-US" sz="2200" b="1" dirty="0">
                <a:solidFill>
                  <a:srgbClr val="0000FF"/>
                </a:solidFill>
              </a:rPr>
              <a:t>(R3)</a:t>
            </a:r>
            <a:endParaRPr lang="ru-RU" sz="2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019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Скругленный прямоугольник 16"/>
          <p:cNvSpPr/>
          <p:nvPr/>
        </p:nvSpPr>
        <p:spPr>
          <a:xfrm>
            <a:off x="357158" y="2786058"/>
            <a:ext cx="8501122" cy="2286016"/>
          </a:xfrm>
          <a:prstGeom prst="round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5252" name="Picture 2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0166" y="3500438"/>
            <a:ext cx="3500462" cy="1446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Фурье-анализ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282" y="1001000"/>
            <a:ext cx="22145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ru-RU" sz="2200" b="1" dirty="0">
                <a:solidFill>
                  <a:srgbClr val="0000FF"/>
                </a:solidFill>
              </a:rPr>
              <a:t>Свертка</a:t>
            </a:r>
            <a:r>
              <a:rPr lang="en-US" sz="2200" b="1" dirty="0">
                <a:solidFill>
                  <a:srgbClr val="0000FF"/>
                </a:solidFill>
              </a:rPr>
              <a:t>:</a:t>
            </a:r>
            <a:endParaRPr lang="ru-RU" sz="2200" b="1" dirty="0">
              <a:solidFill>
                <a:srgbClr val="0000FF"/>
              </a:solidFill>
            </a:endParaRPr>
          </a:p>
        </p:txBody>
      </p:sp>
      <p:graphicFrame>
        <p:nvGraphicFramePr>
          <p:cNvPr id="94217" name="Object 9"/>
          <p:cNvGraphicFramePr>
            <a:graphicFrameLocks noChangeAspect="1"/>
          </p:cNvGraphicFramePr>
          <p:nvPr/>
        </p:nvGraphicFramePr>
        <p:xfrm>
          <a:off x="2125691" y="904875"/>
          <a:ext cx="658971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279360" progId="Equation.DSMT4">
                  <p:embed/>
                </p:oleObj>
              </mc:Choice>
              <mc:Fallback>
                <p:oleObj name="Equation" r:id="rId3" imgW="2743200" imgH="279360" progId="Equation.DSMT4">
                  <p:embed/>
                  <p:pic>
                    <p:nvPicPr>
                      <p:cNvPr id="942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691" y="904875"/>
                        <a:ext cx="6589713" cy="669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919562"/>
              </p:ext>
            </p:extLst>
          </p:nvPr>
        </p:nvGraphicFramePr>
        <p:xfrm>
          <a:off x="2784475" y="5522913"/>
          <a:ext cx="3811588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87240" imgH="203040" progId="Equation.DSMT4">
                  <p:embed/>
                </p:oleObj>
              </mc:Choice>
              <mc:Fallback>
                <p:oleObj name="Equation" r:id="rId5" imgW="1587240" imgH="203040" progId="Equation.DSMT4">
                  <p:embed/>
                  <p:pic>
                    <p:nvPicPr>
                      <p:cNvPr id="952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5" y="5522913"/>
                        <a:ext cx="3811588" cy="487362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8" name="Object 16"/>
          <p:cNvGraphicFramePr>
            <a:graphicFrameLocks noChangeAspect="1"/>
          </p:cNvGraphicFramePr>
          <p:nvPr/>
        </p:nvGraphicFramePr>
        <p:xfrm>
          <a:off x="279400" y="1909763"/>
          <a:ext cx="3333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04760" imgH="228600" progId="Equation.DSMT4">
                  <p:embed/>
                </p:oleObj>
              </mc:Choice>
              <mc:Fallback>
                <p:oleObj name="Equation" r:id="rId7" imgW="1904760" imgH="228600" progId="Equation.DSMT4">
                  <p:embed/>
                  <p:pic>
                    <p:nvPicPr>
                      <p:cNvPr id="9524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" y="1909763"/>
                        <a:ext cx="33337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9" name="Object 17"/>
          <p:cNvGraphicFramePr>
            <a:graphicFrameLocks noChangeAspect="1"/>
          </p:cNvGraphicFramePr>
          <p:nvPr/>
        </p:nvGraphicFramePr>
        <p:xfrm>
          <a:off x="3857625" y="1741488"/>
          <a:ext cx="482282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55800" imgH="431640" progId="Equation.DSMT4">
                  <p:embed/>
                </p:oleObj>
              </mc:Choice>
              <mc:Fallback>
                <p:oleObj name="Equation" r:id="rId9" imgW="2755800" imgH="431640" progId="Equation.DSMT4">
                  <p:embed/>
                  <p:pic>
                    <p:nvPicPr>
                      <p:cNvPr id="9524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5" y="1741488"/>
                        <a:ext cx="482282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51" name="Object 19"/>
          <p:cNvGraphicFramePr>
            <a:graphicFrameLocks noChangeAspect="1"/>
          </p:cNvGraphicFramePr>
          <p:nvPr/>
        </p:nvGraphicFramePr>
        <p:xfrm>
          <a:off x="500034" y="3286124"/>
          <a:ext cx="230981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46040" imgH="482400" progId="Equation.DSMT4">
                  <p:embed/>
                </p:oleObj>
              </mc:Choice>
              <mc:Fallback>
                <p:oleObj name="Equation" r:id="rId11" imgW="1346040" imgH="482400" progId="Equation.DSMT4">
                  <p:embed/>
                  <p:pic>
                    <p:nvPicPr>
                      <p:cNvPr id="9525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3286124"/>
                        <a:ext cx="2309812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53" name="Object 21"/>
          <p:cNvGraphicFramePr>
            <a:graphicFrameLocks noChangeAspect="1"/>
          </p:cNvGraphicFramePr>
          <p:nvPr/>
        </p:nvGraphicFramePr>
        <p:xfrm>
          <a:off x="5684838" y="3384550"/>
          <a:ext cx="2792412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87240" imgH="457200" progId="Equation.DSMT4">
                  <p:embed/>
                </p:oleObj>
              </mc:Choice>
              <mc:Fallback>
                <p:oleObj name="Equation" r:id="rId13" imgW="1587240" imgH="457200" progId="Equation.DSMT4">
                  <p:embed/>
                  <p:pic>
                    <p:nvPicPr>
                      <p:cNvPr id="9525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4838" y="3384550"/>
                        <a:ext cx="2792412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54" name="Object 22"/>
          <p:cNvGraphicFramePr>
            <a:graphicFrameLocks noChangeAspect="1"/>
          </p:cNvGraphicFramePr>
          <p:nvPr/>
        </p:nvGraphicFramePr>
        <p:xfrm>
          <a:off x="6286512" y="4217994"/>
          <a:ext cx="16081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14400" imgH="241200" progId="Equation.DSMT4">
                  <p:embed/>
                </p:oleObj>
              </mc:Choice>
              <mc:Fallback>
                <p:oleObj name="Equation" r:id="rId15" imgW="914400" imgH="241200" progId="Equation.DSMT4">
                  <p:embed/>
                  <p:pic>
                    <p:nvPicPr>
                      <p:cNvPr id="9525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12" y="4217994"/>
                        <a:ext cx="160813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Прямоугольник 18"/>
          <p:cNvSpPr/>
          <p:nvPr/>
        </p:nvSpPr>
        <p:spPr>
          <a:xfrm>
            <a:off x="3500430" y="2857496"/>
            <a:ext cx="23098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Регуляризация</a:t>
            </a:r>
          </a:p>
        </p:txBody>
      </p:sp>
    </p:spTree>
    <p:extLst>
      <p:ext uri="{BB962C8B-B14F-4D97-AF65-F5344CB8AC3E}">
        <p14:creationId xmlns:p14="http://schemas.microsoft.com/office/powerpoint/2010/main" val="148140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5D30DA6-DFDF-448F-8B0D-60AA53EC3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415"/>
          </a:xfrm>
        </p:spPr>
        <p:txBody>
          <a:bodyPr/>
          <a:lstStyle/>
          <a:p>
            <a:r>
              <a:rPr lang="ru-RU" sz="3200" b="1" dirty="0">
                <a:solidFill>
                  <a:srgbClr val="002060"/>
                </a:solidFill>
              </a:rPr>
              <a:t>Фурье-анализ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AA188F-2917-4DA4-88AD-2946F5A78084}"/>
              </a:ext>
            </a:extLst>
          </p:cNvPr>
          <p:cNvSpPr txBox="1"/>
          <p:nvPr/>
        </p:nvSpPr>
        <p:spPr>
          <a:xfrm>
            <a:off x="3815916" y="764704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7A276A-B9E8-4033-9901-5F044BDEDF49}"/>
                  </a:ext>
                </a:extLst>
              </p:cNvPr>
              <p:cNvSpPr txBox="1"/>
              <p:nvPr/>
            </p:nvSpPr>
            <p:spPr>
              <a:xfrm>
                <a:off x="395536" y="1387407"/>
                <a:ext cx="8352928" cy="745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1)   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</m:t>
                      </m:r>
                      <m:r>
                        <a:rPr lang="ru-RU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  </m:t>
                      </m:r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→±∞</m:t>
                              </m:r>
                            </m:lim>
                          </m:limLow>
                        </m:fName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7A276A-B9E8-4033-9901-5F044BDED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387407"/>
                <a:ext cx="8352928" cy="7452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158617-AF83-4D7F-92A4-2DC8E10ED854}"/>
                  </a:ext>
                </a:extLst>
              </p:cNvPr>
              <p:cNvSpPr txBox="1"/>
              <p:nvPr/>
            </p:nvSpPr>
            <p:spPr>
              <a:xfrm>
                <a:off x="395536" y="2066340"/>
                <a:ext cx="8640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   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ℱ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∀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почти всюду. </m:t>
                      </m:r>
                    </m:oMath>
                  </m:oMathPara>
                </a14:m>
                <a:br>
                  <a:rPr lang="ru-RU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</a:br>
                <a:br>
                  <a:rPr lang="en-US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Если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−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точка разрыва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ℱ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1/2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+0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158617-AF83-4D7F-92A4-2DC8E10ED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066340"/>
                <a:ext cx="8640960" cy="923330"/>
              </a:xfrm>
              <a:prstGeom prst="rect">
                <a:avLst/>
              </a:prstGeom>
              <a:blipFill>
                <a:blip r:embed="rId3"/>
                <a:stretch>
                  <a:fillRect b="-52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F95DCB5-4FDC-4C7D-B82A-12E770AE63BA}"/>
                  </a:ext>
                </a:extLst>
              </p:cNvPr>
              <p:cNvSpPr txBox="1"/>
              <p:nvPr/>
            </p:nvSpPr>
            <p:spPr>
              <a:xfrm>
                <a:off x="503548" y="3115380"/>
                <a:ext cx="8424936" cy="3178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3)  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F95DCB5-4FDC-4C7D-B82A-12E770AE6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48" y="3115380"/>
                <a:ext cx="8424936" cy="317844"/>
              </a:xfrm>
              <a:prstGeom prst="rect">
                <a:avLst/>
              </a:prstGeom>
              <a:blipFill>
                <a:blip r:embed="rId4"/>
                <a:stretch>
                  <a:fillRect l="-1013" b="-269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271B0A-5E21-433A-BA8C-835DA38A3212}"/>
                  </a:ext>
                </a:extLst>
              </p:cNvPr>
              <p:cNvSpPr txBox="1"/>
              <p:nvPr/>
            </p:nvSpPr>
            <p:spPr>
              <a:xfrm>
                <a:off x="395536" y="3669185"/>
                <a:ext cx="8640960" cy="1166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справедливо равенство Парсеваля-Планшереля</a:t>
                </a:r>
                <a:r>
                  <a:rPr lang="ru-RU" dirty="0"/>
                  <a:t>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271B0A-5E21-433A-BA8C-835DA38A3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669185"/>
                <a:ext cx="8640960" cy="1166794"/>
              </a:xfrm>
              <a:prstGeom prst="rect">
                <a:avLst/>
              </a:prstGeom>
              <a:blipFill>
                <a:blip r:embed="rId5"/>
                <a:stretch>
                  <a:fillRect l="-635" t="-31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80736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D491D35-BA85-40DE-9FDD-BE95E0318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415"/>
          </a:xfrm>
        </p:spPr>
        <p:txBody>
          <a:bodyPr/>
          <a:lstStyle/>
          <a:p>
            <a:r>
              <a:rPr lang="ru-RU" sz="3200" b="1" dirty="0">
                <a:solidFill>
                  <a:srgbClr val="002060"/>
                </a:solidFill>
              </a:rPr>
              <a:t>Фурье-анализ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1E6E77-B350-4F2A-BA31-5763FE2FDCBF}"/>
                  </a:ext>
                </a:extLst>
              </p:cNvPr>
              <p:cNvSpPr txBox="1"/>
              <p:nvPr/>
            </p:nvSpPr>
            <p:spPr>
              <a:xfrm>
                <a:off x="251520" y="1052736"/>
                <a:ext cx="8640960" cy="3339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5) Преобразование Фурье от свертки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limLoc m:val="undOv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𝑑𝑡</m:t>
                              </m:r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𝜔𝜏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  <m:nary>
                            <m:naryPr>
                              <m:limLoc m:val="undOv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br>
                  <a:rPr lang="en-US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</a:br>
                <a:br>
                  <a:rPr lang="en-US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Аналогично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1E6E77-B350-4F2A-BA31-5763FE2FD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2736"/>
                <a:ext cx="8640960" cy="3339953"/>
              </a:xfrm>
              <a:prstGeom prst="rect">
                <a:avLst/>
              </a:prstGeom>
              <a:blipFill>
                <a:blip r:embed="rId2"/>
                <a:stretch>
                  <a:fillRect l="-564" t="-10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11187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B44A961-8681-4AE1-9CD0-69CAA96BE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415"/>
          </a:xfrm>
        </p:spPr>
        <p:txBody>
          <a:bodyPr/>
          <a:lstStyle/>
          <a:p>
            <a:r>
              <a:rPr lang="ru-RU" sz="3200" b="1" dirty="0">
                <a:solidFill>
                  <a:srgbClr val="002060"/>
                </a:solidFill>
              </a:rPr>
              <a:t>Фурье-анализ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D1FBB2-AE4F-46C3-B009-A2321ACBBC46}"/>
              </a:ext>
            </a:extLst>
          </p:cNvPr>
          <p:cNvSpPr txBox="1"/>
          <p:nvPr/>
        </p:nvSpPr>
        <p:spPr>
          <a:xfrm>
            <a:off x="3725906" y="764704"/>
            <a:ext cx="1692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058661-F666-44F5-BFAD-AC9FCE6FF584}"/>
                  </a:ext>
                </a:extLst>
              </p:cNvPr>
              <p:cNvSpPr txBox="1"/>
              <p:nvPr/>
            </p:nvSpPr>
            <p:spPr>
              <a:xfrm>
                <a:off x="400013" y="3623003"/>
                <a:ext cx="8424936" cy="1087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1,0</m:t>
                        </m:r>
                      </m:sub>
                    </m:sSub>
                    <m:d>
                      <m:d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skw"/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ru-RU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              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)→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endParaRPr lang="ru-RU" dirty="0">
                  <a:solidFill>
                    <a:schemeClr val="accent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ru-RU" dirty="0">
                  <a:solidFill>
                    <a:schemeClr val="accent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058661-F666-44F5-BFAD-AC9FCE6FF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13" y="3623003"/>
                <a:ext cx="8424936" cy="1087670"/>
              </a:xfrm>
              <a:prstGeom prst="rect">
                <a:avLst/>
              </a:prstGeom>
              <a:blipFill>
                <a:blip r:embed="rId2"/>
                <a:stretch>
                  <a:fillRect l="-651" t="-35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872235-D10A-452D-A1DC-8C4F266F2EA6}"/>
                  </a:ext>
                </a:extLst>
              </p:cNvPr>
              <p:cNvSpPr txBox="1"/>
              <p:nvPr/>
            </p:nvSpPr>
            <p:spPr>
              <a:xfrm>
                <a:off x="475928" y="1378769"/>
                <a:ext cx="8352928" cy="2697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ru-RU" b="1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  </a:t>
                </a:r>
                <a:r>
                  <a:rPr lang="ru-RU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</a:t>
                </a:r>
                <a:r>
                  <a:rPr lang="ru-RU" b="1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sz="20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sz="200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br>
                  <a:rPr lang="en-US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Преобразование Фурье должно удовлетворять</a:t>
                </a:r>
                <a:br>
                  <a:rPr lang="en-US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  <m:nary>
                        <m:naryPr>
                          <m:limLoc m:val="undOvr"/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:r>
                  <a:rPr lang="ru-RU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Следовательно, спектральная плотность </a:t>
                </a:r>
                <a:br>
                  <a:rPr lang="en-US" b="0" i="1" dirty="0">
                    <a:solidFill>
                      <a:schemeClr val="accent4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𝜋𝛿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>
                  <a:solidFill>
                    <a:schemeClr val="accent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872235-D10A-452D-A1DC-8C4F266F2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28" y="1378769"/>
                <a:ext cx="8352928" cy="2697020"/>
              </a:xfrm>
              <a:prstGeom prst="rect">
                <a:avLst/>
              </a:prstGeom>
              <a:blipFill>
                <a:blip r:embed="rId3"/>
                <a:stretch>
                  <a:fillRect l="-5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6EDF4D8-10B3-4BF4-BD73-EA4B432DD3C5}"/>
              </a:ext>
            </a:extLst>
          </p:cNvPr>
          <p:cNvGrpSpPr/>
          <p:nvPr/>
        </p:nvGrpSpPr>
        <p:grpSpPr>
          <a:xfrm>
            <a:off x="179512" y="4228189"/>
            <a:ext cx="3743276" cy="1455125"/>
            <a:chOff x="500034" y="3825881"/>
            <a:chExt cx="4429156" cy="1920882"/>
          </a:xfrm>
        </p:grpSpPr>
        <p:cxnSp>
          <p:nvCxnSpPr>
            <p:cNvPr id="9" name="Прямая со стрелкой 8">
              <a:extLst>
                <a:ext uri="{FF2B5EF4-FFF2-40B4-BE49-F238E27FC236}">
                  <a16:creationId xmlns:a16="http://schemas.microsoft.com/office/drawing/2014/main" id="{8C96FB02-A4DE-408D-95B7-E5C6695628AE}"/>
                </a:ext>
              </a:extLst>
            </p:cNvPr>
            <p:cNvCxnSpPr/>
            <p:nvPr/>
          </p:nvCxnSpPr>
          <p:spPr>
            <a:xfrm>
              <a:off x="500034" y="5284800"/>
              <a:ext cx="4429156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 стрелкой 9">
              <a:extLst>
                <a:ext uri="{FF2B5EF4-FFF2-40B4-BE49-F238E27FC236}">
                  <a16:creationId xmlns:a16="http://schemas.microsoft.com/office/drawing/2014/main" id="{CB878D14-D861-46EA-8849-1EE704425EC5}"/>
                </a:ext>
              </a:extLst>
            </p:cNvPr>
            <p:cNvCxnSpPr/>
            <p:nvPr/>
          </p:nvCxnSpPr>
          <p:spPr>
            <a:xfrm rot="5400000" flipH="1" flipV="1">
              <a:off x="1749405" y="4679165"/>
              <a:ext cx="1643868" cy="7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BD116E64-13D1-43DB-AC21-EE90970FBDBA}"/>
                </a:ext>
              </a:extLst>
            </p:cNvPr>
            <p:cNvSpPr/>
            <p:nvPr/>
          </p:nvSpPr>
          <p:spPr>
            <a:xfrm>
              <a:off x="1001314" y="4284667"/>
              <a:ext cx="3143271" cy="1000133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graphicFrame>
          <p:nvGraphicFramePr>
            <p:cNvPr id="12" name="Object 19">
              <a:extLst>
                <a:ext uri="{FF2B5EF4-FFF2-40B4-BE49-F238E27FC236}">
                  <a16:creationId xmlns:a16="http://schemas.microsoft.com/office/drawing/2014/main" id="{CF5A4498-BBD0-42C5-9680-B1203FD9DD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00496" y="5298420"/>
            <a:ext cx="254000" cy="280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39680" progId="Equation.DSMT4">
                    <p:embed/>
                  </p:oleObj>
                </mc:Choice>
                <mc:Fallback>
                  <p:oleObj name="Equation" r:id="rId4" imgW="126720" imgH="139680" progId="Equation.DSMT4">
                    <p:embed/>
                    <p:pic>
                      <p:nvPicPr>
                        <p:cNvPr id="253971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0496" y="5298420"/>
                          <a:ext cx="254000" cy="2809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20">
              <a:extLst>
                <a:ext uri="{FF2B5EF4-FFF2-40B4-BE49-F238E27FC236}">
                  <a16:creationId xmlns:a16="http://schemas.microsoft.com/office/drawing/2014/main" id="{33723092-78A4-4BB6-BC45-72B0416967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4348" y="5321300"/>
            <a:ext cx="431800" cy="280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15640" imgH="139680" progId="Equation.DSMT4">
                    <p:embed/>
                  </p:oleObj>
                </mc:Choice>
                <mc:Fallback>
                  <p:oleObj name="Equation" r:id="rId6" imgW="215640" imgH="139680" progId="Equation.DSMT4">
                    <p:embed/>
                    <p:pic>
                      <p:nvPicPr>
                        <p:cNvPr id="253972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348" y="5321300"/>
                          <a:ext cx="431800" cy="2809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22">
              <a:extLst>
                <a:ext uri="{FF2B5EF4-FFF2-40B4-BE49-F238E27FC236}">
                  <a16:creationId xmlns:a16="http://schemas.microsoft.com/office/drawing/2014/main" id="{DD4A3BF4-F32F-4E0D-8BFB-C0CE50134F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1736" y="3949707"/>
            <a:ext cx="254000" cy="407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203040" progId="Equation.DSMT4">
                    <p:embed/>
                  </p:oleObj>
                </mc:Choice>
                <mc:Fallback>
                  <p:oleObj name="Equation" r:id="rId8" imgW="126720" imgH="203040" progId="Equation.DSMT4">
                    <p:embed/>
                    <p:pic>
                      <p:nvPicPr>
                        <p:cNvPr id="253974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1736" y="3949707"/>
                          <a:ext cx="254000" cy="4079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3">
              <a:extLst>
                <a:ext uri="{FF2B5EF4-FFF2-40B4-BE49-F238E27FC236}">
                  <a16:creationId xmlns:a16="http://schemas.microsoft.com/office/drawing/2014/main" id="{9AFE4ABB-503A-424B-A1F3-20315FD872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6562" y="4005263"/>
            <a:ext cx="254000" cy="255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6720" imgH="126720" progId="Equation.DSMT4">
                    <p:embed/>
                  </p:oleObj>
                </mc:Choice>
                <mc:Fallback>
                  <p:oleObj name="Equation" r:id="rId10" imgW="126720" imgH="126720" progId="Equation.DSMT4">
                    <p:embed/>
                    <p:pic>
                      <p:nvPicPr>
                        <p:cNvPr id="253975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6562" y="4005263"/>
                          <a:ext cx="254000" cy="2555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24">
              <a:extLst>
                <a:ext uri="{FF2B5EF4-FFF2-40B4-BE49-F238E27FC236}">
                  <a16:creationId xmlns:a16="http://schemas.microsoft.com/office/drawing/2014/main" id="{6D5E9302-3E98-40C4-A225-E157139EF3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8242" y="4643446"/>
            <a:ext cx="304800" cy="331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280" imgH="164880" progId="Equation.DSMT4">
                    <p:embed/>
                  </p:oleObj>
                </mc:Choice>
                <mc:Fallback>
                  <p:oleObj name="Equation" r:id="rId12" imgW="152280" imgH="164880" progId="Equation.DSMT4">
                    <p:embed/>
                    <p:pic>
                      <p:nvPicPr>
                        <p:cNvPr id="253976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242" y="4643446"/>
                          <a:ext cx="304800" cy="331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Равнобедренный треугольник 16">
              <a:extLst>
                <a:ext uri="{FF2B5EF4-FFF2-40B4-BE49-F238E27FC236}">
                  <a16:creationId xmlns:a16="http://schemas.microsoft.com/office/drawing/2014/main" id="{ED7A1DD0-346A-4062-A696-63801C67F191}"/>
                </a:ext>
              </a:extLst>
            </p:cNvPr>
            <p:cNvSpPr/>
            <p:nvPr/>
          </p:nvSpPr>
          <p:spPr>
            <a:xfrm>
              <a:off x="4097812" y="4714884"/>
              <a:ext cx="71438" cy="142876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Равнобедренный треугольник 17">
              <a:extLst>
                <a:ext uri="{FF2B5EF4-FFF2-40B4-BE49-F238E27FC236}">
                  <a16:creationId xmlns:a16="http://schemas.microsoft.com/office/drawing/2014/main" id="{CD1DD96B-D1E8-4AED-B747-B39614554D47}"/>
                </a:ext>
              </a:extLst>
            </p:cNvPr>
            <p:cNvSpPr/>
            <p:nvPr/>
          </p:nvSpPr>
          <p:spPr>
            <a:xfrm rot="5400000">
              <a:off x="2893207" y="5205109"/>
              <a:ext cx="71438" cy="142876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Равнобедренный треугольник 18">
              <a:extLst>
                <a:ext uri="{FF2B5EF4-FFF2-40B4-BE49-F238E27FC236}">
                  <a16:creationId xmlns:a16="http://schemas.microsoft.com/office/drawing/2014/main" id="{554365EE-33A5-4E24-B841-267F4C97BED0}"/>
                </a:ext>
              </a:extLst>
            </p:cNvPr>
            <p:cNvSpPr/>
            <p:nvPr/>
          </p:nvSpPr>
          <p:spPr>
            <a:xfrm>
              <a:off x="965596" y="4714884"/>
              <a:ext cx="71438" cy="142876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Равнобедренный треугольник 19">
              <a:extLst>
                <a:ext uri="{FF2B5EF4-FFF2-40B4-BE49-F238E27FC236}">
                  <a16:creationId xmlns:a16="http://schemas.microsoft.com/office/drawing/2014/main" id="{1D6C32F5-0E4A-4FCA-B072-80046C3AF6DC}"/>
                </a:ext>
              </a:extLst>
            </p:cNvPr>
            <p:cNvSpPr/>
            <p:nvPr/>
          </p:nvSpPr>
          <p:spPr>
            <a:xfrm rot="5400000">
              <a:off x="2964645" y="4216033"/>
              <a:ext cx="71438" cy="142876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aphicFrame>
          <p:nvGraphicFramePr>
            <p:cNvPr id="21" name="Object 25">
              <a:extLst>
                <a:ext uri="{FF2B5EF4-FFF2-40B4-BE49-F238E27FC236}">
                  <a16:creationId xmlns:a16="http://schemas.microsoft.com/office/drawing/2014/main" id="{E24ABCAF-260F-497E-87FF-2573AB69F7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74850" y="5286388"/>
            <a:ext cx="3048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2280" imgH="228600" progId="Equation.DSMT4">
                    <p:embed/>
                  </p:oleObj>
                </mc:Choice>
                <mc:Fallback>
                  <p:oleObj name="Equation" r:id="rId14" imgW="152280" imgH="228600" progId="Equation.DSMT4">
                    <p:embed/>
                    <p:pic>
                      <p:nvPicPr>
                        <p:cNvPr id="253977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4850" y="5286388"/>
                          <a:ext cx="304800" cy="460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6">
              <a:extLst>
                <a:ext uri="{FF2B5EF4-FFF2-40B4-BE49-F238E27FC236}">
                  <a16:creationId xmlns:a16="http://schemas.microsoft.com/office/drawing/2014/main" id="{D745EA0D-0C3A-4A82-A292-09190D064CA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8794" y="3825881"/>
            <a:ext cx="2794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9680" imgH="228600" progId="Equation.DSMT4">
                    <p:embed/>
                  </p:oleObj>
                </mc:Choice>
                <mc:Fallback>
                  <p:oleObj name="Equation" r:id="rId16" imgW="139680" imgH="228600" progId="Equation.DSMT4">
                    <p:embed/>
                    <p:pic>
                      <p:nvPicPr>
                        <p:cNvPr id="253978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8794" y="3825881"/>
                          <a:ext cx="279400" cy="460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7">
              <a:extLst>
                <a:ext uri="{FF2B5EF4-FFF2-40B4-BE49-F238E27FC236}">
                  <a16:creationId xmlns:a16="http://schemas.microsoft.com/office/drawing/2014/main" id="{531361FD-F532-4B79-9F81-A69A0C0567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0362" y="4357688"/>
            <a:ext cx="3302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64880" imgH="228600" progId="Equation.DSMT4">
                    <p:embed/>
                  </p:oleObj>
                </mc:Choice>
                <mc:Fallback>
                  <p:oleObj name="Equation" r:id="rId18" imgW="164880" imgH="228600" progId="Equation.DSMT4">
                    <p:embed/>
                    <p:pic>
                      <p:nvPicPr>
                        <p:cNvPr id="253979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0362" y="4357688"/>
                          <a:ext cx="330200" cy="460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8">
              <a:extLst>
                <a:ext uri="{FF2B5EF4-FFF2-40B4-BE49-F238E27FC236}">
                  <a16:creationId xmlns:a16="http://schemas.microsoft.com/office/drawing/2014/main" id="{429D5E77-69BF-4F6E-A6F2-8B3B4D7DC6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2910" y="4357694"/>
            <a:ext cx="3302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64880" imgH="228600" progId="Equation.DSMT4">
                    <p:embed/>
                  </p:oleObj>
                </mc:Choice>
                <mc:Fallback>
                  <p:oleObj name="Equation" r:id="rId20" imgW="164880" imgH="228600" progId="Equation.DSMT4">
                    <p:embed/>
                    <p:pic>
                      <p:nvPicPr>
                        <p:cNvPr id="25398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910" y="4357694"/>
                          <a:ext cx="330200" cy="460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1">
                <a:extLst>
                  <a:ext uri="{FF2B5EF4-FFF2-40B4-BE49-F238E27FC236}">
                    <a16:creationId xmlns:a16="http://schemas.microsoft.com/office/drawing/2014/main" id="{9BB9CB94-9904-4799-8758-3C59CC94CE70}"/>
                  </a:ext>
                </a:extLst>
              </p:cNvPr>
              <p:cNvSpPr txBox="1"/>
              <p:nvPr/>
            </p:nvSpPr>
            <p:spPr bwMode="auto">
              <a:xfrm>
                <a:off x="3543704" y="4439786"/>
                <a:ext cx="1473674" cy="57964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" name="Object 21">
                <a:extLst>
                  <a:ext uri="{FF2B5EF4-FFF2-40B4-BE49-F238E27FC236}">
                    <a16:creationId xmlns:a16="http://schemas.microsoft.com/office/drawing/2014/main" id="{9BB9CB94-9904-4799-8758-3C59CC94C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3704" y="4439786"/>
                <a:ext cx="1473674" cy="57964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9">
                <a:extLst>
                  <a:ext uri="{FF2B5EF4-FFF2-40B4-BE49-F238E27FC236}">
                    <a16:creationId xmlns:a16="http://schemas.microsoft.com/office/drawing/2014/main" id="{B1A3802D-A3A1-46FE-97C2-32D88680966F}"/>
                  </a:ext>
                </a:extLst>
              </p:cNvPr>
              <p:cNvSpPr txBox="1"/>
              <p:nvPr/>
            </p:nvSpPr>
            <p:spPr bwMode="auto">
              <a:xfrm>
                <a:off x="4596496" y="4166838"/>
                <a:ext cx="1944216" cy="91856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pHide m:val="on"/>
                          <m:ctrlPr>
                            <a:rPr lang="ru-RU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/>
                        <m:e>
                          <m:r>
                            <a:rPr lang="ru-RU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ru-RU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ru-RU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  <m:r>
                            <a:rPr lang="ru-RU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" name="Object 29">
                <a:extLst>
                  <a:ext uri="{FF2B5EF4-FFF2-40B4-BE49-F238E27FC236}">
                    <a16:creationId xmlns:a16="http://schemas.microsoft.com/office/drawing/2014/main" id="{B1A3802D-A3A1-46FE-97C2-32D886809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96496" y="4166838"/>
                <a:ext cx="1944216" cy="91856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Овал 26">
            <a:extLst>
              <a:ext uri="{FF2B5EF4-FFF2-40B4-BE49-F238E27FC236}">
                <a16:creationId xmlns:a16="http://schemas.microsoft.com/office/drawing/2014/main" id="{7D5ACF7C-0BA1-48B1-A5A8-6A3023500EAA}"/>
              </a:ext>
            </a:extLst>
          </p:cNvPr>
          <p:cNvSpPr/>
          <p:nvPr/>
        </p:nvSpPr>
        <p:spPr>
          <a:xfrm>
            <a:off x="3983566" y="4512621"/>
            <a:ext cx="312370" cy="2792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0FC9C440-1373-42F8-BE67-A6A62565881E}"/>
              </a:ext>
            </a:extLst>
          </p:cNvPr>
          <p:cNvCxnSpPr>
            <a:stCxn id="27" idx="7"/>
          </p:cNvCxnSpPr>
          <p:nvPr/>
        </p:nvCxnSpPr>
        <p:spPr>
          <a:xfrm flipV="1">
            <a:off x="4250190" y="4187826"/>
            <a:ext cx="129981" cy="365692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3AA650E-7D95-4382-B142-1A7634668EE0}"/>
              </a:ext>
            </a:extLst>
          </p:cNvPr>
          <p:cNvSpPr txBox="1"/>
          <p:nvPr/>
        </p:nvSpPr>
        <p:spPr>
          <a:xfrm>
            <a:off x="3736111" y="3931464"/>
            <a:ext cx="1288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Фиксированное </a:t>
            </a:r>
          </a:p>
        </p:txBody>
      </p:sp>
      <p:sp>
        <p:nvSpPr>
          <p:cNvPr id="31" name="Стрелка: вправо 30">
            <a:extLst>
              <a:ext uri="{FF2B5EF4-FFF2-40B4-BE49-F238E27FC236}">
                <a16:creationId xmlns:a16="http://schemas.microsoft.com/office/drawing/2014/main" id="{3FFD354F-37D4-40F4-9448-005620270627}"/>
              </a:ext>
            </a:extLst>
          </p:cNvPr>
          <p:cNvSpPr/>
          <p:nvPr/>
        </p:nvSpPr>
        <p:spPr>
          <a:xfrm>
            <a:off x="6346940" y="4455167"/>
            <a:ext cx="387543" cy="191263"/>
          </a:xfrm>
          <a:prstGeom prst="right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DC894D-05A9-4324-9455-A6FDA03ED3D5}"/>
                  </a:ext>
                </a:extLst>
              </p:cNvPr>
              <p:cNvSpPr txBox="1"/>
              <p:nvPr/>
            </p:nvSpPr>
            <p:spPr>
              <a:xfrm>
                <a:off x="6738675" y="4341341"/>
                <a:ext cx="19442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DC894D-05A9-4324-9455-A6FDA03ED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675" y="4341341"/>
                <a:ext cx="194421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32">
                <a:extLst>
                  <a:ext uri="{FF2B5EF4-FFF2-40B4-BE49-F238E27FC236}">
                    <a16:creationId xmlns:a16="http://schemas.microsoft.com/office/drawing/2014/main" id="{FDB29BDE-0C62-40D7-9509-1D49F1653BC1}"/>
                  </a:ext>
                </a:extLst>
              </p:cNvPr>
              <p:cNvSpPr txBox="1"/>
              <p:nvPr/>
            </p:nvSpPr>
            <p:spPr bwMode="auto">
              <a:xfrm>
                <a:off x="5137796" y="5095683"/>
                <a:ext cx="1393825" cy="408739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→∞ :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4" name="Object 32">
                <a:extLst>
                  <a:ext uri="{FF2B5EF4-FFF2-40B4-BE49-F238E27FC236}">
                    <a16:creationId xmlns:a16="http://schemas.microsoft.com/office/drawing/2014/main" id="{FDB29BDE-0C62-40D7-9509-1D49F1653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37796" y="5095683"/>
                <a:ext cx="1393825" cy="40873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479D6AE-6657-40E1-B97B-6B47D2846A75}"/>
                  </a:ext>
                </a:extLst>
              </p:cNvPr>
              <p:cNvSpPr txBox="1"/>
              <p:nvPr/>
            </p:nvSpPr>
            <p:spPr>
              <a:xfrm>
                <a:off x="6792682" y="4887393"/>
                <a:ext cx="1780296" cy="960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~2</m:t>
                            </m:r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p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),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  <m:rad>
                              <m:radPr>
                                <m:degHide m:val="on"/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ru-RU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</m:sub>
                            </m:sSub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|~0</m:t>
                            </m:r>
                          </m:e>
                        </m:mr>
                      </m:m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479D6AE-6657-40E1-B97B-6B47D2846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682" y="4887393"/>
                <a:ext cx="1780296" cy="96032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0E2740D-91F6-4496-B76E-1371A17435DA}"/>
                  </a:ext>
                </a:extLst>
              </p:cNvPr>
              <p:cNvSpPr txBox="1"/>
              <p:nvPr/>
            </p:nvSpPr>
            <p:spPr>
              <a:xfrm>
                <a:off x="2310496" y="5640658"/>
                <a:ext cx="4572000" cy="664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0E2740D-91F6-4496-B76E-1371A1743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496" y="5640658"/>
                <a:ext cx="4572000" cy="664606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D25A4011-EEA6-4126-8E80-9A4D09F46F8C}"/>
              </a:ext>
            </a:extLst>
          </p:cNvPr>
          <p:cNvSpPr/>
          <p:nvPr/>
        </p:nvSpPr>
        <p:spPr>
          <a:xfrm>
            <a:off x="3220154" y="5620464"/>
            <a:ext cx="2719998" cy="7572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5710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3968" name="Object 16"/>
          <p:cNvGraphicFramePr>
            <a:graphicFrameLocks noChangeAspect="1"/>
          </p:cNvGraphicFramePr>
          <p:nvPr/>
        </p:nvGraphicFramePr>
        <p:xfrm>
          <a:off x="342901" y="1797535"/>
          <a:ext cx="3937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80" imgH="203040" progId="Equation.DSMT4">
                  <p:embed/>
                </p:oleObj>
              </mc:Choice>
              <mc:Fallback>
                <p:oleObj name="Equation" r:id="rId2" imgW="164880" imgH="2030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1" y="1797535"/>
                        <a:ext cx="393700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3969" name="Object 17"/>
              <p:cNvSpPr txBox="1"/>
              <p:nvPr/>
            </p:nvSpPr>
            <p:spPr bwMode="auto">
              <a:xfrm>
                <a:off x="862012" y="1571625"/>
                <a:ext cx="6950347" cy="89217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/(2</m:t>
                          </m:r>
                          <m:sSup>
                            <m:sSup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f>
                        <m:f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253969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2012" y="1571625"/>
                <a:ext cx="6950347" cy="8921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3987" name="Object 35"/>
              <p:cNvSpPr txBox="1"/>
              <p:nvPr/>
            </p:nvSpPr>
            <p:spPr bwMode="auto">
              <a:xfrm>
                <a:off x="558800" y="2816225"/>
                <a:ext cx="1889125" cy="7905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3987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800" y="2816225"/>
                <a:ext cx="1889125" cy="7905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Стрелка вправо 35"/>
          <p:cNvSpPr/>
          <p:nvPr/>
        </p:nvSpPr>
        <p:spPr>
          <a:xfrm>
            <a:off x="2643174" y="3035291"/>
            <a:ext cx="1214446" cy="357190"/>
          </a:xfrm>
          <a:prstGeom prst="rightArrow">
            <a:avLst>
              <a:gd name="adj1" fmla="val 43263"/>
              <a:gd name="adj2" fmla="val 103895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001" name="Object 25"/>
              <p:cNvSpPr txBox="1"/>
              <p:nvPr/>
            </p:nvSpPr>
            <p:spPr bwMode="auto">
              <a:xfrm>
                <a:off x="2786063" y="2746375"/>
                <a:ext cx="663575" cy="4079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ru-RU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П</m:t>
                      </m:r>
                      <m:r>
                        <m:rPr>
                          <m:nor/>
                        </m:rPr>
                        <a:rPr lang="ru-RU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5001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6063" y="2746375"/>
                <a:ext cx="663575" cy="407988"/>
              </a:xfrm>
              <a:prstGeom prst="rect">
                <a:avLst/>
              </a:prstGeom>
              <a:blipFill>
                <a:blip r:embed="rId6"/>
                <a:stretch>
                  <a:fillRect l="-2752" r="-1835" b="-45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5002" name="Object 26"/>
              <p:cNvSpPr txBox="1"/>
              <p:nvPr/>
            </p:nvSpPr>
            <p:spPr bwMode="auto">
              <a:xfrm>
                <a:off x="4014788" y="2795588"/>
                <a:ext cx="4570412" cy="8413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sub>
                          </m:sSub>
                        </m:e>
                      </m:acc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5002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4788" y="2795588"/>
                <a:ext cx="4570412" cy="8413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Стрелка вправо 38"/>
          <p:cNvSpPr/>
          <p:nvPr/>
        </p:nvSpPr>
        <p:spPr>
          <a:xfrm rot="5400000">
            <a:off x="5679289" y="3928266"/>
            <a:ext cx="857256" cy="357190"/>
          </a:xfrm>
          <a:prstGeom prst="rightArrow">
            <a:avLst>
              <a:gd name="adj1" fmla="val 43263"/>
              <a:gd name="adj2" fmla="val 103895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003" name="Object 27"/>
              <p:cNvSpPr txBox="1"/>
              <p:nvPr/>
            </p:nvSpPr>
            <p:spPr bwMode="auto">
              <a:xfrm>
                <a:off x="6180138" y="3749675"/>
                <a:ext cx="663575" cy="4079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ru-RU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П</m:t>
                      </m:r>
                      <m:r>
                        <m:rPr>
                          <m:nor/>
                        </m:rPr>
                        <a:rPr lang="ru-RU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5003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0138" y="3749675"/>
                <a:ext cx="663575" cy="407988"/>
              </a:xfrm>
              <a:prstGeom prst="rect">
                <a:avLst/>
              </a:prstGeom>
              <a:blipFill>
                <a:blip r:embed="rId8"/>
                <a:stretch>
                  <a:fillRect l="-2752" r="-1835" b="-44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5004" name="Object 28"/>
              <p:cNvSpPr txBox="1"/>
              <p:nvPr/>
            </p:nvSpPr>
            <p:spPr bwMode="auto">
              <a:xfrm>
                <a:off x="3706813" y="4632325"/>
                <a:ext cx="5113659" cy="8921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5004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06813" y="4632325"/>
                <a:ext cx="5113659" cy="8921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CF1DB8B8-9372-4209-92A8-2A7BFB01E1C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20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ru-RU" b="1" kern="0">
                <a:solidFill>
                  <a:srgbClr val="002060"/>
                </a:solidFill>
              </a:rPr>
              <a:t>Фурье-анализ</a:t>
            </a:r>
            <a:endParaRPr lang="ru-RU" b="1" kern="0" dirty="0">
              <a:solidFill>
                <a:srgbClr val="002060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8F9DC7A2-CA33-47A3-89B2-25877D7A1E46}"/>
              </a:ext>
            </a:extLst>
          </p:cNvPr>
          <p:cNvSpPr/>
          <p:nvPr/>
        </p:nvSpPr>
        <p:spPr>
          <a:xfrm>
            <a:off x="152529" y="4077072"/>
            <a:ext cx="3097868" cy="1944216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7">
                <a:extLst>
                  <a:ext uri="{FF2B5EF4-FFF2-40B4-BE49-F238E27FC236}">
                    <a16:creationId xmlns:a16="http://schemas.microsoft.com/office/drawing/2014/main" id="{2020457B-84E4-45BB-BCBE-3D4E024FD07B}"/>
                  </a:ext>
                </a:extLst>
              </p:cNvPr>
              <p:cNvSpPr txBox="1"/>
              <p:nvPr/>
            </p:nvSpPr>
            <p:spPr bwMode="auto">
              <a:xfrm>
                <a:off x="163330" y="4459708"/>
                <a:ext cx="663575" cy="4079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П</m:t>
                      </m:r>
                      <m:r>
                        <m:rPr>
                          <m:nor/>
                        </m:rPr>
                        <a:rPr lang="ru-RU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8" name="Object 27">
                <a:extLst>
                  <a:ext uri="{FF2B5EF4-FFF2-40B4-BE49-F238E27FC236}">
                    <a16:creationId xmlns:a16="http://schemas.microsoft.com/office/drawing/2014/main" id="{2020457B-84E4-45BB-BCBE-3D4E024FD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330" y="4459708"/>
                <a:ext cx="663575" cy="4079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C374783-0BF0-4E4A-AF4E-02939B655798}"/>
                  </a:ext>
                </a:extLst>
              </p:cNvPr>
              <p:cNvSpPr txBox="1"/>
              <p:nvPr/>
            </p:nvSpPr>
            <p:spPr>
              <a:xfrm>
                <a:off x="163330" y="5181978"/>
                <a:ext cx="7828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П</m:t>
                      </m:r>
                      <m:r>
                        <m:rPr>
                          <m:nor/>
                        </m:rPr>
                        <a:rPr lang="ru-RU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: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C374783-0BF0-4E4A-AF4E-02939B655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30" y="5181978"/>
                <a:ext cx="78281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538759-81EB-4247-B69C-3E067F3322EE}"/>
                  </a:ext>
                </a:extLst>
              </p:cNvPr>
              <p:cNvSpPr txBox="1"/>
              <p:nvPr/>
            </p:nvSpPr>
            <p:spPr>
              <a:xfrm>
                <a:off x="826905" y="4513625"/>
                <a:ext cx="2252924" cy="2925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^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538759-81EB-4247-B69C-3E067F332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05" y="4513625"/>
                <a:ext cx="2252924" cy="292581"/>
              </a:xfrm>
              <a:prstGeom prst="rect">
                <a:avLst/>
              </a:prstGeom>
              <a:blipFill>
                <a:blip r:embed="rId12"/>
                <a:stretch>
                  <a:fillRect t="-22917" b="-354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D95F352-A504-4B05-8274-E74806327BC3}"/>
                  </a:ext>
                </a:extLst>
              </p:cNvPr>
              <p:cNvSpPr txBox="1"/>
              <p:nvPr/>
            </p:nvSpPr>
            <p:spPr>
              <a:xfrm>
                <a:off x="826905" y="5188559"/>
                <a:ext cx="2400465" cy="4460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^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sub>
                      </m:sSub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D95F352-A504-4B05-8274-E74806327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05" y="5188559"/>
                <a:ext cx="2400465" cy="446020"/>
              </a:xfrm>
              <a:prstGeom prst="rect">
                <a:avLst/>
              </a:prstGeom>
              <a:blipFill>
                <a:blip r:embed="rId13"/>
                <a:stretch>
                  <a:fillRect t="-15068" b="-95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0997110-F9F7-4A87-993C-4DD2D07E6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415"/>
          </a:xfrm>
        </p:spPr>
        <p:txBody>
          <a:bodyPr/>
          <a:lstStyle/>
          <a:p>
            <a:r>
              <a:rPr lang="ru-RU" sz="3200" b="1" dirty="0">
                <a:solidFill>
                  <a:srgbClr val="002060"/>
                </a:solidFill>
              </a:rPr>
              <a:t>Фурье-анализ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B1A087-3CCE-4022-BE5E-7EA07632F1EF}"/>
                  </a:ext>
                </a:extLst>
              </p:cNvPr>
              <p:cNvSpPr txBox="1"/>
              <p:nvPr/>
            </p:nvSpPr>
            <p:spPr>
              <a:xfrm>
                <a:off x="395536" y="1484784"/>
                <a:ext cx="8352928" cy="4072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функцией с </a:t>
                </a:r>
                <a:r>
                  <a:rPr lang="el-GR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ru-RU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–ограниченным спектром или </a:t>
                </a:r>
                <a:r>
                  <a:rPr lang="en-US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ru-RU" dirty="0" err="1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игналом</a:t>
                </a:r>
                <a:r>
                  <a:rPr lang="ru-RU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 ограниченным спектром, если её преобразование Фурье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тождественно равно 0 вне отрезка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ru-RU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/>
                <a:endParaRPr lang="en-US" b="0" i="1" dirty="0">
                  <a:solidFill>
                    <a:schemeClr val="accent4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≡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Ω</m:t>
                          </m:r>
                        </m:e>
                      </m:d>
                    </m:oMath>
                  </m:oMathPara>
                </a14:m>
                <a:endParaRPr lang="ru-RU" dirty="0">
                  <a:solidFill>
                    <a:schemeClr val="accent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dirty="0">
                  <a:solidFill>
                    <a:schemeClr val="accent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Соответствующая размерная частота обозначается через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/2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ru-RU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/>
                <a:r>
                  <a:rPr lang="ru-RU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Следовательно, согнал с ограниченным спектром во временной области задаётся как </a:t>
                </a:r>
              </a:p>
              <a:p>
                <a:pPr algn="just"/>
                <a:endParaRPr lang="en-US" b="0" i="1" dirty="0">
                  <a:solidFill>
                    <a:schemeClr val="accent4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Ω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l-GR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Ω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nary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B1A087-3CCE-4022-BE5E-7EA07632F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484784"/>
                <a:ext cx="8352928" cy="4072077"/>
              </a:xfrm>
              <a:prstGeom prst="rect">
                <a:avLst/>
              </a:prstGeom>
              <a:blipFill>
                <a:blip r:embed="rId2"/>
                <a:stretch>
                  <a:fillRect l="-657" t="-898" r="-5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7893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7C5D3D5-36F9-44C9-993B-995FAF46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415"/>
          </a:xfrm>
        </p:spPr>
        <p:txBody>
          <a:bodyPr/>
          <a:lstStyle/>
          <a:p>
            <a:r>
              <a:rPr lang="ru-RU" sz="3200" b="1" dirty="0">
                <a:solidFill>
                  <a:srgbClr val="002060"/>
                </a:solidFill>
              </a:rPr>
              <a:t>Фурье-анализ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A04764-2DEB-416B-A933-4D869B4A4AA7}"/>
              </a:ext>
            </a:extLst>
          </p:cNvPr>
          <p:cNvSpPr txBox="1"/>
          <p:nvPr/>
        </p:nvSpPr>
        <p:spPr>
          <a:xfrm>
            <a:off x="179512" y="764704"/>
            <a:ext cx="4248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Идеальный низкочастотный импульс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Рассматриваются колебания: </a:t>
            </a:r>
            <a:r>
              <a:rPr lang="ru-RU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B6DEB1-DC74-4432-8773-602EC294BCA6}"/>
                  </a:ext>
                </a:extLst>
              </p:cNvPr>
              <p:cNvSpPr txBox="1"/>
              <p:nvPr/>
            </p:nvSpPr>
            <p:spPr>
              <a:xfrm>
                <a:off x="3491880" y="980728"/>
                <a:ext cx="5616624" cy="10769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e>
                          </m:eqAr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ru-RU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b="0" i="1" dirty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𝜋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sinc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Ω</m:t>
                                </m:r>
                                <m: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sinc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B6DEB1-DC74-4432-8773-602EC294B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980728"/>
                <a:ext cx="5616624" cy="10769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A24485-A2CD-4FA6-9B17-1684869FCA34}"/>
                  </a:ext>
                </a:extLst>
              </p:cNvPr>
              <p:cNvSpPr txBox="1"/>
              <p:nvPr/>
            </p:nvSpPr>
            <p:spPr>
              <a:xfrm>
                <a:off x="179512" y="2204864"/>
                <a:ext cx="3744416" cy="2323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Ортогонализация сигнала с использованием временного сдвига: запаздывание сигнала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 отношению к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равно </a:t>
                </a:r>
                <a:endParaRPr lang="en-US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ru-RU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  <m:r>
                        <a:rPr lang="ru-RU" dirty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brk m:alnAt="7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brk m:alnAt="7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l-GR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sinc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Ω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  <a:p>
                <a:pPr algn="just"/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A24485-A2CD-4FA6-9B17-1684869FC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2204864"/>
                <a:ext cx="3744416" cy="2323457"/>
              </a:xfrm>
              <a:prstGeom prst="rect">
                <a:avLst/>
              </a:prstGeom>
              <a:blipFill>
                <a:blip r:embed="rId3"/>
                <a:stretch>
                  <a:fillRect l="-1301" t="-1575" r="-13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4D36D4-E8AA-4538-AD62-8CFD1197AE28}"/>
                  </a:ext>
                </a:extLst>
              </p:cNvPr>
              <p:cNvSpPr txBox="1"/>
              <p:nvPr/>
            </p:nvSpPr>
            <p:spPr>
              <a:xfrm>
                <a:off x="5508104" y="2564904"/>
                <a:ext cx="286142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Сигналы с ограниченным спектром, принадлежат семейству </a:t>
                </a:r>
              </a:p>
              <a:p>
                <a:pPr algn="just"/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sinc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Ω</m:t>
                          </m:r>
                        </m:e>
                      </m:d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4D36D4-E8AA-4538-AD62-8CFD1197A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564904"/>
                <a:ext cx="2861423" cy="1477328"/>
              </a:xfrm>
              <a:prstGeom prst="rect">
                <a:avLst/>
              </a:prstGeom>
              <a:blipFill>
                <a:blip r:embed="rId4"/>
                <a:stretch>
                  <a:fillRect l="-1919" t="-2479" r="-1706" b="-28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60A5A25A-5B32-4D2E-94FA-EF747408AC4C}"/>
              </a:ext>
            </a:extLst>
          </p:cNvPr>
          <p:cNvSpPr/>
          <p:nvPr/>
        </p:nvSpPr>
        <p:spPr>
          <a:xfrm>
            <a:off x="4139952" y="2924944"/>
            <a:ext cx="936104" cy="57606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192193-E453-4FB5-A3B3-32EFF7C2D00C}"/>
                  </a:ext>
                </a:extLst>
              </p:cNvPr>
              <p:cNvSpPr txBox="1"/>
              <p:nvPr/>
            </p:nvSpPr>
            <p:spPr>
              <a:xfrm>
                <a:off x="2123728" y="4581128"/>
                <a:ext cx="583264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Достаточно рассмотреть </a:t>
                </a:r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sinc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Ω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l-GR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Ω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После нормировки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образует </a:t>
                </a:r>
                <a:r>
                  <a:rPr lang="ru-RU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базис Котельникова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192193-E453-4FB5-A3B3-32EFF7C2D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4581128"/>
                <a:ext cx="5832648" cy="1200329"/>
              </a:xfrm>
              <a:prstGeom prst="rect">
                <a:avLst/>
              </a:prstGeom>
              <a:blipFill>
                <a:blip r:embed="rId5"/>
                <a:stretch>
                  <a:fillRect l="-836" t="-2538" b="-71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30318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09D0CD0-9183-4C45-B2BD-8FC9EFA0B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415"/>
          </a:xfrm>
        </p:spPr>
        <p:txBody>
          <a:bodyPr/>
          <a:lstStyle/>
          <a:p>
            <a:r>
              <a:rPr lang="ru-RU" sz="3200" b="1" dirty="0">
                <a:solidFill>
                  <a:srgbClr val="002060"/>
                </a:solidFill>
              </a:rPr>
              <a:t>Фурье-анализ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FBD5E7-CA8D-4C70-B5FE-E6C341DDC0DB}"/>
                  </a:ext>
                </a:extLst>
              </p:cNvPr>
              <p:cNvSpPr txBox="1"/>
              <p:nvPr/>
            </p:nvSpPr>
            <p:spPr>
              <a:xfrm>
                <a:off x="168742" y="908720"/>
                <a:ext cx="4932040" cy="1401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произвольный сигнал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ru-RU" dirty="0" smtClean="0">
                        <a:latin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</a:t>
                </a:r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FBD5E7-CA8D-4C70-B5FE-E6C341DDC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42" y="908720"/>
                <a:ext cx="4932040" cy="1401602"/>
              </a:xfrm>
              <a:prstGeom prst="rect">
                <a:avLst/>
              </a:prstGeom>
              <a:blipFill>
                <a:blip r:embed="rId2"/>
                <a:stretch>
                  <a:fillRect l="-1112" t="-2174" r="-9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BBA59F-DB37-41C6-BF8E-E19941D6E198}"/>
                  </a:ext>
                </a:extLst>
              </p:cNvPr>
              <p:cNvSpPr txBox="1"/>
              <p:nvPr/>
            </p:nvSpPr>
            <p:spPr>
              <a:xfrm>
                <a:off x="5100782" y="908720"/>
                <a:ext cx="3874476" cy="12100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спектр, то</a:t>
                </a:r>
              </a:p>
              <a:p>
                <a:endParaRPr lang="en-US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den>
                          </m:f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BBA59F-DB37-41C6-BF8E-E19941D6E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782" y="908720"/>
                <a:ext cx="3874476" cy="1210011"/>
              </a:xfrm>
              <a:prstGeom prst="rect">
                <a:avLst/>
              </a:prstGeom>
              <a:blipFill>
                <a:blip r:embed="rId3"/>
                <a:stretch>
                  <a:fillRect l="-1417" t="-25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08B7C09-9332-467E-923B-A8D143AF17B6}"/>
                  </a:ext>
                </a:extLst>
              </p:cNvPr>
              <p:cNvSpPr txBox="1"/>
              <p:nvPr/>
            </p:nvSpPr>
            <p:spPr>
              <a:xfrm>
                <a:off x="2555776" y="2311102"/>
                <a:ext cx="5363306" cy="1124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Ряд Котельникова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en-US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sinc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Ω</m:t>
                          </m:r>
                        </m:e>
                      </m:d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08B7C09-9332-467E-923B-A8D143AF1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2311102"/>
                <a:ext cx="5363306" cy="1124603"/>
              </a:xfrm>
              <a:prstGeom prst="rect">
                <a:avLst/>
              </a:prstGeom>
              <a:blipFill>
                <a:blip r:embed="rId4"/>
                <a:stretch>
                  <a:fillRect l="-909" t="-27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BCAAF4F-6199-45FC-87BE-531BE01B9A8D}"/>
              </a:ext>
            </a:extLst>
          </p:cNvPr>
          <p:cNvCxnSpPr/>
          <p:nvPr/>
        </p:nvCxnSpPr>
        <p:spPr>
          <a:xfrm>
            <a:off x="5091261" y="692696"/>
            <a:ext cx="0" cy="1512168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B53023D-A0A0-4142-939C-D753500A9E4A}"/>
              </a:ext>
            </a:extLst>
          </p:cNvPr>
          <p:cNvSpPr/>
          <p:nvPr/>
        </p:nvSpPr>
        <p:spPr>
          <a:xfrm>
            <a:off x="2339760" y="2277145"/>
            <a:ext cx="4752520" cy="1439887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9A53D6-37B5-4A84-81D9-6FC43AF68143}"/>
                  </a:ext>
                </a:extLst>
              </p:cNvPr>
              <p:cNvSpPr txBox="1"/>
              <p:nvPr/>
            </p:nvSpPr>
            <p:spPr>
              <a:xfrm>
                <a:off x="575556" y="4218075"/>
                <a:ext cx="7992888" cy="1714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Теорема Котельникова: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непрерывная функция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: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является функцией с </a:t>
                </a:r>
                <a:r>
                  <a:rPr lang="el-GR" i="1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ru-RU" i="1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–ограниченным спектром и удовлетворяет оценке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1/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ℰ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→± ∞</m:t>
                    </m:r>
                  </m:oMath>
                </a14:m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тогда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𝑘𝑇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sinc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Ω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𝑘𝑇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 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Ω</m:t>
                          </m:r>
                        </m:den>
                      </m:f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9A53D6-37B5-4A84-81D9-6FC43AF68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56" y="4218075"/>
                <a:ext cx="7992888" cy="1714252"/>
              </a:xfrm>
              <a:prstGeom prst="rect">
                <a:avLst/>
              </a:prstGeom>
              <a:blipFill>
                <a:blip r:embed="rId5"/>
                <a:stretch>
                  <a:fillRect l="-610" t="-21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24D6A2E-8BBA-4623-A169-1F9F8A945834}"/>
              </a:ext>
            </a:extLst>
          </p:cNvPr>
          <p:cNvSpPr/>
          <p:nvPr/>
        </p:nvSpPr>
        <p:spPr>
          <a:xfrm>
            <a:off x="323528" y="4077072"/>
            <a:ext cx="8496944" cy="20162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24588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dirty="0">
                <a:solidFill>
                  <a:srgbClr val="002060"/>
                </a:solidFill>
              </a:rPr>
              <a:t>Фурье-анализ</a:t>
            </a:r>
            <a:endParaRPr lang="ru-RU" sz="3200" b="1" kern="0" dirty="0">
              <a:solidFill>
                <a:srgbClr val="00009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379" name="Object 3"/>
              <p:cNvSpPr txBox="1"/>
              <p:nvPr/>
            </p:nvSpPr>
            <p:spPr bwMode="auto">
              <a:xfrm>
                <a:off x="505762" y="1632786"/>
                <a:ext cx="8320409" cy="9064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ru-RU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 могут быть одновременно локализованы в малой области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ru-RU" dirty="0"/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плоскости. </a:t>
                </a:r>
                <a:endParaRPr lang="ru-RU" dirty="0"/>
              </a:p>
            </p:txBody>
          </p:sp>
        </mc:Choice>
        <mc:Fallback xmlns="">
          <p:sp>
            <p:nvSpPr>
              <p:cNvPr id="10137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5762" y="1632786"/>
                <a:ext cx="8320409" cy="906463"/>
              </a:xfrm>
              <a:prstGeom prst="rect">
                <a:avLst/>
              </a:prstGeom>
              <a:blipFill>
                <a:blip r:embed="rId2"/>
                <a:stretch>
                  <a:fillRect l="-220" t="-2685" r="-8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813358" y="1244265"/>
            <a:ext cx="4000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ru-RU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Простая формулировка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5938" y="2065921"/>
            <a:ext cx="25003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ru-RU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380" name="Object 4"/>
              <p:cNvSpPr txBox="1"/>
              <p:nvPr/>
            </p:nvSpPr>
            <p:spPr bwMode="auto">
              <a:xfrm>
                <a:off x="611560" y="2398810"/>
                <a:ext cx="3143250" cy="7874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1,0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138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2398810"/>
                <a:ext cx="3143250" cy="787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Прямая со стрелкой 10"/>
          <p:cNvCxnSpPr/>
          <p:nvPr/>
        </p:nvCxnSpPr>
        <p:spPr>
          <a:xfrm rot="16200000" flipH="1">
            <a:off x="3560062" y="2786192"/>
            <a:ext cx="287340" cy="28575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381" name="Object 5"/>
              <p:cNvSpPr txBox="1"/>
              <p:nvPr/>
            </p:nvSpPr>
            <p:spPr bwMode="auto">
              <a:xfrm>
                <a:off x="3703732" y="2877281"/>
                <a:ext cx="5595937" cy="7858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sSup>
                        <m:s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/(2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func>
                        <m:func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138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03732" y="2877281"/>
                <a:ext cx="5595937" cy="7858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Группа 19"/>
          <p:cNvGrpSpPr/>
          <p:nvPr/>
        </p:nvGrpSpPr>
        <p:grpSpPr>
          <a:xfrm>
            <a:off x="71406" y="4254369"/>
            <a:ext cx="9001188" cy="2111087"/>
            <a:chOff x="71406" y="4254369"/>
            <a:chExt cx="9001188" cy="2111087"/>
          </a:xfrm>
        </p:grpSpPr>
        <p:pic>
          <p:nvPicPr>
            <p:cNvPr id="16" name="Рисунок 15" descr="Spektrum_W.emf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26529" y="4286256"/>
              <a:ext cx="4646065" cy="2079200"/>
            </a:xfrm>
            <a:prstGeom prst="rect">
              <a:avLst/>
            </a:prstGeom>
          </p:spPr>
        </p:pic>
        <p:pic>
          <p:nvPicPr>
            <p:cNvPr id="15" name="Рисунок 14" descr="Signal_Sh.emf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406" y="4254369"/>
              <a:ext cx="4643470" cy="2103589"/>
            </a:xfrm>
            <a:prstGeom prst="rect">
              <a:avLst/>
            </a:prstGeom>
          </p:spPr>
        </p:pic>
        <p:graphicFrame>
          <p:nvGraphicFramePr>
            <p:cNvPr id="101383" name="Object 7"/>
            <p:cNvGraphicFramePr>
              <a:graphicFrameLocks noChangeAspect="1"/>
            </p:cNvGraphicFramePr>
            <p:nvPr/>
          </p:nvGraphicFramePr>
          <p:xfrm>
            <a:off x="6500826" y="4572008"/>
            <a:ext cx="61912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30120" imgH="203040" progId="Equation.DSMT4">
                    <p:embed/>
                  </p:oleObj>
                </mc:Choice>
                <mc:Fallback>
                  <p:oleObj name="Equation" r:id="rId7" imgW="330120" imgH="20304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00826" y="4572008"/>
                          <a:ext cx="619125" cy="3810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384" name="Object 8"/>
            <p:cNvGraphicFramePr>
              <a:graphicFrameLocks noChangeAspect="1"/>
            </p:cNvGraphicFramePr>
            <p:nvPr/>
          </p:nvGraphicFramePr>
          <p:xfrm>
            <a:off x="928662" y="4572008"/>
            <a:ext cx="547687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91960" imgH="203040" progId="Equation.DSMT4">
                    <p:embed/>
                  </p:oleObj>
                </mc:Choice>
                <mc:Fallback>
                  <p:oleObj name="Equation" r:id="rId9" imgW="291960" imgH="20304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662" y="4572008"/>
                          <a:ext cx="547687" cy="3810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385" name="Object 9"/>
            <p:cNvGraphicFramePr>
              <a:graphicFrameLocks noChangeAspect="1"/>
            </p:cNvGraphicFramePr>
            <p:nvPr/>
          </p:nvGraphicFramePr>
          <p:xfrm>
            <a:off x="3714751" y="5286388"/>
            <a:ext cx="928687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495000" imgH="380880" progId="Equation.DSMT4">
                    <p:embed/>
                  </p:oleObj>
                </mc:Choice>
                <mc:Fallback>
                  <p:oleObj name="Equation" r:id="rId11" imgW="495000" imgH="38088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4751" y="5286388"/>
                          <a:ext cx="928687" cy="71437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Группа 20"/>
          <p:cNvGrpSpPr/>
          <p:nvPr/>
        </p:nvGrpSpPr>
        <p:grpSpPr>
          <a:xfrm>
            <a:off x="71438" y="4104844"/>
            <a:ext cx="9122469" cy="2181676"/>
            <a:chOff x="71438" y="4143380"/>
            <a:chExt cx="9122469" cy="2181676"/>
          </a:xfrm>
        </p:grpSpPr>
        <p:pic>
          <p:nvPicPr>
            <p:cNvPr id="22" name="Рисунок 21" descr="Spektrum_Sh.emf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54814" y="4143380"/>
              <a:ext cx="4739093" cy="2181676"/>
            </a:xfrm>
            <a:prstGeom prst="rect">
              <a:avLst/>
            </a:prstGeom>
          </p:spPr>
        </p:pic>
        <p:pic>
          <p:nvPicPr>
            <p:cNvPr id="23" name="Рисунок 22" descr="Signal_W.emf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438" y="4143380"/>
              <a:ext cx="4714876" cy="215323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bject 7"/>
                <p:cNvSpPr txBox="1"/>
                <p:nvPr/>
              </p:nvSpPr>
              <p:spPr bwMode="auto">
                <a:xfrm>
                  <a:off x="6500813" y="4572436"/>
                  <a:ext cx="619125" cy="381000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24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500813" y="4572436"/>
                  <a:ext cx="619125" cy="381000"/>
                </a:xfrm>
                <a:prstGeom prst="rect">
                  <a:avLst/>
                </a:prstGeom>
                <a:blipFill>
                  <a:blip r:embed="rId15"/>
                  <a:stretch>
                    <a:fillRect r="-15686" b="-1129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8"/>
                <p:cNvSpPr txBox="1"/>
                <p:nvPr/>
              </p:nvSpPr>
              <p:spPr bwMode="auto">
                <a:xfrm>
                  <a:off x="928688" y="4572436"/>
                  <a:ext cx="547687" cy="381000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25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8688" y="4572436"/>
                  <a:ext cx="547687" cy="381000"/>
                </a:xfrm>
                <a:prstGeom prst="rect">
                  <a:avLst/>
                </a:prstGeom>
                <a:blipFill>
                  <a:blip r:embed="rId16"/>
                  <a:stretch>
                    <a:fillRect r="-15556" b="-1129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bject 9"/>
                <p:cNvSpPr txBox="1"/>
                <p:nvPr/>
              </p:nvSpPr>
              <p:spPr bwMode="auto">
                <a:xfrm>
                  <a:off x="3499936" y="5288265"/>
                  <a:ext cx="785812" cy="714375"/>
                </a:xfrm>
                <a:prstGeom prst="rect">
                  <a:avLst/>
                </a:prstGeom>
                <a:noFill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  <m:oMath xmlns:m="http://schemas.openxmlformats.org/officeDocument/2006/math"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26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99936" y="5288265"/>
                  <a:ext cx="785812" cy="71437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1382" name="Object 6"/>
              <p:cNvSpPr txBox="1"/>
              <p:nvPr/>
            </p:nvSpPr>
            <p:spPr bwMode="auto">
              <a:xfrm>
                <a:off x="2628622" y="3615474"/>
                <a:ext cx="4167187" cy="47625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)=0.5(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138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8622" y="3615474"/>
                <a:ext cx="4167187" cy="47625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66629607-648B-428A-BF90-F30C4CAA5A53}"/>
              </a:ext>
            </a:extLst>
          </p:cNvPr>
          <p:cNvSpPr txBox="1"/>
          <p:nvPr/>
        </p:nvSpPr>
        <p:spPr>
          <a:xfrm>
            <a:off x="1568215" y="705719"/>
            <a:ext cx="6007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неопределенности Гейзенберга: </a:t>
            </a:r>
            <a:endParaRPr lang="ru-RU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E3E6CF-3804-44E4-B7BD-125705DFE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415"/>
          </a:xfrm>
        </p:spPr>
        <p:txBody>
          <a:bodyPr/>
          <a:lstStyle/>
          <a:p>
            <a:r>
              <a:rPr lang="ru-RU" sz="3200" b="1" dirty="0">
                <a:solidFill>
                  <a:srgbClr val="002060"/>
                </a:solidFill>
              </a:rPr>
              <a:t>Фурье-анализ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820051-77E9-4667-AEF1-1121390844F6}"/>
                  </a:ext>
                </a:extLst>
              </p:cNvPr>
              <p:cNvSpPr txBox="1"/>
              <p:nvPr/>
            </p:nvSpPr>
            <p:spPr>
              <a:xfrm>
                <a:off x="179512" y="764704"/>
                <a:ext cx="87849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Принцип неопределенности Гейзенберга: </a:t>
                </a:r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рассмотрим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ru-RU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820051-77E9-4667-AEF1-112139084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764704"/>
                <a:ext cx="8784976" cy="369332"/>
              </a:xfrm>
              <a:prstGeom prst="rect">
                <a:avLst/>
              </a:prstGeom>
              <a:blipFill>
                <a:blip r:embed="rId2"/>
                <a:stretch>
                  <a:fillRect l="-555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A33574-3595-4E3E-89BF-5B9778A5493B}"/>
                  </a:ext>
                </a:extLst>
              </p:cNvPr>
              <p:cNvSpPr txBox="1"/>
              <p:nvPr/>
            </p:nvSpPr>
            <p:spPr>
              <a:xfrm>
                <a:off x="611560" y="1519835"/>
                <a:ext cx="2986651" cy="8996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ru-RU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𝑡𝑓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A33574-3595-4E3E-89BF-5B9778A54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519835"/>
                <a:ext cx="2986651" cy="8996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64F79D7-CEEB-42F4-ADB3-48B1A0375960}"/>
              </a:ext>
            </a:extLst>
          </p:cNvPr>
          <p:cNvSpPr/>
          <p:nvPr/>
        </p:nvSpPr>
        <p:spPr>
          <a:xfrm>
            <a:off x="467544" y="1510270"/>
            <a:ext cx="3384376" cy="100811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F7E4CA-C8E6-4858-B9D0-DE9729961BFE}"/>
                  </a:ext>
                </a:extLst>
              </p:cNvPr>
              <p:cNvSpPr txBox="1"/>
              <p:nvPr/>
            </p:nvSpPr>
            <p:spPr>
              <a:xfrm>
                <a:off x="4355976" y="1829660"/>
                <a:ext cx="48245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Протяженность функции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 времени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F7E4CA-C8E6-4858-B9D0-DE9729961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1829660"/>
                <a:ext cx="4824536" cy="369332"/>
              </a:xfrm>
              <a:prstGeom prst="rect">
                <a:avLst/>
              </a:prstGeom>
              <a:blipFill>
                <a:blip r:embed="rId4"/>
                <a:stretch>
                  <a:fillRect l="-1138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33072AA-8163-4527-9CB0-6AFC23D90854}"/>
                  </a:ext>
                </a:extLst>
              </p:cNvPr>
              <p:cNvSpPr txBox="1"/>
              <p:nvPr/>
            </p:nvSpPr>
            <p:spPr>
              <a:xfrm>
                <a:off x="467544" y="3370274"/>
                <a:ext cx="7992888" cy="2033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Принцип неопределенности Гейзенберга :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произвольная функция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Тогда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ru-RU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𝑡𝑓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‖"/>
                          <m:endChr m:val="‖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левая часть может быть бесконечно большой. Равенство выполняется только на функциях, совпадающих с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точностью до постоянного множителя.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33072AA-8163-4527-9CB0-6AFC23D90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370274"/>
                <a:ext cx="7992888" cy="2033762"/>
              </a:xfrm>
              <a:prstGeom prst="rect">
                <a:avLst/>
              </a:prstGeom>
              <a:blipFill>
                <a:blip r:embed="rId5"/>
                <a:stretch>
                  <a:fillRect l="-686" t="-1802" r="-610" b="-42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2C704B6E-6BCB-477D-8DA8-11501DA186CA}"/>
              </a:ext>
            </a:extLst>
          </p:cNvPr>
          <p:cNvSpPr/>
          <p:nvPr/>
        </p:nvSpPr>
        <p:spPr>
          <a:xfrm>
            <a:off x="179512" y="3140968"/>
            <a:ext cx="8784976" cy="25202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4680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55FA24A-8539-4B42-A985-40205E11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415"/>
          </a:xfrm>
        </p:spPr>
        <p:txBody>
          <a:bodyPr/>
          <a:lstStyle/>
          <a:p>
            <a:r>
              <a:rPr lang="ru-RU" sz="3200" b="1" dirty="0">
                <a:solidFill>
                  <a:srgbClr val="002060"/>
                </a:solidFill>
              </a:rPr>
              <a:t>Фурье-анализ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E8602-A163-44F4-A3A6-6F3931E12257}"/>
              </a:ext>
            </a:extLst>
          </p:cNvPr>
          <p:cNvSpPr txBox="1"/>
          <p:nvPr/>
        </p:nvSpPr>
        <p:spPr>
          <a:xfrm>
            <a:off x="179512" y="836712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Доказательство: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D91350-4AAC-4841-AE14-92FD505CED39}"/>
                  </a:ext>
                </a:extLst>
              </p:cNvPr>
              <p:cNvSpPr txBox="1"/>
              <p:nvPr/>
            </p:nvSpPr>
            <p:spPr>
              <a:xfrm>
                <a:off x="323528" y="1556792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ru-RU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𝑡𝑓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,  </m:t>
                    </m:r>
                    <m:d>
                      <m:dPr>
                        <m:begChr m:val="‖"/>
                        <m:endChr m:val="‖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</m:oMath>
                </a14:m>
                <a:r>
                  <a:rPr lang="ru-RU" dirty="0"/>
                  <a:t> -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конечные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D91350-4AAC-4841-AE14-92FD505CE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556792"/>
                <a:ext cx="4572000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4032990A-3B86-4092-B311-D9C7B174D051}"/>
              </a:ext>
            </a:extLst>
          </p:cNvPr>
          <p:cNvSpPr/>
          <p:nvPr/>
        </p:nvSpPr>
        <p:spPr>
          <a:xfrm>
            <a:off x="3743908" y="1624626"/>
            <a:ext cx="792088" cy="292678"/>
          </a:xfrm>
          <a:prstGeom prst="rightArrow">
            <a:avLst>
              <a:gd name="adj1" fmla="val 50000"/>
              <a:gd name="adj2" fmla="val 54005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859EA9-4163-42D7-B663-C833F6626B32}"/>
                  </a:ext>
                </a:extLst>
              </p:cNvPr>
              <p:cNvSpPr txBox="1"/>
              <p:nvPr/>
            </p:nvSpPr>
            <p:spPr>
              <a:xfrm>
                <a:off x="4663825" y="1556792"/>
                <a:ext cx="32941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𝑡𝑓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859EA9-4163-42D7-B663-C833F6626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825" y="1556792"/>
                <a:ext cx="3294112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64042B2E-C0DD-40D7-B7E6-BE96DF0137ED}"/>
              </a:ext>
            </a:extLst>
          </p:cNvPr>
          <p:cNvSpPr/>
          <p:nvPr/>
        </p:nvSpPr>
        <p:spPr>
          <a:xfrm>
            <a:off x="7884368" y="1624258"/>
            <a:ext cx="792088" cy="292678"/>
          </a:xfrm>
          <a:prstGeom prst="rightArrow">
            <a:avLst>
              <a:gd name="adj1" fmla="val 50000"/>
              <a:gd name="adj2" fmla="val 54005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5129AF2F-474A-49A5-8D88-4D56B0D8036F}"/>
              </a:ext>
            </a:extLst>
          </p:cNvPr>
          <p:cNvSpPr/>
          <p:nvPr/>
        </p:nvSpPr>
        <p:spPr>
          <a:xfrm>
            <a:off x="395536" y="2348880"/>
            <a:ext cx="792088" cy="292678"/>
          </a:xfrm>
          <a:prstGeom prst="rightArrow">
            <a:avLst>
              <a:gd name="adj1" fmla="val 50000"/>
              <a:gd name="adj2" fmla="val 54005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BF38C5-3941-4F60-AA4A-B5CD925B40CF}"/>
                  </a:ext>
                </a:extLst>
              </p:cNvPr>
              <p:cNvSpPr txBox="1"/>
              <p:nvPr/>
            </p:nvSpPr>
            <p:spPr>
              <a:xfrm>
                <a:off x="1835696" y="2253229"/>
                <a:ext cx="2557688" cy="561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ru-RU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ru-RU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𝑡𝑓</m:t>
                                </m:r>
                              </m:e>
                            </m:d>
                            <m:r>
                              <a:rPr lang="ru-R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Re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𝑡𝑓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BF38C5-3941-4F60-AA4A-B5CD925B4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2253229"/>
                <a:ext cx="2557688" cy="5616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7F90ABD3-EB24-4693-A711-1B50AC82D7E6}"/>
              </a:ext>
            </a:extLst>
          </p:cNvPr>
          <p:cNvSpPr txBox="1"/>
          <p:nvPr/>
        </p:nvSpPr>
        <p:spPr>
          <a:xfrm>
            <a:off x="307050" y="2087270"/>
            <a:ext cx="16561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</a:t>
            </a: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 свойство)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A91F30-C283-410B-931B-0589DDCFF2DA}"/>
              </a:ext>
            </a:extLst>
          </p:cNvPr>
          <p:cNvSpPr txBox="1"/>
          <p:nvPr/>
        </p:nvSpPr>
        <p:spPr>
          <a:xfrm>
            <a:off x="107504" y="2636475"/>
            <a:ext cx="16561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(н-во Коши-Шварца) </a:t>
            </a:r>
          </a:p>
        </p:txBody>
      </p:sp>
      <p:sp>
        <p:nvSpPr>
          <p:cNvPr id="18" name="Стрелка: вправо 17">
            <a:extLst>
              <a:ext uri="{FF2B5EF4-FFF2-40B4-BE49-F238E27FC236}">
                <a16:creationId xmlns:a16="http://schemas.microsoft.com/office/drawing/2014/main" id="{0EC54FBD-EE13-4675-A97F-241D81E06243}"/>
              </a:ext>
            </a:extLst>
          </p:cNvPr>
          <p:cNvSpPr/>
          <p:nvPr/>
        </p:nvSpPr>
        <p:spPr>
          <a:xfrm>
            <a:off x="4716016" y="2348880"/>
            <a:ext cx="792088" cy="292678"/>
          </a:xfrm>
          <a:prstGeom prst="rightArrow">
            <a:avLst>
              <a:gd name="adj1" fmla="val 50000"/>
              <a:gd name="adj2" fmla="val 54005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21D167F-D9B0-4E53-8325-167559FDC6D4}"/>
                  </a:ext>
                </a:extLst>
              </p:cNvPr>
              <p:cNvSpPr txBox="1"/>
              <p:nvPr/>
            </p:nvSpPr>
            <p:spPr>
              <a:xfrm>
                <a:off x="4895528" y="2310553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21D167F-D9B0-4E53-8325-167559FDC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528" y="2310553"/>
                <a:ext cx="4572000" cy="369332"/>
              </a:xfrm>
              <a:prstGeom prst="rect">
                <a:avLst/>
              </a:prstGeom>
              <a:blipFill>
                <a:blip r:embed="rId5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FF0C13E-DC89-4BFB-A3F7-0A2CD0B1307B}"/>
              </a:ext>
            </a:extLst>
          </p:cNvPr>
          <p:cNvSpPr txBox="1"/>
          <p:nvPr/>
        </p:nvSpPr>
        <p:spPr>
          <a:xfrm>
            <a:off x="4276359" y="2123837"/>
            <a:ext cx="16561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интегрирование </a:t>
            </a:r>
          </a:p>
          <a:p>
            <a:pPr algn="ctr"/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частям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79DD4B6-5D00-4257-83DC-7F63B18787FD}"/>
                  </a:ext>
                </a:extLst>
              </p:cNvPr>
              <p:cNvSpPr txBox="1"/>
              <p:nvPr/>
            </p:nvSpPr>
            <p:spPr>
              <a:xfrm>
                <a:off x="1385018" y="4509120"/>
                <a:ext cx="6085184" cy="668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RU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‖"/>
                          <m:endChr m:val="‖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79DD4B6-5D00-4257-83DC-7F63B1878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018" y="4509120"/>
                <a:ext cx="6085184" cy="6685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4C3C13E-BC67-47D9-AB00-2439DA0FE161}"/>
                  </a:ext>
                </a:extLst>
              </p:cNvPr>
              <p:cNvSpPr txBox="1"/>
              <p:nvPr/>
            </p:nvSpPr>
            <p:spPr>
              <a:xfrm>
                <a:off x="323528" y="3737663"/>
                <a:ext cx="70831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любой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произвольных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справедливо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4C3C13E-BC67-47D9-AB00-2439DA0FE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737663"/>
                <a:ext cx="7083100" cy="369332"/>
              </a:xfrm>
              <a:prstGeom prst="rect">
                <a:avLst/>
              </a:prstGeom>
              <a:blipFill>
                <a:blip r:embed="rId7"/>
                <a:stretch>
                  <a:fillRect l="-688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746A96A7-B9E4-4FFD-9EEA-9D4A2492D21B}"/>
              </a:ext>
            </a:extLst>
          </p:cNvPr>
          <p:cNvCxnSpPr>
            <a:cxnSpLocks/>
          </p:cNvCxnSpPr>
          <p:nvPr/>
        </p:nvCxnSpPr>
        <p:spPr>
          <a:xfrm>
            <a:off x="179512" y="3284984"/>
            <a:ext cx="8784976" cy="0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1E14164A-F47F-4485-8907-14FDF2CC66B3}"/>
              </a:ext>
            </a:extLst>
          </p:cNvPr>
          <p:cNvSpPr/>
          <p:nvPr/>
        </p:nvSpPr>
        <p:spPr>
          <a:xfrm>
            <a:off x="1621076" y="4509901"/>
            <a:ext cx="5544616" cy="74172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12">
                <a:extLst>
                  <a:ext uri="{FF2B5EF4-FFF2-40B4-BE49-F238E27FC236}">
                    <a16:creationId xmlns:a16="http://schemas.microsoft.com/office/drawing/2014/main" id="{680796B3-DAAC-46C1-8EB2-B776A5F3CE9D}"/>
                  </a:ext>
                </a:extLst>
              </p:cNvPr>
              <p:cNvSpPr txBox="1"/>
              <p:nvPr/>
            </p:nvSpPr>
            <p:spPr bwMode="auto">
              <a:xfrm>
                <a:off x="1039540" y="5619311"/>
                <a:ext cx="5192712" cy="596900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d>
                        <m:dPr>
                          <m:ctrlPr>
                            <a:rPr lang="ru-RU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||=(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  <m:sSup>
                        <m:s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2" name="Object 12">
                <a:extLst>
                  <a:ext uri="{FF2B5EF4-FFF2-40B4-BE49-F238E27FC236}">
                    <a16:creationId xmlns:a16="http://schemas.microsoft.com/office/drawing/2014/main" id="{680796B3-DAAC-46C1-8EB2-B776A5F3C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9540" y="5619311"/>
                <a:ext cx="5192712" cy="596900"/>
              </a:xfrm>
              <a:prstGeom prst="rect">
                <a:avLst/>
              </a:prstGeom>
              <a:blipFill>
                <a:blip r:embed="rId8"/>
                <a:stretch>
                  <a:fillRect t="-158163" b="-2214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13">
                <a:extLst>
                  <a:ext uri="{FF2B5EF4-FFF2-40B4-BE49-F238E27FC236}">
                    <a16:creationId xmlns:a16="http://schemas.microsoft.com/office/drawing/2014/main" id="{D22F8F68-1A57-42AE-AFD1-DC2419FE28EB}"/>
                  </a:ext>
                </a:extLst>
              </p:cNvPr>
              <p:cNvSpPr txBox="1"/>
              <p:nvPr/>
            </p:nvSpPr>
            <p:spPr bwMode="auto">
              <a:xfrm>
                <a:off x="4716016" y="5595840"/>
                <a:ext cx="5273675" cy="596900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||=(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  <m:sSup>
                        <m:s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3" name="Object 13">
                <a:extLst>
                  <a:ext uri="{FF2B5EF4-FFF2-40B4-BE49-F238E27FC236}">
                    <a16:creationId xmlns:a16="http://schemas.microsoft.com/office/drawing/2014/main" id="{D22F8F68-1A57-42AE-AFD1-DC2419FE2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16016" y="5595840"/>
                <a:ext cx="5273675" cy="596900"/>
              </a:xfrm>
              <a:prstGeom prst="rect">
                <a:avLst/>
              </a:prstGeom>
              <a:blipFill>
                <a:blip r:embed="rId9"/>
                <a:stretch>
                  <a:fillRect t="-158163" b="-2214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37C6C3C1-5BDB-4BC6-951A-7AF99076C834}"/>
              </a:ext>
            </a:extLst>
          </p:cNvPr>
          <p:cNvSpPr txBox="1"/>
          <p:nvPr/>
        </p:nvSpPr>
        <p:spPr>
          <a:xfrm>
            <a:off x="351172" y="57096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</a:p>
        </p:txBody>
      </p:sp>
    </p:spTree>
    <p:extLst>
      <p:ext uri="{BB962C8B-B14F-4D97-AF65-F5344CB8AC3E}">
        <p14:creationId xmlns:p14="http://schemas.microsoft.com/office/powerpoint/2010/main" val="3944506978"/>
      </p:ext>
    </p:extLst>
  </p:cSld>
  <p:clrMapOvr>
    <a:masterClrMapping/>
  </p:clrMapOvr>
</p:sld>
</file>

<file path=ppt/theme/theme1.xml><?xml version="1.0" encoding="utf-8"?>
<a:theme xmlns:a="http://schemas.openxmlformats.org/drawingml/2006/main" name="1_По_умолчанию">
  <a:themeElements>
    <a:clrScheme name="1_По_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По_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По_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Спец_оформление">
  <a:themeElements>
    <a:clrScheme name="Спец_оформлени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пец_оформление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Спец_оформлени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11522</TotalTime>
  <Words>1902</Words>
  <Application>Microsoft Office PowerPoint</Application>
  <PresentationFormat>Экран (4:3)</PresentationFormat>
  <Paragraphs>306</Paragraphs>
  <Slides>36</Slides>
  <Notes>2</Notes>
  <HiddenSlides>0</HiddenSlides>
  <MMClips>3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2" baseType="lpstr">
      <vt:lpstr>Arial</vt:lpstr>
      <vt:lpstr>Cambria Math</vt:lpstr>
      <vt:lpstr>Times New Roman</vt:lpstr>
      <vt:lpstr>1_По_умолчанию</vt:lpstr>
      <vt:lpstr>Спец_оформление</vt:lpstr>
      <vt:lpstr>Equation</vt:lpstr>
      <vt:lpstr>Презентация PowerPoint</vt:lpstr>
      <vt:lpstr>Мотивация</vt:lpstr>
      <vt:lpstr>Мотивация </vt:lpstr>
      <vt:lpstr>Интегрированные системы мониторинга (SHM)</vt:lpstr>
      <vt:lpstr>Бегущие упругие волны или elastic guided waves</vt:lpstr>
      <vt:lpstr>Бегущие упругие волны или elastic guided waves</vt:lpstr>
      <vt:lpstr>Примеры реализации</vt:lpstr>
      <vt:lpstr>Базовые «манипуляции» с сигналами</vt:lpstr>
      <vt:lpstr>Пример использования Фурье-анализа</vt:lpstr>
      <vt:lpstr>Подготовка данных для ML</vt:lpstr>
      <vt:lpstr>Краткое содержание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Фурье-анализ</vt:lpstr>
      <vt:lpstr>Фурье-анализ</vt:lpstr>
      <vt:lpstr>Фурье-анализ</vt:lpstr>
      <vt:lpstr>Презентация PowerPoint</vt:lpstr>
      <vt:lpstr>Фурье-анализ</vt:lpstr>
      <vt:lpstr>Фурье-анализ</vt:lpstr>
      <vt:lpstr>Презентация PowerPoint</vt:lpstr>
      <vt:lpstr>Презентация PowerPoint</vt:lpstr>
      <vt:lpstr>Фурье-анализ</vt:lpstr>
      <vt:lpstr>Фурье-анализ</vt:lpstr>
      <vt:lpstr>Фурье-анализ</vt:lpstr>
      <vt:lpstr>Презентация PowerPoint</vt:lpstr>
      <vt:lpstr>Фурье-анализ</vt:lpstr>
      <vt:lpstr>Фурье-анализ</vt:lpstr>
      <vt:lpstr>Фурье-анализ</vt:lpstr>
      <vt:lpstr>Презентация PowerPoint</vt:lpstr>
      <vt:lpstr>Фурье-анализ</vt:lpstr>
      <vt:lpstr>Фурье-анализ</vt:lpstr>
    </vt:vector>
  </TitlesOfParts>
  <Company>+++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Тёмыч</dc:creator>
  <cp:lastModifiedBy>Artery</cp:lastModifiedBy>
  <cp:revision>799</cp:revision>
  <dcterms:created xsi:type="dcterms:W3CDTF">2005-11-19T10:53:17Z</dcterms:created>
  <dcterms:modified xsi:type="dcterms:W3CDTF">2025-09-10T08:03:12Z</dcterms:modified>
</cp:coreProperties>
</file>