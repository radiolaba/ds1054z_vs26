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1" r:id="rId2"/>
    <p:sldMasterId id="2147483652" r:id="rId3"/>
    <p:sldMasterId id="2147483688" r:id="rId4"/>
  </p:sldMasterIdLst>
  <p:notesMasterIdLst>
    <p:notesMasterId r:id="rId42"/>
  </p:notesMasterIdLst>
  <p:handoutMasterIdLst>
    <p:handoutMasterId r:id="rId43"/>
  </p:handoutMasterIdLst>
  <p:sldIdLst>
    <p:sldId id="330" r:id="rId5"/>
    <p:sldId id="446" r:id="rId6"/>
    <p:sldId id="447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56" r:id="rId16"/>
    <p:sldId id="458" r:id="rId17"/>
    <p:sldId id="457" r:id="rId18"/>
    <p:sldId id="459" r:id="rId19"/>
    <p:sldId id="460" r:id="rId20"/>
    <p:sldId id="461" r:id="rId21"/>
    <p:sldId id="462" r:id="rId22"/>
    <p:sldId id="463" r:id="rId23"/>
    <p:sldId id="464" r:id="rId24"/>
    <p:sldId id="465" r:id="rId25"/>
    <p:sldId id="466" r:id="rId26"/>
    <p:sldId id="467" r:id="rId27"/>
    <p:sldId id="468" r:id="rId28"/>
    <p:sldId id="469" r:id="rId29"/>
    <p:sldId id="470" r:id="rId30"/>
    <p:sldId id="471" r:id="rId31"/>
    <p:sldId id="472" r:id="rId32"/>
    <p:sldId id="473" r:id="rId33"/>
    <p:sldId id="474" r:id="rId34"/>
    <p:sldId id="476" r:id="rId35"/>
    <p:sldId id="475" r:id="rId36"/>
    <p:sldId id="477" r:id="rId37"/>
    <p:sldId id="478" r:id="rId38"/>
    <p:sldId id="479" r:id="rId39"/>
    <p:sldId id="480" r:id="rId40"/>
    <p:sldId id="481" r:id="rId41"/>
  </p:sldIdLst>
  <p:sldSz cx="9144000" cy="6858000" type="screen4x3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0099"/>
    <a:srgbClr val="33CC33"/>
    <a:srgbClr val="00FF00"/>
    <a:srgbClr val="009900"/>
    <a:srgbClr val="CC33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98" autoAdjust="0"/>
    <p:restoredTop sz="94646" autoAdjust="0"/>
  </p:normalViewPr>
  <p:slideViewPr>
    <p:cSldViewPr>
      <p:cViewPr varScale="1">
        <p:scale>
          <a:sx n="43" d="100"/>
          <a:sy n="43" d="100"/>
        </p:scale>
        <p:origin x="115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936" y="-8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C6DA4C8-B91F-4E53-A68C-51EF85D21E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86C4D70-5135-4FF9-B64A-F0201371F2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86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188913"/>
            <a:ext cx="2171700" cy="621188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28600" y="188913"/>
            <a:ext cx="6362700" cy="62118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228600" y="188913"/>
            <a:ext cx="8686800" cy="6211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86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188913"/>
            <a:ext cx="2171700" cy="621188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28600" y="188913"/>
            <a:ext cx="6362700" cy="62118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228600" y="188913"/>
            <a:ext cx="8686800" cy="6211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88913"/>
            <a:ext cx="86868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um.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8413"/>
            <a:ext cx="8686800" cy="513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 Master-Textformat zu bearbeiten.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pic>
        <p:nvPicPr>
          <p:cNvPr id="23556" name="Picture 4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9788" y="6453188"/>
            <a:ext cx="468312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655" name="Line 7"/>
          <p:cNvSpPr>
            <a:spLocks noChangeShapeType="1"/>
          </p:cNvSpPr>
          <p:nvPr userDrawn="1"/>
        </p:nvSpPr>
        <p:spPr bwMode="auto">
          <a:xfrm>
            <a:off x="179388" y="6381750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411656" name="Line 8"/>
          <p:cNvSpPr>
            <a:spLocks noChangeShapeType="1"/>
          </p:cNvSpPr>
          <p:nvPr userDrawn="1"/>
        </p:nvSpPr>
        <p:spPr bwMode="auto">
          <a:xfrm>
            <a:off x="250825" y="620713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pic>
        <p:nvPicPr>
          <p:cNvPr id="23560" name="Picture 12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15900" y="6453188"/>
            <a:ext cx="46831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685800" y="2286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1371600" y="25908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endParaRPr lang="de-DE" sz="3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ChangeArrowheads="1"/>
          </p:cNvSpPr>
          <p:nvPr/>
        </p:nvSpPr>
        <p:spPr bwMode="auto">
          <a:xfrm>
            <a:off x="685800" y="2286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506883" name="Rectangle 3"/>
          <p:cNvSpPr>
            <a:spLocks noChangeArrowheads="1"/>
          </p:cNvSpPr>
          <p:nvPr/>
        </p:nvSpPr>
        <p:spPr bwMode="auto">
          <a:xfrm>
            <a:off x="1371600" y="25908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endParaRPr lang="de-DE" sz="3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88913"/>
            <a:ext cx="86868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um.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8413"/>
            <a:ext cx="8686800" cy="513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, um Master-</a:t>
            </a:r>
            <a:r>
              <a:rPr lang="en-US" dirty="0" err="1"/>
              <a:t>Textformat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bearbeiten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Zweite</a:t>
            </a:r>
            <a:r>
              <a:rPr lang="en-US" dirty="0"/>
              <a:t> Ebene</a:t>
            </a:r>
          </a:p>
          <a:p>
            <a:pPr lvl="2"/>
            <a:r>
              <a:rPr lang="en-US" dirty="0" err="1"/>
              <a:t>Dritte</a:t>
            </a:r>
            <a:r>
              <a:rPr lang="en-US" dirty="0"/>
              <a:t> Ebene</a:t>
            </a:r>
          </a:p>
          <a:p>
            <a:pPr lvl="3"/>
            <a:r>
              <a:rPr lang="en-US" dirty="0" err="1"/>
              <a:t>Vierte</a:t>
            </a:r>
            <a:r>
              <a:rPr lang="en-US" dirty="0"/>
              <a:t> Ebene</a:t>
            </a:r>
          </a:p>
          <a:p>
            <a:pPr lvl="4"/>
            <a:r>
              <a:rPr lang="en-US" dirty="0" err="1"/>
              <a:t>Fünfte</a:t>
            </a:r>
            <a:r>
              <a:rPr lang="en-US" dirty="0"/>
              <a:t> Ebene</a:t>
            </a:r>
          </a:p>
        </p:txBody>
      </p:sp>
      <p:pic>
        <p:nvPicPr>
          <p:cNvPr id="23556" name="Picture 4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9788" y="6453188"/>
            <a:ext cx="468312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655" name="Line 7"/>
          <p:cNvSpPr>
            <a:spLocks noChangeShapeType="1"/>
          </p:cNvSpPr>
          <p:nvPr userDrawn="1"/>
        </p:nvSpPr>
        <p:spPr bwMode="auto">
          <a:xfrm>
            <a:off x="179388" y="6381750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11656" name="Line 8"/>
          <p:cNvSpPr>
            <a:spLocks noChangeShapeType="1"/>
          </p:cNvSpPr>
          <p:nvPr userDrawn="1"/>
        </p:nvSpPr>
        <p:spPr bwMode="auto">
          <a:xfrm>
            <a:off x="250825" y="620713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pic>
        <p:nvPicPr>
          <p:cNvPr id="23560" name="Picture 12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15900" y="6453188"/>
            <a:ext cx="46831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36.w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6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82.png"/><Relationship Id="rId4" Type="http://schemas.openxmlformats.org/officeDocument/2006/relationships/image" Target="../media/image9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ChangeArrowheads="1"/>
          </p:cNvSpPr>
          <p:nvPr/>
        </p:nvSpPr>
        <p:spPr bwMode="auto">
          <a:xfrm>
            <a:off x="179388" y="785794"/>
            <a:ext cx="8785225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4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Математические основы цифровой обработки сигналов</a:t>
            </a:r>
            <a:endParaRPr lang="en-US" sz="48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03F381-0E59-FBA7-B20B-BCE3B58FB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4293096"/>
            <a:ext cx="817290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rgbClr val="C00000"/>
                </a:solidFill>
              </a:rPr>
              <a:t>Лекция 4</a:t>
            </a:r>
            <a:r>
              <a:rPr lang="ru-RU" sz="3000" b="1">
                <a:solidFill>
                  <a:srgbClr val="C00000"/>
                </a:solidFill>
              </a:rPr>
              <a:t>: аналоговые </a:t>
            </a:r>
            <a:r>
              <a:rPr lang="ru-RU" sz="3000" b="1" dirty="0">
                <a:solidFill>
                  <a:srgbClr val="C00000"/>
                </a:solidFill>
              </a:rPr>
              <a:t>фильтры</a:t>
            </a:r>
            <a:endParaRPr lang="en-US" sz="3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215516" y="2613392"/>
            <a:ext cx="8712968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sz="5000" b="1" dirty="0">
                <a:solidFill>
                  <a:srgbClr val="C00000"/>
                </a:solidFill>
              </a:rPr>
              <a:t>Преобразование Лапласа и </a:t>
            </a:r>
            <a:r>
              <a:rPr lang="en-US" sz="5000" b="1" dirty="0">
                <a:solidFill>
                  <a:srgbClr val="C00000"/>
                </a:solidFill>
              </a:rPr>
              <a:t>Z-</a:t>
            </a:r>
            <a:r>
              <a:rPr lang="ru-RU" sz="5000" b="1" dirty="0">
                <a:solidFill>
                  <a:srgbClr val="C00000"/>
                </a:solidFill>
              </a:rPr>
              <a:t>преобразование</a:t>
            </a:r>
            <a:endParaRPr lang="en-US" sz="5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600" b="1" kern="0" dirty="0">
                <a:solidFill>
                  <a:srgbClr val="000099"/>
                </a:solidFill>
              </a:rPr>
              <a:t>Преобразование Лапласа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C5DC38D-D333-E54C-B265-DA2A67679263}"/>
              </a:ext>
            </a:extLst>
          </p:cNvPr>
          <p:cNvGrpSpPr/>
          <p:nvPr/>
        </p:nvGrpSpPr>
        <p:grpSpPr>
          <a:xfrm>
            <a:off x="1338535" y="730323"/>
            <a:ext cx="6466931" cy="1718156"/>
            <a:chOff x="1187624" y="730323"/>
            <a:chExt cx="6466931" cy="1718156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5DBDCCA0-A053-68C7-6128-14B7CDDF5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7624" y="730323"/>
              <a:ext cx="6192688" cy="1684575"/>
            </a:xfrm>
            <a:prstGeom prst="rect">
              <a:avLst/>
            </a:prstGeom>
          </p:spPr>
        </p:pic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FF6E20B-2A69-91B2-D1CB-48E9557F1072}"/>
                </a:ext>
              </a:extLst>
            </p:cNvPr>
            <p:cNvSpPr/>
            <p:nvPr/>
          </p:nvSpPr>
          <p:spPr>
            <a:xfrm>
              <a:off x="6732240" y="1526164"/>
              <a:ext cx="922315" cy="9223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4242AF2-E595-3A7F-9851-3CC878B0DAD7}"/>
              </a:ext>
            </a:extLst>
          </p:cNvPr>
          <p:cNvGrpSpPr/>
          <p:nvPr/>
        </p:nvGrpSpPr>
        <p:grpSpPr>
          <a:xfrm>
            <a:off x="1451778" y="2348880"/>
            <a:ext cx="6240444" cy="1841975"/>
            <a:chOff x="1451778" y="2348880"/>
            <a:chExt cx="6240444" cy="1841975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FD271EA4-7EB9-D020-9221-F9D51FDE8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1778" y="2708920"/>
              <a:ext cx="6240444" cy="148193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C8526D-F1A5-D021-5092-F088C0912195}"/>
                </a:ext>
              </a:extLst>
            </p:cNvPr>
            <p:cNvSpPr txBox="1"/>
            <p:nvPr/>
          </p:nvSpPr>
          <p:spPr>
            <a:xfrm>
              <a:off x="2081799" y="2348880"/>
              <a:ext cx="4980401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Оригинал 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должен удовлетворять условиям</a:t>
              </a: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4449D9-B53B-B4ED-C9D3-B6545B0CF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444" y="4409522"/>
            <a:ext cx="6221112" cy="184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600" b="1" kern="0" dirty="0">
                <a:solidFill>
                  <a:srgbClr val="000099"/>
                </a:solidFill>
              </a:rPr>
              <a:t>Преобразование Лапласа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79C839-8E8D-F9D1-14EB-9378A4A30D36}"/>
              </a:ext>
            </a:extLst>
          </p:cNvPr>
          <p:cNvSpPr txBox="1"/>
          <p:nvPr/>
        </p:nvSpPr>
        <p:spPr>
          <a:xfrm>
            <a:off x="2160731" y="740023"/>
            <a:ext cx="482253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 обратного преобразования Лапласа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BAF77FF-A198-4577-DE0C-82F7D0747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61" y="1124744"/>
            <a:ext cx="4560879" cy="934323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822BEE6-FFD4-CEFB-7387-C0439B79EB4D}"/>
              </a:ext>
            </a:extLst>
          </p:cNvPr>
          <p:cNvGrpSpPr/>
          <p:nvPr/>
        </p:nvGrpSpPr>
        <p:grpSpPr>
          <a:xfrm>
            <a:off x="1514283" y="2204864"/>
            <a:ext cx="6115434" cy="3422124"/>
            <a:chOff x="1514283" y="2204864"/>
            <a:chExt cx="6115434" cy="3422124"/>
          </a:xfrm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89E72FA6-4CE7-B272-260F-A1FC99EFE2A1}"/>
                </a:ext>
              </a:extLst>
            </p:cNvPr>
            <p:cNvGrpSpPr/>
            <p:nvPr/>
          </p:nvGrpSpPr>
          <p:grpSpPr>
            <a:xfrm>
              <a:off x="1514283" y="2204864"/>
              <a:ext cx="6115434" cy="2016224"/>
              <a:chOff x="1514283" y="2204864"/>
              <a:chExt cx="6115434" cy="2016224"/>
            </a:xfrm>
          </p:grpSpPr>
          <p:pic>
            <p:nvPicPr>
              <p:cNvPr id="13" name="Рисунок 12">
                <a:extLst>
                  <a:ext uri="{FF2B5EF4-FFF2-40B4-BE49-F238E27FC236}">
                    <a16:creationId xmlns:a16="http://schemas.microsoft.com/office/drawing/2014/main" id="{89F6FCFC-1FFC-FC08-F2A8-F1AD7F588E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4283" y="2204864"/>
                <a:ext cx="6115434" cy="2016224"/>
              </a:xfrm>
              <a:prstGeom prst="rect">
                <a:avLst/>
              </a:prstGeom>
            </p:spPr>
          </p:pic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A8993378-A1CC-2EED-B4D0-7EB3F6BCD998}"/>
                  </a:ext>
                </a:extLst>
              </p:cNvPr>
              <p:cNvSpPr/>
              <p:nvPr/>
            </p:nvSpPr>
            <p:spPr>
              <a:xfrm>
                <a:off x="6732240" y="3429000"/>
                <a:ext cx="897477" cy="6480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90C1F8-E236-FDA9-33D3-9FE33BFA6FBB}"/>
                </a:ext>
              </a:extLst>
            </p:cNvPr>
            <p:cNvSpPr txBox="1"/>
            <p:nvPr/>
          </p:nvSpPr>
          <p:spPr>
            <a:xfrm>
              <a:off x="1514283" y="4365104"/>
              <a:ext cx="6115434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Одностороннее преобразование Лапласа является следствием двустороннего, если положить, что 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= 0 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при 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0. 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При этом форма обратного преобразования остается прежней.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322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600" b="1" kern="0" dirty="0">
                <a:solidFill>
                  <a:srgbClr val="000099"/>
                </a:solidFill>
              </a:rPr>
              <a:t>Преобразование Лапласа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79C839-8E8D-F9D1-14EB-9378A4A30D36}"/>
              </a:ext>
            </a:extLst>
          </p:cNvPr>
          <p:cNvSpPr txBox="1"/>
          <p:nvPr/>
        </p:nvSpPr>
        <p:spPr>
          <a:xfrm>
            <a:off x="2694792" y="740023"/>
            <a:ext cx="375442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 преобразования Лапласа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773750-9D48-ACB2-FDEB-DA396BB70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4" y="1124744"/>
            <a:ext cx="5508612" cy="381642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C50182-963D-858A-0795-469633238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951" y="3933056"/>
            <a:ext cx="3821529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84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kern="0" dirty="0">
                <a:solidFill>
                  <a:srgbClr val="000099"/>
                </a:solidFill>
              </a:rPr>
              <a:t>Z</a:t>
            </a:r>
            <a:r>
              <a:rPr lang="ru-RU" sz="3600" b="1" kern="0" dirty="0">
                <a:solidFill>
                  <a:srgbClr val="000099"/>
                </a:solidFill>
              </a:rPr>
              <a:t> </a:t>
            </a:r>
            <a:r>
              <a:rPr lang="en-US" sz="3600" b="1" kern="0" dirty="0">
                <a:solidFill>
                  <a:srgbClr val="000099"/>
                </a:solidFill>
              </a:rPr>
              <a:t>–</a:t>
            </a:r>
            <a:r>
              <a:rPr lang="ru-RU" sz="3600" b="1" kern="0" dirty="0">
                <a:solidFill>
                  <a:srgbClr val="000099"/>
                </a:solidFill>
              </a:rPr>
              <a:t> преобразование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73CEB-38B8-CBE8-3E30-5D7184E5235D}"/>
              </a:ext>
            </a:extLst>
          </p:cNvPr>
          <p:cNvSpPr txBox="1"/>
          <p:nvPr/>
        </p:nvSpPr>
        <p:spPr>
          <a:xfrm>
            <a:off x="228600" y="764704"/>
            <a:ext cx="868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(или преобразование Лорана) = дискретный аналог преобразования Лапласа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E2E7CE12-A623-A493-A300-2009DE1AA269}"/>
              </a:ext>
            </a:extLst>
          </p:cNvPr>
          <p:cNvGrpSpPr/>
          <p:nvPr/>
        </p:nvGrpSpPr>
        <p:grpSpPr>
          <a:xfrm>
            <a:off x="228600" y="1556792"/>
            <a:ext cx="8686800" cy="1800200"/>
            <a:chOff x="228600" y="1556792"/>
            <a:chExt cx="8686800" cy="18002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2D7A0C-2F87-6A2F-B1B9-395E1094D5D4}"/>
                </a:ext>
              </a:extLst>
            </p:cNvPr>
            <p:cNvSpPr txBox="1"/>
            <p:nvPr/>
          </p:nvSpPr>
          <p:spPr>
            <a:xfrm>
              <a:off x="228600" y="1556792"/>
              <a:ext cx="868680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Одностороннее 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Z-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преобразование вещественной или комплексной последовательности 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), n = 0,1,2,… 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определяется рядом</a:t>
              </a:r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2AF00A57-F0D9-ACF4-3386-9171B10D5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9425" y="2233900"/>
              <a:ext cx="3105150" cy="762000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38932223-251B-C787-98C0-C91A1E284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528" y="3052192"/>
              <a:ext cx="6305550" cy="3048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8762E9-5A69-2EE5-FEE3-D683AA93E63D}"/>
              </a:ext>
            </a:extLst>
          </p:cNvPr>
          <p:cNvSpPr txBox="1"/>
          <p:nvPr/>
        </p:nvSpPr>
        <p:spPr>
          <a:xfrm>
            <a:off x="6390456" y="2430234"/>
            <a:ext cx="4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(*)</a:t>
            </a:r>
            <a:endParaRPr lang="ru-RU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E76B5D6B-A954-308C-753B-07956D952DDA}"/>
              </a:ext>
            </a:extLst>
          </p:cNvPr>
          <p:cNvGrpSpPr/>
          <p:nvPr/>
        </p:nvGrpSpPr>
        <p:grpSpPr>
          <a:xfrm>
            <a:off x="228600" y="3501009"/>
            <a:ext cx="8686800" cy="2814547"/>
            <a:chOff x="228600" y="3501009"/>
            <a:chExt cx="8686800" cy="281454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5AA043D-CDCF-B02C-FB56-87466EF0764B}"/>
                </a:ext>
              </a:extLst>
            </p:cNvPr>
            <p:cNvSpPr txBox="1"/>
            <p:nvPr/>
          </p:nvSpPr>
          <p:spPr>
            <a:xfrm>
              <a:off x="228600" y="3501009"/>
              <a:ext cx="8686800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Данное преобразование, однозначно связывающее последовательность 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и функцию комплексного переменного 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справедливо только в области сходимости ряда (*).</a:t>
              </a: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C9626572-2CA9-2977-B150-81DB2BFD3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432" y="4473208"/>
              <a:ext cx="6410325" cy="1504950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0801DE60-116A-E6D1-3DEF-E57128551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29462" y="5966447"/>
              <a:ext cx="3685938" cy="34910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2AA514-C7DD-C9DB-D64B-D4E2C30626CD}"/>
                </a:ext>
              </a:extLst>
            </p:cNvPr>
            <p:cNvSpPr txBox="1"/>
            <p:nvPr/>
          </p:nvSpPr>
          <p:spPr>
            <a:xfrm>
              <a:off x="3707904" y="5900935"/>
              <a:ext cx="1598712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сходится при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247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kern="0" dirty="0">
                <a:solidFill>
                  <a:srgbClr val="000099"/>
                </a:solidFill>
              </a:rPr>
              <a:t>Z</a:t>
            </a:r>
            <a:r>
              <a:rPr lang="ru-RU" sz="3600" b="1" kern="0" dirty="0">
                <a:solidFill>
                  <a:srgbClr val="000099"/>
                </a:solidFill>
              </a:rPr>
              <a:t> </a:t>
            </a:r>
            <a:r>
              <a:rPr lang="en-US" sz="3600" b="1" kern="0" dirty="0">
                <a:solidFill>
                  <a:srgbClr val="000099"/>
                </a:solidFill>
              </a:rPr>
              <a:t>–</a:t>
            </a:r>
            <a:r>
              <a:rPr lang="ru-RU" sz="3600" b="1" kern="0" dirty="0">
                <a:solidFill>
                  <a:srgbClr val="000099"/>
                </a:solidFill>
              </a:rPr>
              <a:t> преобразование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73CEB-38B8-CBE8-3E30-5D7184E5235D}"/>
              </a:ext>
            </a:extLst>
          </p:cNvPr>
          <p:cNvSpPr txBox="1"/>
          <p:nvPr/>
        </p:nvSpPr>
        <p:spPr>
          <a:xfrm>
            <a:off x="228600" y="692696"/>
            <a:ext cx="86868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245C513-B244-CC09-B77F-F86091EC9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644" y="1324909"/>
            <a:ext cx="6408712" cy="304779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1B4318-8E49-D085-0D8E-2EC33B952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722" y="4437112"/>
            <a:ext cx="6228267" cy="1152128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77A57B0-8B3C-1164-B95D-9BD0FD19AFDF}"/>
              </a:ext>
            </a:extLst>
          </p:cNvPr>
          <p:cNvSpPr/>
          <p:nvPr/>
        </p:nvSpPr>
        <p:spPr>
          <a:xfrm>
            <a:off x="6205538" y="4742236"/>
            <a:ext cx="366712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FBDA73-DC75-3F17-9F7D-198E085CA98C}"/>
              </a:ext>
            </a:extLst>
          </p:cNvPr>
          <p:cNvSpPr txBox="1"/>
          <p:nvPr/>
        </p:nvSpPr>
        <p:spPr>
          <a:xfrm>
            <a:off x="6254006" y="4648800"/>
            <a:ext cx="269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4889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kern="0" dirty="0">
                <a:solidFill>
                  <a:srgbClr val="000099"/>
                </a:solidFill>
              </a:rPr>
              <a:t>Z</a:t>
            </a:r>
            <a:r>
              <a:rPr lang="ru-RU" sz="3600" b="1" kern="0" dirty="0">
                <a:solidFill>
                  <a:srgbClr val="000099"/>
                </a:solidFill>
              </a:rPr>
              <a:t> </a:t>
            </a:r>
            <a:r>
              <a:rPr lang="en-US" sz="3600" b="1" kern="0" dirty="0">
                <a:solidFill>
                  <a:srgbClr val="000099"/>
                </a:solidFill>
              </a:rPr>
              <a:t>–</a:t>
            </a:r>
            <a:r>
              <a:rPr lang="ru-RU" sz="3600" b="1" kern="0" dirty="0">
                <a:solidFill>
                  <a:srgbClr val="000099"/>
                </a:solidFill>
              </a:rPr>
              <a:t> преобразование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73CEB-38B8-CBE8-3E30-5D7184E5235D}"/>
              </a:ext>
            </a:extLst>
          </p:cNvPr>
          <p:cNvSpPr txBox="1"/>
          <p:nvPr/>
        </p:nvSpPr>
        <p:spPr>
          <a:xfrm>
            <a:off x="228600" y="692696"/>
            <a:ext cx="86868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DDDAF0-FBF8-F96C-DDAE-5210090BD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385" y="1124744"/>
            <a:ext cx="6511230" cy="28805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52DD06-DB07-662E-809D-B168EFCA3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384" y="3933056"/>
            <a:ext cx="6511231" cy="74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5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kern="0" dirty="0">
                <a:solidFill>
                  <a:srgbClr val="000099"/>
                </a:solidFill>
              </a:rPr>
              <a:t>Z</a:t>
            </a:r>
            <a:r>
              <a:rPr lang="ru-RU" sz="3600" b="1" kern="0" dirty="0">
                <a:solidFill>
                  <a:srgbClr val="000099"/>
                </a:solidFill>
              </a:rPr>
              <a:t> </a:t>
            </a:r>
            <a:r>
              <a:rPr lang="en-US" sz="3600" b="1" kern="0" dirty="0">
                <a:solidFill>
                  <a:srgbClr val="000099"/>
                </a:solidFill>
              </a:rPr>
              <a:t>–</a:t>
            </a:r>
            <a:r>
              <a:rPr lang="ru-RU" sz="3600" b="1" kern="0" dirty="0">
                <a:solidFill>
                  <a:srgbClr val="000099"/>
                </a:solidFill>
              </a:rPr>
              <a:t> преобразование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73CEB-38B8-CBE8-3E30-5D7184E5235D}"/>
              </a:ext>
            </a:extLst>
          </p:cNvPr>
          <p:cNvSpPr txBox="1"/>
          <p:nvPr/>
        </p:nvSpPr>
        <p:spPr>
          <a:xfrm>
            <a:off x="228600" y="692696"/>
            <a:ext cx="86868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52DD06-DB07-662E-809D-B168EFCA3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384" y="3933056"/>
            <a:ext cx="6511231" cy="7457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265A4D-A967-5D5D-8143-4639331D4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384" y="1180055"/>
            <a:ext cx="6511229" cy="449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8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kern="0" dirty="0">
                <a:solidFill>
                  <a:srgbClr val="000099"/>
                </a:solidFill>
              </a:rPr>
              <a:t>Z</a:t>
            </a:r>
            <a:r>
              <a:rPr lang="ru-RU" sz="3600" b="1" kern="0" dirty="0">
                <a:solidFill>
                  <a:srgbClr val="000099"/>
                </a:solidFill>
              </a:rPr>
              <a:t> </a:t>
            </a:r>
            <a:r>
              <a:rPr lang="en-US" sz="3600" b="1" kern="0" dirty="0">
                <a:solidFill>
                  <a:srgbClr val="000099"/>
                </a:solidFill>
              </a:rPr>
              <a:t>–</a:t>
            </a:r>
            <a:r>
              <a:rPr lang="ru-RU" sz="3600" b="1" kern="0" dirty="0">
                <a:solidFill>
                  <a:srgbClr val="000099"/>
                </a:solidFill>
              </a:rPr>
              <a:t> преобразование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73CEB-38B8-CBE8-3E30-5D7184E5235D}"/>
              </a:ext>
            </a:extLst>
          </p:cNvPr>
          <p:cNvSpPr txBox="1"/>
          <p:nvPr/>
        </p:nvSpPr>
        <p:spPr>
          <a:xfrm>
            <a:off x="228600" y="692696"/>
            <a:ext cx="868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Обратное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ставит в соответствие функции комплексного переменного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дискретную последовательность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формуле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FC3DB30-239E-5A7C-3588-42E6CDC95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64" y="1369805"/>
            <a:ext cx="3254673" cy="9823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3E93EC-B708-5E05-5859-E9C54F7B2BBD}"/>
              </a:ext>
            </a:extLst>
          </p:cNvPr>
          <p:cNvSpPr txBox="1"/>
          <p:nvPr/>
        </p:nvSpPr>
        <p:spPr>
          <a:xfrm>
            <a:off x="228600" y="2352187"/>
            <a:ext cx="868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замкнутый контур, расположенный в области сходимости ряда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9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охватывающий начало координат в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плоскости.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E0C800A7-132F-8907-042E-129CCC792049}"/>
              </a:ext>
            </a:extLst>
          </p:cNvPr>
          <p:cNvGrpSpPr/>
          <p:nvPr/>
        </p:nvGrpSpPr>
        <p:grpSpPr>
          <a:xfrm>
            <a:off x="228600" y="2996015"/>
            <a:ext cx="8686800" cy="1537786"/>
            <a:chOff x="228600" y="2996015"/>
            <a:chExt cx="8686800" cy="153778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B652A3F-E0A9-7579-0D9C-E10F27E7C400}"/>
                </a:ext>
              </a:extLst>
            </p:cNvPr>
            <p:cNvSpPr txBox="1"/>
            <p:nvPr/>
          </p:nvSpPr>
          <p:spPr>
            <a:xfrm>
              <a:off x="228600" y="2996015"/>
              <a:ext cx="86868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 использованием теоремы о вычетах можно получить:</a:t>
              </a:r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30B793D4-B8F5-876B-C30F-52E9A7DC3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47975" y="3477265"/>
              <a:ext cx="3448050" cy="75247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297988-27D3-03DE-FB39-F982A66C1296}"/>
                </a:ext>
              </a:extLst>
            </p:cNvPr>
            <p:cNvSpPr txBox="1"/>
            <p:nvPr/>
          </p:nvSpPr>
          <p:spPr>
            <a:xfrm>
              <a:off x="228600" y="4149080"/>
              <a:ext cx="86868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где </a:t>
              </a:r>
              <a:r>
                <a:rPr lang="el-GR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ζ</a:t>
              </a:r>
              <a:r>
                <a:rPr lang="en-US" sz="19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полюса функции 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), 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лежащие внутри контура </a:t>
              </a:r>
              <a:r>
                <a:rPr lang="en-US" sz="1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F82BE48-0A96-2D13-2AD2-C7D035125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04" y="4998084"/>
            <a:ext cx="7128792" cy="99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64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kern="0" dirty="0">
                <a:solidFill>
                  <a:srgbClr val="000099"/>
                </a:solidFill>
              </a:rPr>
              <a:t>Z</a:t>
            </a:r>
            <a:r>
              <a:rPr lang="ru-RU" sz="3600" b="1" kern="0" dirty="0">
                <a:solidFill>
                  <a:srgbClr val="000099"/>
                </a:solidFill>
              </a:rPr>
              <a:t> </a:t>
            </a:r>
            <a:r>
              <a:rPr lang="en-US" sz="3600" b="1" kern="0" dirty="0">
                <a:solidFill>
                  <a:srgbClr val="000099"/>
                </a:solidFill>
              </a:rPr>
              <a:t>–</a:t>
            </a:r>
            <a:r>
              <a:rPr lang="ru-RU" sz="3600" b="1" kern="0" dirty="0">
                <a:solidFill>
                  <a:srgbClr val="000099"/>
                </a:solidFill>
              </a:rPr>
              <a:t> преобразование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296BA5-DEFB-0340-E5B5-1073A47DE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2" y="1114425"/>
            <a:ext cx="5857875" cy="4629150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63DC0F0-1D34-D098-1564-E92A50B60A54}"/>
              </a:ext>
            </a:extLst>
          </p:cNvPr>
          <p:cNvGrpSpPr/>
          <p:nvPr/>
        </p:nvGrpSpPr>
        <p:grpSpPr>
          <a:xfrm>
            <a:off x="1666875" y="1666875"/>
            <a:ext cx="5810250" cy="3524250"/>
            <a:chOff x="1666875" y="1666875"/>
            <a:chExt cx="5810250" cy="3524250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644B7DF2-FC7B-00F2-298E-C5B75A221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6875" y="1666875"/>
              <a:ext cx="5810250" cy="3524250"/>
            </a:xfrm>
            <a:prstGeom prst="rect">
              <a:avLst/>
            </a:prstGeom>
          </p:spPr>
        </p:pic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3BF865E2-0A45-8089-509F-34D5535EF6DD}"/>
                </a:ext>
              </a:extLst>
            </p:cNvPr>
            <p:cNvSpPr/>
            <p:nvPr/>
          </p:nvSpPr>
          <p:spPr>
            <a:xfrm>
              <a:off x="3203848" y="3794760"/>
              <a:ext cx="1728192" cy="2594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1423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215516" y="2613392"/>
            <a:ext cx="8712968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sz="5000" b="1" dirty="0">
                <a:solidFill>
                  <a:srgbClr val="C00000"/>
                </a:solidFill>
              </a:rPr>
              <a:t>Аналоговые системы</a:t>
            </a:r>
            <a:endParaRPr lang="en-US" sz="5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717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600" b="1" kern="0" dirty="0">
                <a:solidFill>
                  <a:srgbClr val="000099"/>
                </a:solidFill>
              </a:rPr>
              <a:t>Основные определения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B5CBAE-5E9A-43B3-7E2F-3CDE927A413D}"/>
              </a:ext>
            </a:extLst>
          </p:cNvPr>
          <p:cNvSpPr txBox="1"/>
          <p:nvPr/>
        </p:nvSpPr>
        <p:spPr>
          <a:xfrm>
            <a:off x="228600" y="692696"/>
            <a:ext cx="86868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Аналоговая система = аналоговый фильтр = объект, преобразующий сигналы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D9B2EC-2188-BF5B-C3AA-A8B9AC61BD75}"/>
              </a:ext>
            </a:extLst>
          </p:cNvPr>
          <p:cNvSpPr txBox="1"/>
          <p:nvPr/>
        </p:nvSpPr>
        <p:spPr>
          <a:xfrm>
            <a:off x="228600" y="1082680"/>
            <a:ext cx="868680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аналоговых систем:</a:t>
            </a:r>
          </a:p>
          <a:p>
            <a:pPr marL="342900" indent="-342900" algn="just">
              <a:buFontTx/>
              <a:buChar char="-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линейность (линейные / нелинейные)</a:t>
            </a:r>
          </a:p>
          <a:p>
            <a:pPr marL="342900" indent="-342900" algn="just">
              <a:buFontTx/>
              <a:buChar char="-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постоянство характеристик системы во времени (стационарная (система с постоянными параметрами) / нестационарная (система с переменными параметрами))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F1588-1AC0-8C4E-715C-BCA3E147E00D}"/>
              </a:ext>
            </a:extLst>
          </p:cNvPr>
          <p:cNvSpPr txBox="1"/>
          <p:nvPr/>
        </p:nvSpPr>
        <p:spPr>
          <a:xfrm>
            <a:off x="228600" y="2671005"/>
            <a:ext cx="86868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Далее будем рассматривать </a:t>
            </a: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линейные стационарные аналоговые системы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DE44EC-1652-57E0-7E52-730276667786}"/>
              </a:ext>
            </a:extLst>
          </p:cNvPr>
          <p:cNvSpPr txBox="1"/>
          <p:nvPr/>
        </p:nvSpPr>
        <p:spPr>
          <a:xfrm>
            <a:off x="228600" y="3236639"/>
            <a:ext cx="868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 линейных систем: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BFD444-C0DA-D015-8CE6-D93B84DC09E6}"/>
              </a:ext>
            </a:extLst>
          </p:cNvPr>
          <p:cNvSpPr txBox="1"/>
          <p:nvPr/>
        </p:nvSpPr>
        <p:spPr>
          <a:xfrm>
            <a:off x="228600" y="3692351"/>
            <a:ext cx="868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Импульсная характеристика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реакция системы на поданную на вход дельта-функцию. Обозначается как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EAF6CD2-BB32-2168-D201-100A70E4B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5" y="4369459"/>
            <a:ext cx="3143250" cy="9048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B7400E2-35F1-9832-BD6F-ED80AFAB0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2" y="5414942"/>
            <a:ext cx="8022595" cy="76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75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600" b="1" kern="0" dirty="0">
                <a:solidFill>
                  <a:srgbClr val="000099"/>
                </a:solidFill>
              </a:rPr>
              <a:t>Основные определения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427E8664-B8FC-FF9E-9798-E4EB2CDD4E1D}"/>
              </a:ext>
            </a:extLst>
          </p:cNvPr>
          <p:cNvGrpSpPr/>
          <p:nvPr/>
        </p:nvGrpSpPr>
        <p:grpSpPr>
          <a:xfrm>
            <a:off x="305780" y="750623"/>
            <a:ext cx="8532440" cy="1310225"/>
            <a:chOff x="305780" y="750623"/>
            <a:chExt cx="8532440" cy="1310225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0F2AF7A2-C544-51DC-81FB-72FEB70B7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780" y="750623"/>
              <a:ext cx="8532440" cy="1310225"/>
            </a:xfrm>
            <a:prstGeom prst="rect">
              <a:avLst/>
            </a:prstGeom>
          </p:spPr>
        </p:pic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1E8E28B-D6E2-3E4B-0001-8A8BA5D4F723}"/>
                </a:ext>
              </a:extLst>
            </p:cNvPr>
            <p:cNvSpPr/>
            <p:nvPr/>
          </p:nvSpPr>
          <p:spPr>
            <a:xfrm>
              <a:off x="7092280" y="1685924"/>
              <a:ext cx="1745940" cy="3048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AC65E1B-07BF-1711-E6BB-A711A8F02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50" y="3405116"/>
            <a:ext cx="6362700" cy="2743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8D1117C-2535-2CE3-A626-7A581DD84135}"/>
              </a:ext>
            </a:extLst>
          </p:cNvPr>
          <p:cNvSpPr txBox="1"/>
          <p:nvPr/>
        </p:nvSpPr>
        <p:spPr>
          <a:xfrm>
            <a:off x="228600" y="2040922"/>
            <a:ext cx="8686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получить значение выходного сигнала в момент времени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нужно сложить вклады от всех этих бесконечно малых «кусочков», то есть выполнить интегрирование по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и даст в итоге формулу свертки с предыдущего слайда.</a:t>
            </a:r>
          </a:p>
        </p:txBody>
      </p:sp>
    </p:spTree>
    <p:extLst>
      <p:ext uri="{BB962C8B-B14F-4D97-AF65-F5344CB8AC3E}">
        <p14:creationId xmlns:p14="http://schemas.microsoft.com/office/powerpoint/2010/main" val="1003717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600" b="1" kern="0" dirty="0">
                <a:solidFill>
                  <a:srgbClr val="000099"/>
                </a:solidFill>
              </a:rPr>
              <a:t>Основные определения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3C799FBB-1DBC-FA5B-F2B8-48C1F09F812C}"/>
              </a:ext>
            </a:extLst>
          </p:cNvPr>
          <p:cNvGrpSpPr/>
          <p:nvPr/>
        </p:nvGrpSpPr>
        <p:grpSpPr>
          <a:xfrm>
            <a:off x="236276" y="851441"/>
            <a:ext cx="8686800" cy="3153623"/>
            <a:chOff x="236276" y="851441"/>
            <a:chExt cx="8686800" cy="3153623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4EDEFD85-9DC0-EAAD-728C-31B702E88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276" y="851441"/>
              <a:ext cx="8686800" cy="2577559"/>
            </a:xfrm>
            <a:prstGeom prst="rect">
              <a:avLst/>
            </a:prstGeom>
          </p:spPr>
        </p:pic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E7AAD32B-F7A2-62FA-E789-08B073D90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6276" y="3448611"/>
              <a:ext cx="8679124" cy="556453"/>
            </a:xfrm>
            <a:prstGeom prst="rect">
              <a:avLst/>
            </a:prstGeom>
          </p:spPr>
        </p:pic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BA1470-21F1-D308-10D6-7030575FD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76" y="4653136"/>
            <a:ext cx="8679124" cy="113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3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600" b="1" kern="0" dirty="0">
                <a:solidFill>
                  <a:srgbClr val="000099"/>
                </a:solidFill>
              </a:rPr>
              <a:t>Основные определения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00AA99D-78DC-1878-8E00-C91E7F5B5BC3}"/>
              </a:ext>
            </a:extLst>
          </p:cNvPr>
          <p:cNvGrpSpPr/>
          <p:nvPr/>
        </p:nvGrpSpPr>
        <p:grpSpPr>
          <a:xfrm>
            <a:off x="228600" y="1412776"/>
            <a:ext cx="8686800" cy="4392488"/>
            <a:chOff x="228600" y="383332"/>
            <a:chExt cx="8686800" cy="439248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F68B0E-5CBF-6084-E834-80840948C3F7}"/>
                </a:ext>
              </a:extLst>
            </p:cNvPr>
            <p:cNvSpPr txBox="1"/>
            <p:nvPr/>
          </p:nvSpPr>
          <p:spPr>
            <a:xfrm>
              <a:off x="228600" y="383332"/>
              <a:ext cx="86868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Преобразование Фурье импульсной характеристики системы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E0AE60-3896-055C-3396-63CBA045798F}"/>
                </a:ext>
              </a:extLst>
            </p:cNvPr>
            <p:cNvSpPr txBox="1"/>
            <p:nvPr/>
          </p:nvSpPr>
          <p:spPr>
            <a:xfrm>
              <a:off x="228600" y="1490092"/>
              <a:ext cx="8686800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называют </a:t>
              </a:r>
              <a:r>
                <a:rPr lang="ru-RU" sz="19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комплексным коэффициентом передачи 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или </a:t>
              </a:r>
              <a:r>
                <a:rPr lang="ru-RU" sz="19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комплексной частотной характеристикой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системы.</a:t>
              </a:r>
            </a:p>
            <a:p>
              <a:pPr algn="just"/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Ее модуль и фаза соответственно называют амплитудно-частотной (АЧХ) и </a:t>
              </a:r>
              <a:r>
                <a:rPr lang="ru-RU" sz="19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фазочастотной</a:t>
              </a:r>
              <a:r>
                <a: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(ФЧХ) характеристиками системы.</a:t>
              </a: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56F6FB16-3A15-A74D-4A39-2C9755E67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3618667"/>
              <a:ext cx="8686800" cy="1157153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5441326-F1AA-21CC-D574-6E34FC13E3D7}"/>
              </a:ext>
            </a:extLst>
          </p:cNvPr>
          <p:cNvSpPr txBox="1"/>
          <p:nvPr/>
        </p:nvSpPr>
        <p:spPr>
          <a:xfrm>
            <a:off x="228600" y="4005064"/>
            <a:ext cx="86868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АЧХ =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)|; 	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ФЧХ =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sz="19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354074-2C36-9304-8D47-7D99DFCDA5D8}"/>
              </a:ext>
            </a:extLst>
          </p:cNvPr>
          <p:cNvSpPr txBox="1"/>
          <p:nvPr/>
        </p:nvSpPr>
        <p:spPr>
          <a:xfrm>
            <a:off x="1093460" y="3883987"/>
            <a:ext cx="23056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7445C-2A2F-305D-D501-6A4CBC01339B}"/>
              </a:ext>
            </a:extLst>
          </p:cNvPr>
          <p:cNvSpPr txBox="1"/>
          <p:nvPr/>
        </p:nvSpPr>
        <p:spPr>
          <a:xfrm>
            <a:off x="4090804" y="3888179"/>
            <a:ext cx="23056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FA59EDC5-C169-CBFA-45BA-A4C645C17B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965175"/>
              </p:ext>
            </p:extLst>
          </p:nvPr>
        </p:nvGraphicFramePr>
        <p:xfrm>
          <a:off x="3488944" y="1867684"/>
          <a:ext cx="2166112" cy="499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360" imgH="228600" progId="Equation.DSMT4">
                  <p:embed/>
                </p:oleObj>
              </mc:Choice>
              <mc:Fallback>
                <p:oleObj name="Equation" r:id="rId3" imgW="990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88944" y="1867684"/>
                        <a:ext cx="2166112" cy="4998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1305A046-EB56-0C8A-26C8-8D9AB79D0F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447063"/>
              </p:ext>
            </p:extLst>
          </p:nvPr>
        </p:nvGraphicFramePr>
        <p:xfrm>
          <a:off x="294183" y="796925"/>
          <a:ext cx="51419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25600" imgH="241200" progId="Equation.DSMT4">
                  <p:embed/>
                </p:oleObj>
              </mc:Choice>
              <mc:Fallback>
                <p:oleObj name="Equation" r:id="rId5" imgW="3225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4183" y="796925"/>
                        <a:ext cx="5141913" cy="384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302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600" b="1" kern="0" dirty="0">
                <a:solidFill>
                  <a:srgbClr val="000099"/>
                </a:solidFill>
              </a:rPr>
              <a:t>Основные определения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7D4654A-9BB5-4E0A-CBCD-05EE23808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84905"/>
            <a:ext cx="8686800" cy="198019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C0C6D68-0FAA-DD92-72D4-7C18EA27A0BB}"/>
              </a:ext>
            </a:extLst>
          </p:cNvPr>
          <p:cNvSpPr/>
          <p:nvPr/>
        </p:nvSpPr>
        <p:spPr>
          <a:xfrm>
            <a:off x="8316416" y="3789040"/>
            <a:ext cx="598984" cy="4680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87CF374-31A2-2E43-27D8-563487260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67099"/>
            <a:ext cx="8686800" cy="1450517"/>
          </a:xfrm>
          <a:prstGeom prst="rect">
            <a:avLst/>
          </a:prstGeom>
        </p:spPr>
      </p:pic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2AE5E08B-C2AE-9370-DC6A-D37E8C60B982}"/>
              </a:ext>
            </a:extLst>
          </p:cNvPr>
          <p:cNvGrpSpPr/>
          <p:nvPr/>
        </p:nvGrpSpPr>
        <p:grpSpPr>
          <a:xfrm>
            <a:off x="323528" y="4365104"/>
            <a:ext cx="7815263" cy="1573296"/>
            <a:chOff x="323528" y="4365104"/>
            <a:chExt cx="7815263" cy="1573296"/>
          </a:xfrm>
        </p:grpSpPr>
        <p:graphicFrame>
          <p:nvGraphicFramePr>
            <p:cNvPr id="10" name="Объект 9">
              <a:extLst>
                <a:ext uri="{FF2B5EF4-FFF2-40B4-BE49-F238E27FC236}">
                  <a16:creationId xmlns:a16="http://schemas.microsoft.com/office/drawing/2014/main" id="{17F2AE36-06F7-B8F0-E237-59F72D7939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29274"/>
                </p:ext>
              </p:extLst>
            </p:nvPr>
          </p:nvGraphicFramePr>
          <p:xfrm>
            <a:off x="323528" y="4365104"/>
            <a:ext cx="7815263" cy="382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902120" imgH="241200" progId="Equation.DSMT4">
                    <p:embed/>
                  </p:oleObj>
                </mc:Choice>
                <mc:Fallback>
                  <p:oleObj name="Equation" r:id="rId4" imgW="4902120" imgH="241200" progId="Equation.DSMT4">
                    <p:embed/>
                    <p:pic>
                      <p:nvPicPr>
                        <p:cNvPr id="13" name="Объект 12">
                          <a:extLst>
                            <a:ext uri="{FF2B5EF4-FFF2-40B4-BE49-F238E27FC236}">
                              <a16:creationId xmlns:a16="http://schemas.microsoft.com/office/drawing/2014/main" id="{1305A046-EB56-0C8A-26C8-8D9AB79D0F3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23528" y="4365104"/>
                          <a:ext cx="7815263" cy="382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Объект 10">
              <a:extLst>
                <a:ext uri="{FF2B5EF4-FFF2-40B4-BE49-F238E27FC236}">
                  <a16:creationId xmlns:a16="http://schemas.microsoft.com/office/drawing/2014/main" id="{6B525515-784B-AF97-F260-588AB671EB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6275068"/>
                </p:ext>
              </p:extLst>
            </p:nvPr>
          </p:nvGraphicFramePr>
          <p:xfrm>
            <a:off x="323528" y="4855725"/>
            <a:ext cx="7056437" cy="1082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216320" imgH="647640" progId="Equation.DSMT4">
                    <p:embed/>
                  </p:oleObj>
                </mc:Choice>
                <mc:Fallback>
                  <p:oleObj name="Equation" r:id="rId6" imgW="4216320" imgH="647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23528" y="4855725"/>
                          <a:ext cx="7056437" cy="10826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A14E153-0B8C-140E-DF00-C5A6201FE9F6}"/>
              </a:ext>
            </a:extLst>
          </p:cNvPr>
          <p:cNvGrpSpPr/>
          <p:nvPr/>
        </p:nvGrpSpPr>
        <p:grpSpPr>
          <a:xfrm>
            <a:off x="228600" y="4379764"/>
            <a:ext cx="8686800" cy="1678687"/>
            <a:chOff x="-70892" y="-1874124"/>
            <a:chExt cx="8686800" cy="1678687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19985303-584E-9823-CE5A-A4D52B515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70892" y="-1874124"/>
              <a:ext cx="8686800" cy="1678687"/>
            </a:xfrm>
            <a:prstGeom prst="rect">
              <a:avLst/>
            </a:prstGeom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70DCE072-C9B7-24D6-09A2-304BC45FE137}"/>
                </a:ext>
              </a:extLst>
            </p:cNvPr>
            <p:cNvSpPr/>
            <p:nvPr/>
          </p:nvSpPr>
          <p:spPr>
            <a:xfrm>
              <a:off x="8028384" y="-972988"/>
              <a:ext cx="576064" cy="7056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71354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задания аналоговых систем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CB31D0-AE0D-63DD-5143-A3888F86F733}"/>
              </a:ext>
            </a:extLst>
          </p:cNvPr>
          <p:cNvSpPr txBox="1"/>
          <p:nvPr/>
        </p:nvSpPr>
        <p:spPr>
          <a:xfrm>
            <a:off x="210964" y="3602883"/>
            <a:ext cx="86868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порядок системы.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C081E131-D9F8-9245-AB65-51A1483433DC}"/>
              </a:ext>
            </a:extLst>
          </p:cNvPr>
          <p:cNvGrpSpPr/>
          <p:nvPr/>
        </p:nvGrpSpPr>
        <p:grpSpPr>
          <a:xfrm>
            <a:off x="261150" y="1421082"/>
            <a:ext cx="8621700" cy="2181801"/>
            <a:chOff x="77676" y="3373239"/>
            <a:chExt cx="8621700" cy="2181801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241A551F-D98D-461B-0AB0-BB0D65009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76" y="3373239"/>
              <a:ext cx="8574236" cy="2181801"/>
            </a:xfrm>
            <a:prstGeom prst="rect">
              <a:avLst/>
            </a:prstGeom>
          </p:spPr>
        </p:pic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7393C8B3-503E-7685-6803-2753523DB317}"/>
                </a:ext>
              </a:extLst>
            </p:cNvPr>
            <p:cNvSpPr/>
            <p:nvPr/>
          </p:nvSpPr>
          <p:spPr>
            <a:xfrm>
              <a:off x="8172400" y="3933056"/>
              <a:ext cx="526976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A93C3A3-8C6A-AD26-3DB7-EFAB5D0DDAC3}"/>
              </a:ext>
            </a:extLst>
          </p:cNvPr>
          <p:cNvSpPr txBox="1"/>
          <p:nvPr/>
        </p:nvSpPr>
        <p:spPr>
          <a:xfrm>
            <a:off x="261150" y="697638"/>
            <a:ext cx="868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Связь между входным и выходным сигналами линейной аналоговой системы со стационарными параметрами может быть выражена в виде ОДУ: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535031-74D2-555A-C48F-745266CEA72B}"/>
              </a:ext>
            </a:extLst>
          </p:cNvPr>
          <p:cNvSpPr txBox="1"/>
          <p:nvPr/>
        </p:nvSpPr>
        <p:spPr>
          <a:xfrm>
            <a:off x="7616021" y="1943539"/>
            <a:ext cx="4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(*)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90EE9-1A4E-6288-14B0-32226992AF68}"/>
              </a:ext>
            </a:extLst>
          </p:cNvPr>
          <p:cNvSpPr txBox="1"/>
          <p:nvPr/>
        </p:nvSpPr>
        <p:spPr>
          <a:xfrm>
            <a:off x="196050" y="4038594"/>
            <a:ext cx="8686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к обеим частям (*) применить преобразование Лапласа, то можно получить выражение для </a:t>
            </a:r>
            <a:r>
              <a:rPr lang="ru-RU" sz="1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операторного коэффициента передачи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ru-RU" sz="1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передачи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function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аналоговой системы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3D88D5D-EDC9-EE45-E8FF-57978D199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144" y="5189668"/>
            <a:ext cx="5407713" cy="759612"/>
          </a:xfrm>
          <a:prstGeom prst="rect">
            <a:avLst/>
          </a:prstGeom>
        </p:spPr>
      </p:pic>
      <p:graphicFrame>
        <p:nvGraphicFramePr>
          <p:cNvPr id="18" name="Объект 17">
            <a:extLst>
              <a:ext uri="{FF2B5EF4-FFF2-40B4-BE49-F238E27FC236}">
                <a16:creationId xmlns:a16="http://schemas.microsoft.com/office/drawing/2014/main" id="{47C17882-BA65-3C6B-7CC0-304762740A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9301"/>
              </p:ext>
            </p:extLst>
          </p:nvPr>
        </p:nvGraphicFramePr>
        <p:xfrm>
          <a:off x="698267" y="5100310"/>
          <a:ext cx="6577589" cy="89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77880" imgH="457200" progId="Equation.DSMT4">
                  <p:embed/>
                </p:oleObj>
              </mc:Choice>
              <mc:Fallback>
                <p:oleObj name="Equation" r:id="rId4" imgW="33778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8267" y="5100310"/>
                        <a:ext cx="6577589" cy="89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49AA806-E338-2E78-753A-CD3E0BCB0B0E}"/>
              </a:ext>
            </a:extLst>
          </p:cNvPr>
          <p:cNvSpPr txBox="1"/>
          <p:nvPr/>
        </p:nvSpPr>
        <p:spPr>
          <a:xfrm>
            <a:off x="3036136" y="3257788"/>
            <a:ext cx="588486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описывается наборами коэффициентов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285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задания аналоговых систем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393C8B3-503E-7685-6803-2753523DB317}"/>
              </a:ext>
            </a:extLst>
          </p:cNvPr>
          <p:cNvSpPr/>
          <p:nvPr/>
        </p:nvSpPr>
        <p:spPr>
          <a:xfrm>
            <a:off x="8355874" y="1980899"/>
            <a:ext cx="52697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93C3A3-8C6A-AD26-3DB7-EFAB5D0DDAC3}"/>
              </a:ext>
            </a:extLst>
          </p:cNvPr>
          <p:cNvSpPr txBox="1"/>
          <p:nvPr/>
        </p:nvSpPr>
        <p:spPr>
          <a:xfrm>
            <a:off x="261150" y="697638"/>
            <a:ext cx="868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Разложив числитель и знаменатель функции передачи (*) на множители, можно представить функцию передачи в следующем виде: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FF2CE0-1FFB-CC7E-444B-73739E872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300" y="1426147"/>
            <a:ext cx="5524500" cy="762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F7395F-C382-52CA-E0CD-E3F3B9304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2290348"/>
            <a:ext cx="8420100" cy="990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67EF69-8395-8D7F-AC1E-C2256A08B647}"/>
              </a:ext>
            </a:extLst>
          </p:cNvPr>
          <p:cNvSpPr txBox="1"/>
          <p:nvPr/>
        </p:nvSpPr>
        <p:spPr>
          <a:xfrm>
            <a:off x="306338" y="3207721"/>
            <a:ext cx="8576512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таком способе задания аналоговая система описывается набором параметров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4F42DFC-8067-A66D-F895-CBD2AE6C2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38" y="3933056"/>
            <a:ext cx="8609062" cy="133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44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задания аналоговых систем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792AC8-F2E6-E4D8-84FF-1A61C1C6033C}"/>
              </a:ext>
            </a:extLst>
          </p:cNvPr>
          <p:cNvSpPr txBox="1"/>
          <p:nvPr/>
        </p:nvSpPr>
        <p:spPr>
          <a:xfrm>
            <a:off x="283744" y="764704"/>
            <a:ext cx="8576512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изменении частоты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соответствующая точка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будет смещаться вдоль комплексной оси, поэтому о поведении АЧХ в окрестности полюсов и нулей функции передачи можно сделать следующие выводы: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точка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находится вблизи одного из нулей функции передачи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соответствующая разность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окажется малой, в результате чего АЧХ в данной области будет принимать достаточно малые значения. Если нуль лежит на мнимой оси, то соответственно АЧХ в нем будет также принимать нулевое значение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точка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находится вблизи одного из полюсов функции передачи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соответствующая разность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окажется малой, в результате чего АЧХ будет возрастать. Если полюс лежит на мнимой оси, то АЧХ на соответствующей частоте будет стремиться к бесконечности.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чем ближе к мнимой оси расположен нуль или полюс, тем более выраженным будет советующее поведение АЧХ в его окрестности при изменении частоты.</a:t>
            </a:r>
          </a:p>
          <a:p>
            <a:pPr marL="285750" indent="-285750" algn="just">
              <a:buFontTx/>
              <a:buChar char="-"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9BEF35-861E-B292-DA7D-3FA120D53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764704"/>
            <a:ext cx="6957928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8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задания аналоговых систем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792AC8-F2E6-E4D8-84FF-1A61C1C6033C}"/>
              </a:ext>
            </a:extLst>
          </p:cNvPr>
          <p:cNvSpPr txBox="1"/>
          <p:nvPr/>
        </p:nvSpPr>
        <p:spPr>
          <a:xfrm>
            <a:off x="283744" y="764704"/>
            <a:ext cx="8576512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изменении частоты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соответствующая точка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будет смещаться вдоль комплексной оси, поэтому о поведении АЧХ в окрестности полюсов и нулей функции передачи можно сделать следующие выводы: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точка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находится вблизи одного из нулей функции передачи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соответствующая разность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окажется малой, в результате чего АЧХ в данной области будет принимать достаточно малые значения. Если нуль лежит на мнимой оси, то соответственно АЧХ в нем будет также принимать нулевое значение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точка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находится вблизи одного из полюсов функции передачи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соответствующая разность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окажется малой, в результате чего АЧХ будет возрастать. Если полюс лежит на мнимой оси, то АЧХ на соответствующей частоте будет стремиться к бесконечности.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чем ближе к мнимой оси расположен нуль или полюс, тем более выраженным будет советующее поведение АЧХ в его окрестности при изменении частоты.</a:t>
            </a:r>
          </a:p>
          <a:p>
            <a:pPr marL="285750" indent="-285750" algn="just">
              <a:buFontTx/>
              <a:buChar char="-"/>
            </a:pPr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871CB32E-374D-D111-DCC8-2EA76F935908}"/>
              </a:ext>
            </a:extLst>
          </p:cNvPr>
          <p:cNvGrpSpPr/>
          <p:nvPr/>
        </p:nvGrpSpPr>
        <p:grpSpPr>
          <a:xfrm>
            <a:off x="323528" y="836712"/>
            <a:ext cx="8424936" cy="5502599"/>
            <a:chOff x="323528" y="836712"/>
            <a:chExt cx="8424936" cy="5502599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BA9BEF35-861E-B292-DA7D-3FA120D53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836712"/>
              <a:ext cx="6957928" cy="5328592"/>
            </a:xfrm>
            <a:prstGeom prst="rect">
              <a:avLst/>
            </a:prstGeom>
          </p:spPr>
        </p:pic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109E92B7-BFBB-2BCF-6373-DD98EADCC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0112" y="3835648"/>
              <a:ext cx="3168352" cy="25036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907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задания аналоговых систем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79E66-A6E5-E055-9D39-A6452F7BFC5E}"/>
              </a:ext>
            </a:extLst>
          </p:cNvPr>
          <p:cNvSpPr txBox="1"/>
          <p:nvPr/>
        </p:nvSpPr>
        <p:spPr>
          <a:xfrm>
            <a:off x="228600" y="633388"/>
            <a:ext cx="8686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Поскольку функция передачи является дробно-рациональной функцией ее можно представить в виде суммы простых дробей. В случае отсутствия кратных корней у знаменателя такое представление имеет следующий вид: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8DAB10-36FF-E668-419D-EB90EDDEB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141" y="1556792"/>
            <a:ext cx="5639718" cy="69743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09566E-6B44-CA39-BC94-F82D088B8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238180"/>
            <a:ext cx="8591872" cy="8307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53643A-3C9B-D82E-30C0-ED4CD2B14EA5}"/>
              </a:ext>
            </a:extLst>
          </p:cNvPr>
          <p:cNvSpPr txBox="1"/>
          <p:nvPr/>
        </p:nvSpPr>
        <p:spPr>
          <a:xfrm>
            <a:off x="254000" y="3068960"/>
            <a:ext cx="866140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таком способе задания аналоговая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описывается набором параметров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{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903BB5-F1D3-811D-E050-2610477AEE73}"/>
              </a:ext>
            </a:extLst>
          </p:cNvPr>
          <p:cNvSpPr txBox="1"/>
          <p:nvPr/>
        </p:nvSpPr>
        <p:spPr>
          <a:xfrm>
            <a:off x="266700" y="3645024"/>
            <a:ext cx="8661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Каждое слагаемое функции передачи вида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- p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соответствует слагаемому импульсной характеристики вида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0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D5D649B-E9DB-79EB-316A-5CA90FCEE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4365104"/>
            <a:ext cx="8185204" cy="198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3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задания аналоговых систем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1FFB88-1215-4DE5-0035-2A78ED9B4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92696"/>
            <a:ext cx="8686800" cy="103686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454BCF-0409-8C24-C917-C7D61AF31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772816"/>
            <a:ext cx="8686800" cy="827315"/>
          </a:xfrm>
          <a:prstGeom prst="rect">
            <a:avLst/>
          </a:prstGeom>
        </p:spPr>
      </p:pic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E02D49A-51EE-671F-AD9B-32C4944417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756750"/>
              </p:ext>
            </p:extLst>
          </p:nvPr>
        </p:nvGraphicFramePr>
        <p:xfrm>
          <a:off x="228600" y="2643387"/>
          <a:ext cx="2646362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419040" progId="Equation.DSMT4">
                  <p:embed/>
                </p:oleObj>
              </mc:Choice>
              <mc:Fallback>
                <p:oleObj name="Equation" r:id="rId4" imgW="1358640" imgH="419040" progId="Equation.DSMT4">
                  <p:embed/>
                  <p:pic>
                    <p:nvPicPr>
                      <p:cNvPr id="18" name="Объект 17">
                        <a:extLst>
                          <a:ext uri="{FF2B5EF4-FFF2-40B4-BE49-F238E27FC236}">
                            <a16:creationId xmlns:a16="http://schemas.microsoft.com/office/drawing/2014/main" id="{47C17882-BA65-3C6B-7CC0-304762740A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600" y="2643387"/>
                        <a:ext cx="2646362" cy="817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E2E82F-8C7E-9592-1D04-9B638168658F}"/>
              </a:ext>
            </a:extLst>
          </p:cNvPr>
          <p:cNvSpPr txBox="1"/>
          <p:nvPr/>
        </p:nvSpPr>
        <p:spPr>
          <a:xfrm>
            <a:off x="228600" y="3504206"/>
            <a:ext cx="868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аналоговая система является </a:t>
            </a:r>
            <a:r>
              <a:rPr lang="ru-RU" sz="1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устойчивой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тогда и только тогда, когда полюсы ее функции передачи лежат в </a:t>
            </a:r>
            <a:r>
              <a:rPr lang="ru-RU" sz="1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левой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комплексной полуплоскости.</a:t>
            </a:r>
          </a:p>
        </p:txBody>
      </p:sp>
    </p:spTree>
    <p:extLst>
      <p:ext uri="{BB962C8B-B14F-4D97-AF65-F5344CB8AC3E}">
        <p14:creationId xmlns:p14="http://schemas.microsoft.com/office/powerpoint/2010/main" val="3977164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Аналоговые фильтры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84B09-FA66-25B4-B9BF-07F738CE4D76}"/>
              </a:ext>
            </a:extLst>
          </p:cNvPr>
          <p:cNvSpPr txBox="1"/>
          <p:nvPr/>
        </p:nvSpPr>
        <p:spPr>
          <a:xfrm>
            <a:off x="228600" y="646088"/>
            <a:ext cx="8686800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Различают фильтры следующих типов:</a:t>
            </a:r>
          </a:p>
          <a:p>
            <a:pPr marL="342900" indent="-342900" algn="just">
              <a:buFontTx/>
              <a:buChar char="-"/>
            </a:pP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фильтры нижних (низких) частот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(ФНЧ =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low-pass filter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пропускающие частоты, меньшие некоторой частоты среза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ru-RU" sz="1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Tx/>
              <a:buChar char="-"/>
            </a:pP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фильтры верхних (высоких) частот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(ФВЧ =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high-pass filter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пропускающие частоты, большие некоторой частоты среза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marL="342900" indent="-342900" algn="just">
              <a:buFontTx/>
              <a:buChar char="-"/>
            </a:pP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полосовые фильтры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(ПФ =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band-pass filter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пропускающие частоты в некотором диапазоне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(могут также характеризоваться средней частотой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)/2 и шириной полосы пропускания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Δω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buFontTx/>
              <a:buChar char="-"/>
            </a:pPr>
            <a:r>
              <a:rPr lang="ru-RU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режекторные</a:t>
            </a: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фильтры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(полосно-задерживающие фильтры =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band-stop filter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пропускающие на выход все частоты, кроме лежащих в некотором диапазоне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345139-D941-82F7-25D1-1C874998B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3980061"/>
            <a:ext cx="6677025" cy="223837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D8075D1-2D31-B788-E213-723FAB087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31" y="3952453"/>
            <a:ext cx="68294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2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Аналоговые фильтры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AD9111-5E94-E1B6-50FB-91F0C84ED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1144"/>
            <a:ext cx="8686800" cy="266785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72594A-AEE4-815C-820A-584C9215E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277" y="3479042"/>
            <a:ext cx="5992143" cy="287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6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Понятие децибела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14F112-A586-F627-C58C-E5C711F70EBB}"/>
              </a:ext>
            </a:extLst>
          </p:cNvPr>
          <p:cNvSpPr txBox="1"/>
          <p:nvPr/>
        </p:nvSpPr>
        <p:spPr>
          <a:xfrm>
            <a:off x="228600" y="692696"/>
            <a:ext cx="868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рассматривается два сигнала с амплитудами </a:t>
            </a:r>
            <a:r>
              <a:rPr lang="ru-RU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мощностями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соответственно, тогда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2042C0-61C9-CF5B-6383-7586AB481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441787"/>
            <a:ext cx="2257425" cy="7905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8F9014-220A-1744-1A01-93A48CD53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1422736"/>
            <a:ext cx="2266950" cy="8286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186A06B-4C54-7FBB-75C1-54F34FC41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982" y="2794761"/>
            <a:ext cx="6644035" cy="272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45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Фильтр </a:t>
            </a:r>
            <a:r>
              <a:rPr lang="ru-RU" sz="3200" b="1" kern="0" dirty="0" err="1">
                <a:solidFill>
                  <a:srgbClr val="000099"/>
                </a:solidFill>
              </a:rPr>
              <a:t>Баттерворта</a:t>
            </a:r>
            <a:endParaRPr lang="ru-RU" sz="3200" b="1" kern="0" dirty="0">
              <a:solidFill>
                <a:srgbClr val="00009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3D8AE-ADB3-87E4-F1AD-26A53F7BFAF7}"/>
              </a:ext>
            </a:extLst>
          </p:cNvPr>
          <p:cNvSpPr txBox="1"/>
          <p:nvPr/>
        </p:nvSpPr>
        <p:spPr>
          <a:xfrm>
            <a:off x="228600" y="692696"/>
            <a:ext cx="8686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передачи фильтра-прототипа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Баттерворта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Butterworth filter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имеет нулей, а ее полюса равномерно расположены в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плоскости в левой половине окружности единичного радиуса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30BC8C-BBEC-BB22-5BEA-ACB6BDC06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53" y="1721368"/>
            <a:ext cx="2088232" cy="11732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28038E-1CD6-2671-2EB5-D2B379A03084}"/>
              </a:ext>
            </a:extLst>
          </p:cNvPr>
          <p:cNvSpPr txBox="1"/>
          <p:nvPr/>
        </p:nvSpPr>
        <p:spPr>
          <a:xfrm>
            <a:off x="2627784" y="1700808"/>
            <a:ext cx="56886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частота среза (для фильтра-прототипа = 1 рад/с),</a:t>
            </a:r>
          </a:p>
          <a:p>
            <a:pPr algn="just"/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порядок фильтра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2DC81E9-2EBD-A48D-A508-A2A04A711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582347"/>
            <a:ext cx="2784487" cy="27455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AE94C5-2CAD-DA44-AA0E-2B1E0D6BE902}"/>
              </a:ext>
            </a:extLst>
          </p:cNvPr>
          <p:cNvSpPr txBox="1"/>
          <p:nvPr/>
        </p:nvSpPr>
        <p:spPr>
          <a:xfrm>
            <a:off x="0" y="3102053"/>
            <a:ext cx="3568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расположение полюсов фильтра-прототипа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Баттерворта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плоскости для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8D10E2D-1E8D-B5B3-03B8-A83EC8BA7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986" y="3884730"/>
            <a:ext cx="2749835" cy="22036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4087E5-8D5E-4190-40DC-701730F53F51}"/>
              </a:ext>
            </a:extLst>
          </p:cNvPr>
          <p:cNvSpPr txBox="1"/>
          <p:nvPr/>
        </p:nvSpPr>
        <p:spPr>
          <a:xfrm>
            <a:off x="4427984" y="352313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АЧХ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FE87C7E-6B6B-3686-D92D-B1040B9C94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700" y="3830915"/>
            <a:ext cx="2806860" cy="22805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8944C2D-D9BF-C0E5-5CCE-5039C78460E3}"/>
              </a:ext>
            </a:extLst>
          </p:cNvPr>
          <p:cNvSpPr txBox="1"/>
          <p:nvPr/>
        </p:nvSpPr>
        <p:spPr>
          <a:xfrm>
            <a:off x="7195083" y="352313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ФЧХ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C2E6470-7AFE-C274-5E73-0FBC8503E865}"/>
                  </a:ext>
                </a:extLst>
              </p:cNvPr>
              <p:cNvSpPr txBox="1"/>
              <p:nvPr/>
            </p:nvSpPr>
            <p:spPr>
              <a:xfrm>
                <a:off x="2631480" y="2336071"/>
                <a:ext cx="6512520" cy="705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Коэффициент передачи на нулевой частоте = 1; на частоте среза независимо от порядка фильтра = -3дБ (1/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ru-RU" sz="19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  <m:r>
                      <a:rPr lang="en-US" sz="19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≈0,707</m:t>
                    </m:r>
                  </m:oMath>
                </a14:m>
                <a:r>
                  <a:rPr lang="ru-RU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C2E6470-7AFE-C274-5E73-0FBC8503E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480" y="2336071"/>
                <a:ext cx="6512520" cy="705578"/>
              </a:xfrm>
              <a:prstGeom prst="rect">
                <a:avLst/>
              </a:prstGeom>
              <a:blipFill>
                <a:blip r:embed="rId6"/>
                <a:stretch>
                  <a:fillRect l="-936" t="-4310" r="-843" b="-137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864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Фильтр Чебышёва первого рода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3D8AE-ADB3-87E4-F1AD-26A53F7BFAF7}"/>
              </a:ext>
            </a:extLst>
          </p:cNvPr>
          <p:cNvSpPr txBox="1"/>
          <p:nvPr/>
        </p:nvSpPr>
        <p:spPr>
          <a:xfrm>
            <a:off x="228600" y="620688"/>
            <a:ext cx="868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передачи фильтра-прототипа Чебышёва первого рода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имеет нулей, а ее полюса равномерно расположены в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плоскости в левой половине эллипса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8038E-1CD6-2671-2EB5-D2B379A03084}"/>
              </a:ext>
            </a:extLst>
          </p:cNvPr>
          <p:cNvSpPr txBox="1"/>
          <p:nvPr/>
        </p:nvSpPr>
        <p:spPr>
          <a:xfrm>
            <a:off x="3371799" y="1324260"/>
            <a:ext cx="57722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частота среза,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полином Чебышёва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 порядка;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порядок фильтра;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параметр, определяющий величину пульсации АЧХ в полосе пропускания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4087E5-8D5E-4190-40DC-701730F53F51}"/>
              </a:ext>
            </a:extLst>
          </p:cNvPr>
          <p:cNvSpPr txBox="1"/>
          <p:nvPr/>
        </p:nvSpPr>
        <p:spPr>
          <a:xfrm>
            <a:off x="4280130" y="365758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АЧХ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44C2D-D9BF-C0E5-5CCE-5039C78460E3}"/>
              </a:ext>
            </a:extLst>
          </p:cNvPr>
          <p:cNvSpPr txBox="1"/>
          <p:nvPr/>
        </p:nvSpPr>
        <p:spPr>
          <a:xfrm>
            <a:off x="7380312" y="364749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ФЧХ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846FA7-3E3F-D854-4320-257DD53A1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62" y="1396380"/>
            <a:ext cx="2962275" cy="9525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6B2A06-8F08-AD0B-A89D-AE9C70FCC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24" y="3975323"/>
            <a:ext cx="2373556" cy="233399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F8BF2C-6692-FC1A-F438-6BAB2850A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996" y="3941630"/>
            <a:ext cx="3033894" cy="243969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84448D6-29D4-B88D-8264-DCCC60362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3059" y="3964478"/>
            <a:ext cx="2973437" cy="23912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AE94C5-2CAD-DA44-AA0E-2B1E0D6BE902}"/>
              </a:ext>
            </a:extLst>
          </p:cNvPr>
          <p:cNvSpPr txBox="1"/>
          <p:nvPr/>
        </p:nvSpPr>
        <p:spPr>
          <a:xfrm>
            <a:off x="19720" y="3553852"/>
            <a:ext cx="2962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расположение полюсов и нулей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ф.Ч.п.р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для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38BF5AE-9EB9-EB36-48EC-59D9CDF6E723}"/>
                  </a:ext>
                </a:extLst>
              </p:cNvPr>
              <p:cNvSpPr txBox="1"/>
              <p:nvPr/>
            </p:nvSpPr>
            <p:spPr>
              <a:xfrm>
                <a:off x="228600" y="2492896"/>
                <a:ext cx="8807896" cy="1107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Полином Чебышёва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|x| ≤ 1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колеблется в диапазоне -1…+1, а при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|x| &gt; 1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неограниченно возрастает по абсолютной величине -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АЧХ фильтра Чебышёва первого рода в полосе пропускания колеблется между значениями 1/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ru-RU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1, а вне полосы пропускания монотонно затухает до нуля.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38BF5AE-9EB9-EB36-48EC-59D9CDF6E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492896"/>
                <a:ext cx="8807896" cy="1107354"/>
              </a:xfrm>
              <a:prstGeom prst="rect">
                <a:avLst/>
              </a:prstGeom>
              <a:blipFill>
                <a:blip r:embed="rId6"/>
                <a:stretch>
                  <a:fillRect l="-416" t="-1648" r="-416" b="-60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2996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Фильтр Чебышёва второго рода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3D8AE-ADB3-87E4-F1AD-26A53F7BFAF7}"/>
              </a:ext>
            </a:extLst>
          </p:cNvPr>
          <p:cNvSpPr txBox="1"/>
          <p:nvPr/>
        </p:nvSpPr>
        <p:spPr>
          <a:xfrm>
            <a:off x="228600" y="620688"/>
            <a:ext cx="86868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передачи фильтра Чебышёва второго рода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имеет нули, и полюса. Она связана с функцией передачи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ф.Ч.п.р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соотношением: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1 –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 этой причине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ф.Ч.в.р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иногда называют инверсным фильтром Чебышева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8038E-1CD6-2671-2EB5-D2B379A03084}"/>
              </a:ext>
            </a:extLst>
          </p:cNvPr>
          <p:cNvSpPr txBox="1"/>
          <p:nvPr/>
        </p:nvSpPr>
        <p:spPr>
          <a:xfrm>
            <a:off x="3371799" y="1555124"/>
            <a:ext cx="57722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частота среза,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полином Чебышёва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 порядка;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порядок фильтра;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параметр, определяющий величину пульсации АЧХ в полосе подавления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4087E5-8D5E-4190-40DC-701730F53F51}"/>
              </a:ext>
            </a:extLst>
          </p:cNvPr>
          <p:cNvSpPr txBox="1"/>
          <p:nvPr/>
        </p:nvSpPr>
        <p:spPr>
          <a:xfrm>
            <a:off x="4211960" y="365758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АЧХ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44C2D-D9BF-C0E5-5CCE-5039C78460E3}"/>
              </a:ext>
            </a:extLst>
          </p:cNvPr>
          <p:cNvSpPr txBox="1"/>
          <p:nvPr/>
        </p:nvSpPr>
        <p:spPr>
          <a:xfrm>
            <a:off x="7380312" y="364749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ФЧХ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AE94C5-2CAD-DA44-AA0E-2B1E0D6BE902}"/>
              </a:ext>
            </a:extLst>
          </p:cNvPr>
          <p:cNvSpPr txBox="1"/>
          <p:nvPr/>
        </p:nvSpPr>
        <p:spPr>
          <a:xfrm>
            <a:off x="19720" y="3553852"/>
            <a:ext cx="2962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расположение полюсов и нулей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ф.Ч.в.р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для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38BF5AE-9EB9-EB36-48EC-59D9CDF6E723}"/>
                  </a:ext>
                </a:extLst>
              </p:cNvPr>
              <p:cNvSpPr txBox="1"/>
              <p:nvPr/>
            </p:nvSpPr>
            <p:spPr>
              <a:xfrm>
                <a:off x="228600" y="2752651"/>
                <a:ext cx="8807896" cy="861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АЧХ фильтра Чебышёва второго рода в полосе пропускания монотонно затухает, а в полосе подавления колеблется между нулем и значениями 1/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ru-RU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Частотой среза </a:t>
                </a:r>
                <a:r>
                  <a:rPr lang="ru-RU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ф.Ч.в.р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считается начало полосы подавления!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38BF5AE-9EB9-EB36-48EC-59D9CDF6E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752651"/>
                <a:ext cx="8807896" cy="861133"/>
              </a:xfrm>
              <a:prstGeom prst="rect">
                <a:avLst/>
              </a:prstGeom>
              <a:blipFill>
                <a:blip r:embed="rId2"/>
                <a:stretch>
                  <a:fillRect l="-416" t="-2128" r="-416" b="-85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34F5DC-ECE4-DF2D-822E-E1B098CF4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98" y="1565489"/>
            <a:ext cx="2428203" cy="117135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BC3F3E-3A78-A26C-A72E-C9B7AFA66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22" y="4018131"/>
            <a:ext cx="2352970" cy="229776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4501C9F-C035-A677-D98A-DBF6F991C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4840" y="3942458"/>
            <a:ext cx="3034405" cy="241324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A2433C9-257E-52E8-FB3D-A734094A8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2180" y="3967251"/>
            <a:ext cx="3017992" cy="241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52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Эллиптический фильтр </a:t>
            </a:r>
            <a:r>
              <a:rPr lang="ru-RU" sz="1800" b="1" kern="0" dirty="0">
                <a:solidFill>
                  <a:srgbClr val="000099"/>
                </a:solidFill>
              </a:rPr>
              <a:t>(фильтр Золотарева-</a:t>
            </a:r>
            <a:r>
              <a:rPr lang="ru-RU" sz="1800" b="1" kern="0" dirty="0" err="1">
                <a:solidFill>
                  <a:srgbClr val="000099"/>
                </a:solidFill>
              </a:rPr>
              <a:t>Кауэра</a:t>
            </a:r>
            <a:r>
              <a:rPr lang="ru-RU" sz="1800" b="1" kern="0" dirty="0">
                <a:solidFill>
                  <a:srgbClr val="000099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3D8AE-ADB3-87E4-F1AD-26A53F7BFAF7}"/>
              </a:ext>
            </a:extLst>
          </p:cNvPr>
          <p:cNvSpPr txBox="1"/>
          <p:nvPr/>
        </p:nvSpPr>
        <p:spPr>
          <a:xfrm>
            <a:off x="228600" y="620688"/>
            <a:ext cx="868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определенном смысле объединяет в себе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ф.Ч.п.р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ф.Ч.в.р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поскольку АЧХ этого фильтра имеет пульсации и в полосе пропускания, и в полосе подавления.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8038E-1CD6-2671-2EB5-D2B379A03084}"/>
              </a:ext>
            </a:extLst>
          </p:cNvPr>
          <p:cNvSpPr txBox="1"/>
          <p:nvPr/>
        </p:nvSpPr>
        <p:spPr>
          <a:xfrm>
            <a:off x="3371799" y="1303020"/>
            <a:ext cx="57722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частота среза,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рациональная эллиптическая функция;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порядок фильтра; </a:t>
            </a:r>
            <a:r>
              <a:rPr lang="el-G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параметры, определяющие величину пульсации АЧХ в полосах пропускания и подавления соответственно.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4087E5-8D5E-4190-40DC-701730F53F51}"/>
              </a:ext>
            </a:extLst>
          </p:cNvPr>
          <p:cNvSpPr txBox="1"/>
          <p:nvPr/>
        </p:nvSpPr>
        <p:spPr>
          <a:xfrm>
            <a:off x="4211960" y="365758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АЧХ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44C2D-D9BF-C0E5-5CCE-5039C78460E3}"/>
              </a:ext>
            </a:extLst>
          </p:cNvPr>
          <p:cNvSpPr txBox="1"/>
          <p:nvPr/>
        </p:nvSpPr>
        <p:spPr>
          <a:xfrm>
            <a:off x="7308304" y="364749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ФЧХ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AE94C5-2CAD-DA44-AA0E-2B1E0D6BE902}"/>
              </a:ext>
            </a:extLst>
          </p:cNvPr>
          <p:cNvSpPr txBox="1"/>
          <p:nvPr/>
        </p:nvSpPr>
        <p:spPr>
          <a:xfrm>
            <a:off x="19720" y="3553852"/>
            <a:ext cx="2962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расположение полюсов и нулей эллиптического фильтра для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38BF5AE-9EB9-EB36-48EC-59D9CDF6E723}"/>
                  </a:ext>
                </a:extLst>
              </p:cNvPr>
              <p:cNvSpPr txBox="1"/>
              <p:nvPr/>
            </p:nvSpPr>
            <p:spPr>
              <a:xfrm>
                <a:off x="228600" y="2752651"/>
                <a:ext cx="8807896" cy="861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АЧХ фильтра Чебышёва второго рода в полосе пропускания монотонно затухает, а в полосе подавления колеблется между нулем и значениями 1/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ru-RU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Частотой среза </a:t>
                </a:r>
                <a:r>
                  <a:rPr lang="ru-RU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ф.Ч.в.р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считается начало полосы подавления!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38BF5AE-9EB9-EB36-48EC-59D9CDF6E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752651"/>
                <a:ext cx="8807896" cy="861133"/>
              </a:xfrm>
              <a:prstGeom prst="rect">
                <a:avLst/>
              </a:prstGeom>
              <a:blipFill>
                <a:blip r:embed="rId2"/>
                <a:stretch>
                  <a:fillRect l="-416" t="-2128" r="-416" b="-85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F36DE1-970F-B5E4-74F5-CD5D01F20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45" y="1338341"/>
            <a:ext cx="3181350" cy="8477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19847C-A96B-66A3-0E1B-F24952120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4" y="4008592"/>
            <a:ext cx="2383940" cy="23419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5F4372-330D-ABA9-AF62-6CEA20C79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2879" y="3998813"/>
            <a:ext cx="3017992" cy="23886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D28B97A-6007-E60A-0576-FF44CF2D01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0995" y="3976194"/>
            <a:ext cx="2983677" cy="241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98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Частотные преобразования фильтров</a:t>
            </a:r>
            <a:endParaRPr lang="ru-RU" sz="1800" b="1" kern="0" dirty="0">
              <a:solidFill>
                <a:srgbClr val="000099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25D030-A64D-743A-1BE6-A36BC7D10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60377"/>
            <a:ext cx="8686800" cy="241025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B2D44F7-C77F-8A83-D47E-89E91805F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769775"/>
            <a:ext cx="8686800" cy="15969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12305B-7CB7-1F53-3209-8D1D2D21B252}"/>
              </a:ext>
            </a:extLst>
          </p:cNvPr>
          <p:cNvSpPr txBox="1"/>
          <p:nvPr/>
        </p:nvSpPr>
        <p:spPr>
          <a:xfrm>
            <a:off x="132765" y="4366772"/>
            <a:ext cx="88078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arenR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Т.к. функция передачи после подстановки должна сохранить дробно-рациональную форму,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должна быть дробно-рациональной;</a:t>
            </a:r>
          </a:p>
          <a:p>
            <a:pPr marL="342900" indent="-342900" algn="just">
              <a:buAutoNum type="arabicParenR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Т.к. комплексный коэффициент передачи получается из функции передачи при подстановке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iω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чисто мнимом аргументе должна давать чисто мнимый результат. Функция преобразования частоты определяется тогда следующим образом: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iω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дробно-рациональной 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выполнение данного условия обеспечивается только если один из полиномов (числителя или знаменателя) содержит только четные, а другой – только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нечетые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степени переменной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539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Изменение частоты среза ФНЧ</a:t>
            </a:r>
            <a:endParaRPr lang="ru-RU" sz="1800" b="1" kern="0" dirty="0">
              <a:solidFill>
                <a:srgbClr val="000099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0088315-3681-91A1-0A93-1AD391FAA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92696"/>
            <a:ext cx="8721687" cy="415982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7228367-D03C-2A6A-6C25-B283CE303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4568553"/>
            <a:ext cx="2155310" cy="171888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B365352-A2A9-85DD-B032-511517E1F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560" y="4608135"/>
            <a:ext cx="2127212" cy="1750047"/>
          </a:xfrm>
          <a:prstGeom prst="rect">
            <a:avLst/>
          </a:prstGeom>
        </p:spPr>
      </p:pic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DA45AAC4-CECB-82AB-2033-1579E337FB13}"/>
              </a:ext>
            </a:extLst>
          </p:cNvPr>
          <p:cNvSpPr/>
          <p:nvPr/>
        </p:nvSpPr>
        <p:spPr>
          <a:xfrm>
            <a:off x="4427984" y="5301208"/>
            <a:ext cx="57606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217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Преобразование ФНЧ в ФВЧ</a:t>
            </a:r>
            <a:endParaRPr lang="ru-RU" sz="1800" b="1" kern="0" dirty="0">
              <a:solidFill>
                <a:srgbClr val="000099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B365352-A2A9-85DD-B032-511517E1F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756071"/>
            <a:ext cx="2880320" cy="2369625"/>
          </a:xfrm>
          <a:prstGeom prst="rect">
            <a:avLst/>
          </a:prstGeom>
        </p:spPr>
      </p:pic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DA45AAC4-CECB-82AB-2033-1579E337FB13}"/>
              </a:ext>
            </a:extLst>
          </p:cNvPr>
          <p:cNvSpPr/>
          <p:nvPr/>
        </p:nvSpPr>
        <p:spPr>
          <a:xfrm>
            <a:off x="4139952" y="4725144"/>
            <a:ext cx="72008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B086DE-3C16-B81E-6604-006499923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20760"/>
            <a:ext cx="8686800" cy="273526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676D40-F9E8-2015-68A4-13B872BA0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112" y="3756071"/>
            <a:ext cx="2946304" cy="241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73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000" b="1" kern="0" dirty="0">
                <a:solidFill>
                  <a:srgbClr val="000099"/>
                </a:solidFill>
              </a:rPr>
              <a:t>Преобразование ФНЧ в полосовой фильтр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2B1491-A1BB-BB62-8B64-FA6A3DF0B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92696"/>
            <a:ext cx="8686800" cy="371780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506388F-5094-506A-2D5B-E956F5378B54}"/>
              </a:ext>
            </a:extLst>
          </p:cNvPr>
          <p:cNvSpPr/>
          <p:nvPr/>
        </p:nvSpPr>
        <p:spPr>
          <a:xfrm>
            <a:off x="8244408" y="3861048"/>
            <a:ext cx="670992" cy="549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54591-94B8-A4F6-A53D-4E25F0A1D2EC}"/>
              </a:ext>
            </a:extLst>
          </p:cNvPr>
          <p:cNvSpPr txBox="1"/>
          <p:nvPr/>
        </p:nvSpPr>
        <p:spPr>
          <a:xfrm>
            <a:off x="132765" y="4366772"/>
            <a:ext cx="8807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регулирует крутизну ветвей функции преобразования, что и определяет полосу пропускания фильтра. В исходном фильтре-прототипе частота среза всегда равна 1. Следовательно, на границах полосы пропускания полосового фильтра функция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должна равняться единице. Решая уравнение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 получим: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7F9554-6560-0675-914B-8D24C7594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955" y="5605201"/>
            <a:ext cx="1999516" cy="7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30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000" b="1" kern="0" dirty="0">
                <a:solidFill>
                  <a:srgbClr val="000099"/>
                </a:solidFill>
              </a:rPr>
              <a:t>Преобразование ФНЧ в полосовой фильтр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54591-94B8-A4F6-A53D-4E25F0A1D2EC}"/>
              </a:ext>
            </a:extLst>
          </p:cNvPr>
          <p:cNvSpPr txBox="1"/>
          <p:nvPr/>
        </p:nvSpPr>
        <p:spPr>
          <a:xfrm>
            <a:off x="132765" y="639738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ольку фильтр-прототип работает и при отрицательных частотах, необходимо также рассмотреть и уравнение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-1, решение которого будет: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9B5452-65F8-9AA3-E5D6-7175D7DD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372" y="1305095"/>
            <a:ext cx="2109257" cy="78183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302A81-88D6-2E60-A58C-5E08B7D44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5" y="2204864"/>
            <a:ext cx="8352929" cy="16887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7F89B5-2791-E350-65B1-39C351065A09}"/>
              </a:ext>
            </a:extLst>
          </p:cNvPr>
          <p:cNvSpPr txBox="1"/>
          <p:nvPr/>
        </p:nvSpPr>
        <p:spPr>
          <a:xfrm>
            <a:off x="132765" y="2051556"/>
            <a:ext cx="880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итоге: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DA006C8-4576-F996-28C5-9C0B6BC48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933056"/>
            <a:ext cx="8686800" cy="109097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F561361-3F85-212E-01CD-09C6A8311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956621"/>
            <a:ext cx="8712061" cy="1363556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AE6848D-3417-658C-BF27-0ECC134587DB}"/>
              </a:ext>
            </a:extLst>
          </p:cNvPr>
          <p:cNvSpPr/>
          <p:nvPr/>
        </p:nvSpPr>
        <p:spPr>
          <a:xfrm>
            <a:off x="8172400" y="5733256"/>
            <a:ext cx="768261" cy="485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589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000" b="1" kern="0" dirty="0">
                <a:solidFill>
                  <a:srgbClr val="000099"/>
                </a:solidFill>
              </a:rPr>
              <a:t>Преобразование ФНЧ в полосовой фильтр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5881BF-5C06-F5B5-B465-FB5E2F61D23D}"/>
              </a:ext>
            </a:extLst>
          </p:cNvPr>
          <p:cNvSpPr txBox="1"/>
          <p:nvPr/>
        </p:nvSpPr>
        <p:spPr>
          <a:xfrm>
            <a:off x="132765" y="639738"/>
            <a:ext cx="880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Рассматривая параметр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ω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добротность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функцию преобразования частоты можно записать в виде: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48448C-85CC-4899-D15F-8FF2E7CBE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503" y="1124744"/>
            <a:ext cx="1924993" cy="75325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0E30E8-CA3F-769D-C51E-29E157549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09" y="2204467"/>
            <a:ext cx="3108982" cy="79248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E93A1D-7BD8-239C-4F63-397622688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416" y="3356992"/>
            <a:ext cx="5103168" cy="818378"/>
          </a:xfrm>
          <a:prstGeom prst="rect">
            <a:avLst/>
          </a:prstGeom>
        </p:spPr>
      </p:pic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5644A9E5-0044-F5C6-7FF9-BAF885BDC888}"/>
              </a:ext>
            </a:extLst>
          </p:cNvPr>
          <p:cNvSpPr/>
          <p:nvPr/>
        </p:nvSpPr>
        <p:spPr>
          <a:xfrm>
            <a:off x="4464347" y="1878002"/>
            <a:ext cx="215307" cy="2783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: вниз 14">
            <a:extLst>
              <a:ext uri="{FF2B5EF4-FFF2-40B4-BE49-F238E27FC236}">
                <a16:creationId xmlns:a16="http://schemas.microsoft.com/office/drawing/2014/main" id="{A7F8F548-5A21-58C8-F37A-1F414D380EC5}"/>
              </a:ext>
            </a:extLst>
          </p:cNvPr>
          <p:cNvSpPr/>
          <p:nvPr/>
        </p:nvSpPr>
        <p:spPr>
          <a:xfrm>
            <a:off x="4464347" y="3034927"/>
            <a:ext cx="215307" cy="2783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C740B8B-F004-C3C0-9ECB-CB0EF367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4196323"/>
            <a:ext cx="2592288" cy="2132663"/>
          </a:xfrm>
          <a:prstGeom prst="rect">
            <a:avLst/>
          </a:prstGeom>
        </p:spPr>
      </p:pic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99C36B56-5325-EC38-FC84-8E3D7C68CBFC}"/>
              </a:ext>
            </a:extLst>
          </p:cNvPr>
          <p:cNvSpPr/>
          <p:nvPr/>
        </p:nvSpPr>
        <p:spPr>
          <a:xfrm>
            <a:off x="4139952" y="4917998"/>
            <a:ext cx="72008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02FD150-4EB5-9CFA-C7D0-50C2CF3D47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4048" y="4178134"/>
            <a:ext cx="2612615" cy="2115850"/>
          </a:xfrm>
          <a:prstGeom prst="rect">
            <a:avLst/>
          </a:prstGeom>
        </p:spPr>
      </p:pic>
      <p:sp>
        <p:nvSpPr>
          <p:cNvPr id="19" name="Rectangle 2">
            <a:extLst>
              <a:ext uri="{FF2B5EF4-FFF2-40B4-BE49-F238E27FC236}">
                <a16:creationId xmlns:a16="http://schemas.microsoft.com/office/drawing/2014/main" id="{9D9F854F-9A1E-94C5-3A4B-1CAFCC34B4C4}"/>
              </a:ext>
            </a:extLst>
          </p:cNvPr>
          <p:cNvSpPr txBox="1">
            <a:spLocks noChangeArrowheads="1"/>
          </p:cNvSpPr>
          <p:nvPr/>
        </p:nvSpPr>
        <p:spPr>
          <a:xfrm>
            <a:off x="191616" y="4427691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800" b="1" kern="0" dirty="0">
                <a:solidFill>
                  <a:srgbClr val="FF0000"/>
                </a:solidFill>
              </a:rPr>
              <a:t>Преобразование ФНЧ в </a:t>
            </a:r>
            <a:r>
              <a:rPr lang="ru-RU" sz="2800" b="1" kern="0" dirty="0" err="1">
                <a:solidFill>
                  <a:srgbClr val="FF0000"/>
                </a:solidFill>
              </a:rPr>
              <a:t>режекторный</a:t>
            </a:r>
            <a:r>
              <a:rPr lang="ru-RU" sz="2800" b="1" kern="0" dirty="0">
                <a:solidFill>
                  <a:srgbClr val="FF0000"/>
                </a:solidFill>
              </a:rPr>
              <a:t> фильтр</a:t>
            </a:r>
          </a:p>
          <a:p>
            <a:pPr eaLnBrk="1" hangingPunct="1"/>
            <a:r>
              <a:rPr lang="ru-RU" sz="2800" b="1" kern="0" dirty="0">
                <a:solidFill>
                  <a:srgbClr val="FF0000"/>
                </a:solidFill>
              </a:rPr>
              <a:t>(самостоятельно!)</a:t>
            </a:r>
          </a:p>
        </p:txBody>
      </p:sp>
    </p:spTree>
    <p:extLst>
      <p:ext uri="{BB962C8B-B14F-4D97-AF65-F5344CB8AC3E}">
        <p14:creationId xmlns:p14="http://schemas.microsoft.com/office/powerpoint/2010/main" val="177718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5E071D-B024-1B4C-65F1-1EF8917D1FB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000" b="1" kern="0" dirty="0">
                <a:solidFill>
                  <a:srgbClr val="000099"/>
                </a:solidFill>
              </a:rPr>
              <a:t>Преобразование ФНЧ в полосовой фильтр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7BE90B-8EF7-6A65-D7BC-370FF10FF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729" y="1945860"/>
            <a:ext cx="6088542" cy="4423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BD3BD0-D705-7537-45D2-CD4EE9808B9D}"/>
              </a:ext>
            </a:extLst>
          </p:cNvPr>
          <p:cNvSpPr txBox="1"/>
          <p:nvPr/>
        </p:nvSpPr>
        <p:spPr>
          <a:xfrm>
            <a:off x="228600" y="629196"/>
            <a:ext cx="8686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проектировании фильтров на основе прототипов в качестве входных параметров рассматривались порядок фильтра и частота среза. Вообще говоря, при разработке фильтров рассматриваются несколько другие параметры в качестве входных: частотные границы полос пропускания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подавления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а также допустимая неравномерность АЧХ в полосе пропускания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минимально необходимое затухание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полосе подавления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3781737325"/>
      </p:ext>
    </p:extLst>
  </p:cSld>
  <p:clrMapOvr>
    <a:masterClrMapping/>
  </p:clrMapOvr>
</p:sld>
</file>

<file path=ppt/theme/theme1.xml><?xml version="1.0" encoding="utf-8"?>
<a:theme xmlns:a="http://schemas.openxmlformats.org/drawingml/2006/main" name="1_По_умолчанию">
  <a:themeElements>
    <a:clrScheme name="1_По_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По_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По_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Спец_оформление">
  <a:themeElements>
    <a:clrScheme name="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Спец_оформление">
  <a:themeElements>
    <a:clrScheme name="1_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По_умолчанию">
  <a:themeElements>
    <a:clrScheme name="1_По_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По_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По_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11971</TotalTime>
  <Words>1894</Words>
  <Application>Microsoft Office PowerPoint</Application>
  <PresentationFormat>Экран (4:3)</PresentationFormat>
  <Paragraphs>128</Paragraphs>
  <Slides>37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Cambria Math</vt:lpstr>
      <vt:lpstr>Times New Roman</vt:lpstr>
      <vt:lpstr>1_По_умолчанию</vt:lpstr>
      <vt:lpstr>Спец_оформление</vt:lpstr>
      <vt:lpstr>1_Спец_оформление</vt:lpstr>
      <vt:lpstr>2_По_умолчанию</vt:lpstr>
      <vt:lpstr>Equation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+++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Тёмыч</dc:creator>
  <cp:lastModifiedBy>Артем Александрович Еремин</cp:lastModifiedBy>
  <cp:revision>855</cp:revision>
  <dcterms:created xsi:type="dcterms:W3CDTF">2005-11-19T10:53:17Z</dcterms:created>
  <dcterms:modified xsi:type="dcterms:W3CDTF">2023-12-14T14:54:22Z</dcterms:modified>
</cp:coreProperties>
</file>