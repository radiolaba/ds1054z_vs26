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1" r:id="rId2"/>
    <p:sldMasterId id="2147483652" r:id="rId3"/>
    <p:sldMasterId id="2147483688" r:id="rId4"/>
  </p:sldMasterIdLst>
  <p:notesMasterIdLst>
    <p:notesMasterId r:id="rId22"/>
  </p:notesMasterIdLst>
  <p:handoutMasterIdLst>
    <p:handoutMasterId r:id="rId23"/>
  </p:handoutMasterIdLst>
  <p:sldIdLst>
    <p:sldId id="330" r:id="rId5"/>
    <p:sldId id="447" r:id="rId6"/>
    <p:sldId id="483" r:id="rId7"/>
    <p:sldId id="484" r:id="rId8"/>
    <p:sldId id="485" r:id="rId9"/>
    <p:sldId id="486" r:id="rId10"/>
    <p:sldId id="487" r:id="rId11"/>
    <p:sldId id="488" r:id="rId12"/>
    <p:sldId id="489" r:id="rId13"/>
    <p:sldId id="490" r:id="rId14"/>
    <p:sldId id="491" r:id="rId15"/>
    <p:sldId id="492" r:id="rId16"/>
    <p:sldId id="493" r:id="rId17"/>
    <p:sldId id="494" r:id="rId18"/>
    <p:sldId id="495" r:id="rId19"/>
    <p:sldId id="496" r:id="rId20"/>
    <p:sldId id="497" r:id="rId21"/>
  </p:sldIdLst>
  <p:sldSz cx="9144000" cy="6858000" type="screen4x3"/>
  <p:notesSz cx="6797675" cy="9926638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FF0000"/>
    <a:srgbClr val="0000FF"/>
    <a:srgbClr val="000099"/>
    <a:srgbClr val="33CC33"/>
    <a:srgbClr val="00FF00"/>
    <a:srgbClr val="CC3300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98" autoAdjust="0"/>
    <p:restoredTop sz="94646" autoAdjust="0"/>
  </p:normalViewPr>
  <p:slideViewPr>
    <p:cSldViewPr>
      <p:cViewPr varScale="1">
        <p:scale>
          <a:sx n="112" d="100"/>
          <a:sy n="112" d="100"/>
        </p:scale>
        <p:origin x="171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-3936" y="-84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AC6DA4C8-B91F-4E53-A68C-51EF85D21E5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4538"/>
            <a:ext cx="4965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986C4D70-5135-4FF9-B64A-F0201371F28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228600" y="1268413"/>
            <a:ext cx="4267200" cy="51323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68413"/>
            <a:ext cx="4267200" cy="51323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43700" y="188913"/>
            <a:ext cx="2171700" cy="621188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228600" y="188913"/>
            <a:ext cx="6362700" cy="621188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228600" y="188913"/>
            <a:ext cx="8686800" cy="62118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228600" y="1268413"/>
            <a:ext cx="4267200" cy="51323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68413"/>
            <a:ext cx="4267200" cy="51323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43700" y="188913"/>
            <a:ext cx="2171700" cy="621188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228600" y="188913"/>
            <a:ext cx="6362700" cy="621188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228600" y="188913"/>
            <a:ext cx="8686800" cy="62118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88913"/>
            <a:ext cx="8686800" cy="100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Hier klicken, um.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8413"/>
            <a:ext cx="8686800" cy="5132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Hier klicken, um Master-Textformat zu bearbeiten.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pic>
        <p:nvPicPr>
          <p:cNvPr id="23556" name="Picture 4" descr="logotree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459788" y="6453188"/>
            <a:ext cx="468312" cy="3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1655" name="Line 7"/>
          <p:cNvSpPr>
            <a:spLocks noChangeShapeType="1"/>
          </p:cNvSpPr>
          <p:nvPr userDrawn="1"/>
        </p:nvSpPr>
        <p:spPr bwMode="auto">
          <a:xfrm>
            <a:off x="179388" y="6381750"/>
            <a:ext cx="8785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411656" name="Line 8"/>
          <p:cNvSpPr>
            <a:spLocks noChangeShapeType="1"/>
          </p:cNvSpPr>
          <p:nvPr userDrawn="1"/>
        </p:nvSpPr>
        <p:spPr bwMode="auto">
          <a:xfrm>
            <a:off x="250825" y="620713"/>
            <a:ext cx="868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pic>
        <p:nvPicPr>
          <p:cNvPr id="23560" name="Picture 12" descr="logotree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215900" y="6453188"/>
            <a:ext cx="468313" cy="3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ChangeArrowheads="1"/>
          </p:cNvSpPr>
          <p:nvPr/>
        </p:nvSpPr>
        <p:spPr bwMode="auto">
          <a:xfrm>
            <a:off x="685800" y="228600"/>
            <a:ext cx="77724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de-DE" sz="4400">
              <a:solidFill>
                <a:schemeClr val="tx2"/>
              </a:solidFill>
            </a:endParaRPr>
          </a:p>
        </p:txBody>
      </p:sp>
      <p:sp>
        <p:nvSpPr>
          <p:cNvPr id="412675" name="Rectangle 3"/>
          <p:cNvSpPr>
            <a:spLocks noChangeArrowheads="1"/>
          </p:cNvSpPr>
          <p:nvPr/>
        </p:nvSpPr>
        <p:spPr bwMode="auto">
          <a:xfrm>
            <a:off x="1371600" y="2590800"/>
            <a:ext cx="64008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defRPr/>
            </a:pPr>
            <a:endParaRPr lang="de-DE" sz="3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ChangeArrowheads="1"/>
          </p:cNvSpPr>
          <p:nvPr/>
        </p:nvSpPr>
        <p:spPr bwMode="auto">
          <a:xfrm>
            <a:off x="685800" y="228600"/>
            <a:ext cx="77724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endParaRPr lang="de-DE" sz="4400">
              <a:solidFill>
                <a:schemeClr val="tx2"/>
              </a:solidFill>
            </a:endParaRPr>
          </a:p>
        </p:txBody>
      </p:sp>
      <p:sp>
        <p:nvSpPr>
          <p:cNvPr id="506883" name="Rectangle 3"/>
          <p:cNvSpPr>
            <a:spLocks noChangeArrowheads="1"/>
          </p:cNvSpPr>
          <p:nvPr/>
        </p:nvSpPr>
        <p:spPr bwMode="auto">
          <a:xfrm>
            <a:off x="1371600" y="2590800"/>
            <a:ext cx="64008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defRPr/>
            </a:pPr>
            <a:endParaRPr lang="de-DE" sz="3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88913"/>
            <a:ext cx="8686800" cy="100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Hier klicken, um.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8413"/>
            <a:ext cx="8686800" cy="5132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err="1"/>
              <a:t>Hier</a:t>
            </a:r>
            <a:r>
              <a:rPr lang="en-US" dirty="0"/>
              <a:t> </a:t>
            </a:r>
            <a:r>
              <a:rPr lang="en-US" dirty="0" err="1"/>
              <a:t>klicken</a:t>
            </a:r>
            <a:r>
              <a:rPr lang="en-US" dirty="0"/>
              <a:t>, um Master-</a:t>
            </a:r>
            <a:r>
              <a:rPr lang="en-US" dirty="0" err="1"/>
              <a:t>Textformat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bearbeiten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Zweite</a:t>
            </a:r>
            <a:r>
              <a:rPr lang="en-US" dirty="0"/>
              <a:t> Ebene</a:t>
            </a:r>
          </a:p>
          <a:p>
            <a:pPr lvl="2"/>
            <a:r>
              <a:rPr lang="en-US" dirty="0" err="1"/>
              <a:t>Dritte</a:t>
            </a:r>
            <a:r>
              <a:rPr lang="en-US" dirty="0"/>
              <a:t> Ebene</a:t>
            </a:r>
          </a:p>
          <a:p>
            <a:pPr lvl="3"/>
            <a:r>
              <a:rPr lang="en-US" dirty="0" err="1"/>
              <a:t>Vierte</a:t>
            </a:r>
            <a:r>
              <a:rPr lang="en-US" dirty="0"/>
              <a:t> Ebene</a:t>
            </a:r>
          </a:p>
          <a:p>
            <a:pPr lvl="4"/>
            <a:r>
              <a:rPr lang="en-US" dirty="0" err="1"/>
              <a:t>Fünfte</a:t>
            </a:r>
            <a:r>
              <a:rPr lang="en-US" dirty="0"/>
              <a:t> Ebene</a:t>
            </a:r>
          </a:p>
        </p:txBody>
      </p:sp>
      <p:pic>
        <p:nvPicPr>
          <p:cNvPr id="23556" name="Picture 4" descr="logotree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459788" y="6453188"/>
            <a:ext cx="468312" cy="3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1655" name="Line 7"/>
          <p:cNvSpPr>
            <a:spLocks noChangeShapeType="1"/>
          </p:cNvSpPr>
          <p:nvPr userDrawn="1"/>
        </p:nvSpPr>
        <p:spPr bwMode="auto">
          <a:xfrm>
            <a:off x="179388" y="6381750"/>
            <a:ext cx="8785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sp>
        <p:nvSpPr>
          <p:cNvPr id="411656" name="Line 8"/>
          <p:cNvSpPr>
            <a:spLocks noChangeShapeType="1"/>
          </p:cNvSpPr>
          <p:nvPr userDrawn="1"/>
        </p:nvSpPr>
        <p:spPr bwMode="auto">
          <a:xfrm>
            <a:off x="250825" y="620713"/>
            <a:ext cx="868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solidFill>
                <a:srgbClr val="000000"/>
              </a:solidFill>
            </a:endParaRPr>
          </a:p>
        </p:txBody>
      </p:sp>
      <p:pic>
        <p:nvPicPr>
          <p:cNvPr id="23560" name="Picture 12" descr="logotree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215900" y="6453188"/>
            <a:ext cx="468313" cy="3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ChangeArrowheads="1"/>
          </p:cNvSpPr>
          <p:nvPr/>
        </p:nvSpPr>
        <p:spPr bwMode="auto">
          <a:xfrm>
            <a:off x="179388" y="785794"/>
            <a:ext cx="8785225" cy="3143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sz="4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Математические основы цифровой обработки сигналов</a:t>
            </a:r>
            <a:endParaRPr lang="en-US" sz="4800" b="1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03F381-0E59-FBA7-B20B-BCE3B58FB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4293096"/>
            <a:ext cx="8172908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sz="3000" b="1" dirty="0">
                <a:solidFill>
                  <a:srgbClr val="C00000"/>
                </a:solidFill>
              </a:rPr>
              <a:t>Лекция 5: дискретные фильтры</a:t>
            </a:r>
            <a:endParaRPr lang="en-US" sz="30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59EE46-7A22-D376-D4EC-2EA54817B63A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0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600" b="1" kern="0" dirty="0">
                <a:solidFill>
                  <a:srgbClr val="000099"/>
                </a:solidFill>
              </a:rPr>
              <a:t>Общие сведения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306F6C-486A-AFF3-EB91-A6C25BE6D3BD}"/>
              </a:ext>
            </a:extLst>
          </p:cNvPr>
          <p:cNvSpPr txBox="1"/>
          <p:nvPr/>
        </p:nvSpPr>
        <p:spPr>
          <a:xfrm>
            <a:off x="323528" y="764704"/>
            <a:ext cx="859187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</a:t>
            </a:r>
            <a:r>
              <a:rPr lang="ru-RU" sz="20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искретный фильтр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— это произвольная система обработки дискретного</a:t>
            </a:r>
            <a:b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сигнала, обладающая свойствами линейности и стационарности.</a:t>
            </a:r>
            <a:endParaRPr lang="en-US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Линейность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означает, что выходная реакция на сумму сигналов равна сумме реакций на эти сигналы, поданные на вход по отдельности, а </a:t>
            </a:r>
            <a:r>
              <a:rPr lang="ru-RU" sz="18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стационарность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что задержка входного сигнала приводит лишь к такой же задержке выходного сигнала, не меняя его формы.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1B8414-76D2-5805-02FF-A6EEA5A07DE0}"/>
              </a:ext>
            </a:extLst>
          </p:cNvPr>
          <p:cNvSpPr txBox="1"/>
          <p:nvPr/>
        </p:nvSpPr>
        <p:spPr>
          <a:xfrm>
            <a:off x="342320" y="3017835"/>
            <a:ext cx="8686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Любой фильтр обладает определенной частотной характеристикой. Чтобы она была</a:t>
            </a:r>
            <a:b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нетривиальной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т. е. чтобы коэффициент передачи фильтра на разных частотах был</a:t>
            </a:r>
            <a:b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разным, выходной сигнал фильтра </a:t>
            </a:r>
            <a:r>
              <a:rPr lang="ru-RU" sz="1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должен зависеть от нескольких отсчетов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входного сигнала </a:t>
            </a:r>
            <a:r>
              <a:rPr lang="ru-RU" sz="1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 Таким образом, дискретный фильтр должен обладать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памятью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E0ED1C-8F41-FD3C-58DD-C54B57D35FF3}"/>
              </a:ext>
            </a:extLst>
          </p:cNvPr>
          <p:cNvSpPr txBox="1"/>
          <p:nvPr/>
        </p:nvSpPr>
        <p:spPr>
          <a:xfrm>
            <a:off x="342320" y="4408321"/>
            <a:ext cx="85730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Чтобы обеспечить линейность и стационарность, производимые фильтром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математические операции должны ограничиваться сложением и умножением на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константы.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63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59EE46-7A22-D376-D4EC-2EA54817B63A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0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600" b="1" kern="0" dirty="0">
                <a:solidFill>
                  <a:srgbClr val="000099"/>
                </a:solidFill>
              </a:rPr>
              <a:t>Общие сведения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306F6C-486A-AFF3-EB91-A6C25BE6D3BD}"/>
              </a:ext>
            </a:extLst>
          </p:cNvPr>
          <p:cNvSpPr txBox="1"/>
          <p:nvPr/>
        </p:nvSpPr>
        <p:spPr>
          <a:xfrm>
            <a:off x="323528" y="764704"/>
            <a:ext cx="8591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6B8204-B081-291D-EF23-403EAF0CC797}"/>
              </a:ext>
            </a:extLst>
          </p:cNvPr>
          <p:cNvSpPr txBox="1"/>
          <p:nvPr/>
        </p:nvSpPr>
        <p:spPr>
          <a:xfrm>
            <a:off x="1331640" y="764704"/>
            <a:ext cx="2160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s-E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ES" sz="1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s-ES" sz="1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s-E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ES" sz="1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es-ES" sz="1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s-E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ES" sz="1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s-E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C2C96B7-83F6-3DB7-C578-820178702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846312"/>
            <a:ext cx="2787340" cy="25187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380C03-D1C8-0BD3-095F-364C6181258E}"/>
              </a:ext>
            </a:extLst>
          </p:cNvPr>
          <p:cNvSpPr txBox="1"/>
          <p:nvPr/>
        </p:nvSpPr>
        <p:spPr>
          <a:xfrm>
            <a:off x="263707" y="1549734"/>
            <a:ext cx="2160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постоянный сигнал: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3DA3A0E-4059-38A3-31D8-E72F121EC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8580" y="1855117"/>
            <a:ext cx="2751466" cy="24975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D31E21-4CA8-E2E9-F69D-248FBEC9FB82}"/>
              </a:ext>
            </a:extLst>
          </p:cNvPr>
          <p:cNvSpPr txBox="1"/>
          <p:nvPr/>
        </p:nvSpPr>
        <p:spPr>
          <a:xfrm>
            <a:off x="3238032" y="1390706"/>
            <a:ext cx="2520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гармонический сигнал с частотой Найквиста: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02214D1-14CC-5981-85D8-1F3D9383BC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8892" y="1872209"/>
            <a:ext cx="2751465" cy="34774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7E4C249-6935-DABF-D178-24B566927D08}"/>
              </a:ext>
            </a:extLst>
          </p:cNvPr>
          <p:cNvSpPr txBox="1"/>
          <p:nvPr/>
        </p:nvSpPr>
        <p:spPr>
          <a:xfrm>
            <a:off x="289544" y="4913297"/>
            <a:ext cx="60093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Данный пример – 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простейший случай </a:t>
            </a:r>
            <a:r>
              <a:rPr lang="ru-RU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нерекурсивного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фильтра. Такие фильтры суммируют некоторое число входных отсчетов, умножая их при этом на постоянные весовые коэффициенты.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132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59EE46-7A22-D376-D4EC-2EA54817B63A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0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600" b="1" kern="0" dirty="0">
                <a:solidFill>
                  <a:srgbClr val="000099"/>
                </a:solidFill>
              </a:rPr>
              <a:t>Общие сведения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655817-F355-744C-9DD3-A301E6ACCACB}"/>
              </a:ext>
            </a:extLst>
          </p:cNvPr>
          <p:cNvSpPr txBox="1"/>
          <p:nvPr/>
        </p:nvSpPr>
        <p:spPr>
          <a:xfrm>
            <a:off x="323527" y="764704"/>
            <a:ext cx="3012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s-E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ES" sz="1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s-ES" sz="1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s-E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ES" sz="1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s-E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ES" sz="1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s-E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711EACC-4744-A25D-EE18-3C1983B5A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4478" y="764704"/>
            <a:ext cx="2459985" cy="18848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B7FA9C-FCE7-DF0A-E8EA-0934591110D6}"/>
              </a:ext>
            </a:extLst>
          </p:cNvPr>
          <p:cNvSpPr txBox="1"/>
          <p:nvPr/>
        </p:nvSpPr>
        <p:spPr>
          <a:xfrm>
            <a:off x="323526" y="2649686"/>
            <a:ext cx="85918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Фильтр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ы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использующие при вычислениях предыдущие отсчеты выходного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сигнала, называют </a:t>
            </a:r>
            <a:r>
              <a:rPr lang="ru-RU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рекурсивными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фильтрами. Их главная отличительная черта – могут быть </a:t>
            </a:r>
            <a:r>
              <a:rPr lang="ru-RU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неустойчивыми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FEDDF0D-E14E-FFBE-73E2-ACDFDC124250}"/>
              </a:ext>
            </a:extLst>
          </p:cNvPr>
          <p:cNvGrpSpPr/>
          <p:nvPr/>
        </p:nvGrpSpPr>
        <p:grpSpPr>
          <a:xfrm>
            <a:off x="323525" y="3429000"/>
            <a:ext cx="8591873" cy="2819345"/>
            <a:chOff x="323525" y="3429000"/>
            <a:chExt cx="8591873" cy="281934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34F50CE-2FB7-04EB-5F2F-5706F43A30AE}"/>
                </a:ext>
              </a:extLst>
            </p:cNvPr>
            <p:cNvSpPr txBox="1"/>
            <p:nvPr/>
          </p:nvSpPr>
          <p:spPr>
            <a:xfrm>
              <a:off x="323528" y="3704431"/>
              <a:ext cx="33843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Пример:</a:t>
              </a:r>
              <a:r>
                <a:rPr lang="en-US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1800" b="0" i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s-ES" sz="1800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s-ES" sz="1800" b="0" i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s-ES" sz="1800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) = </a:t>
              </a:r>
              <a:r>
                <a:rPr lang="es-ES" sz="1800" b="0" i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s-ES" sz="1800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s-ES" sz="1800" b="0" i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s-ES" sz="1800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) +0,5 </a:t>
              </a:r>
              <a:r>
                <a:rPr lang="en-US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s-ES" sz="1800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s-ES" sz="1800" b="0" i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k </a:t>
              </a:r>
              <a:r>
                <a:rPr lang="ru-RU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en-US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1800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s-E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F45D1BF-0E50-F219-8011-16F85D128984}"/>
                </a:ext>
              </a:extLst>
            </p:cNvPr>
            <p:cNvSpPr txBox="1"/>
            <p:nvPr/>
          </p:nvSpPr>
          <p:spPr>
            <a:xfrm>
              <a:off x="323525" y="5602014"/>
              <a:ext cx="859187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b="1" i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Переходный процесс</a:t>
              </a:r>
              <a:r>
                <a:rPr lang="ru-RU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в этом фильтре является бесконечным. Это еще одна отличительная черта рекурсивных фильтров.</a:t>
              </a:r>
              <a:r>
                <a:rPr lang="ru-R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4C48C664-8BFA-43DB-9887-817064371F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75808" y="3429000"/>
              <a:ext cx="3146706" cy="22254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52697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59EE46-7A22-D376-D4EC-2EA54817B63A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0"/>
            <a:ext cx="86868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600" b="1" kern="0" dirty="0">
                <a:solidFill>
                  <a:srgbClr val="000099"/>
                </a:solidFill>
              </a:rPr>
              <a:t>Общий вид дискретного фильтра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6F74C0-C510-0045-AB3E-555D7EBFA37B}"/>
              </a:ext>
            </a:extLst>
          </p:cNvPr>
          <p:cNvSpPr txBox="1"/>
          <p:nvPr/>
        </p:nvSpPr>
        <p:spPr>
          <a:xfrm>
            <a:off x="179512" y="640137"/>
            <a:ext cx="8686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общем случае дискретный фильтр суммирует (с весовыми коэффициентами) некоторое количество входных отсчетов (включая последний) и некоторое количество предыдущих выходных отсчетов: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2F5F45-B972-9DE3-6824-8797EF8944C3}"/>
              </a:ext>
            </a:extLst>
          </p:cNvPr>
          <p:cNvSpPr txBox="1"/>
          <p:nvPr/>
        </p:nvSpPr>
        <p:spPr>
          <a:xfrm>
            <a:off x="227920" y="233958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где </a:t>
            </a:r>
            <a:r>
              <a:rPr lang="ru-RU" sz="18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8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sz="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sz="18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sz="8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sz="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вещественные коэффициенты.</a:t>
            </a:r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B986099-105A-DF05-0967-B989F2E05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836" y="1679705"/>
            <a:ext cx="4438328" cy="669175"/>
          </a:xfrm>
          <a:prstGeom prst="rect">
            <a:avLst/>
          </a:prstGeom>
        </p:spPr>
      </p:pic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194F089D-ED12-D78B-89A5-611E7CC443DD}"/>
              </a:ext>
            </a:extLst>
          </p:cNvPr>
          <p:cNvGrpSpPr/>
          <p:nvPr/>
        </p:nvGrpSpPr>
        <p:grpSpPr>
          <a:xfrm>
            <a:off x="228601" y="2771235"/>
            <a:ext cx="8686799" cy="1876893"/>
            <a:chOff x="228601" y="2771235"/>
            <a:chExt cx="8686799" cy="187689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CB189AC-4ACE-1E65-902E-32085BC3D1D4}"/>
                </a:ext>
              </a:extLst>
            </p:cNvPr>
            <p:cNvSpPr txBox="1"/>
            <p:nvPr/>
          </p:nvSpPr>
          <p:spPr>
            <a:xfrm>
              <a:off x="228601" y="2771235"/>
              <a:ext cx="8686799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Ф</a:t>
              </a:r>
              <a:r>
                <a:rPr lang="ru-RU" sz="1800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ормула (*) называется алгоритмом дискретной фильтрации. Если по-иному</a:t>
              </a:r>
              <a:br>
                <a:rPr lang="ru-RU" sz="1800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ru-RU" sz="1800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сгруппировать слагаемые, чтобы с одной стороны от знака равенства были только</a:t>
              </a:r>
              <a:br>
                <a:rPr lang="ru-RU" sz="1800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ru-RU" sz="1800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входные отсчеты, а с другой </a:t>
              </a:r>
              <a:r>
                <a:rPr lang="ru-RU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ru-RU" sz="1800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только выходные, можно получить форму записи, называемую разностным уравнением:</a:t>
              </a:r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B824E28C-0242-DC2D-C02F-B57AE5E82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2836" y="4005064"/>
              <a:ext cx="4438328" cy="643064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62D577F3-6721-C39F-D429-DB033A46878E}"/>
              </a:ext>
            </a:extLst>
          </p:cNvPr>
          <p:cNvSpPr txBox="1"/>
          <p:nvPr/>
        </p:nvSpPr>
        <p:spPr>
          <a:xfrm>
            <a:off x="7236296" y="1766861"/>
            <a:ext cx="504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(*)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D8F888-DD37-362D-B923-A52A852A5C37}"/>
              </a:ext>
            </a:extLst>
          </p:cNvPr>
          <p:cNvSpPr txBox="1"/>
          <p:nvPr/>
        </p:nvSpPr>
        <p:spPr>
          <a:xfrm>
            <a:off x="227919" y="4684873"/>
            <a:ext cx="86867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дискретной системе не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существует каких-либо принципиальных ограничений на соотношение между </a:t>
            </a:r>
            <a:r>
              <a:rPr lang="ru-RU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количествами входных и выходных отсчетов, используемых при вычислениях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156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59EE46-7A22-D376-D4EC-2EA54817B63A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200" b="1" kern="0" dirty="0">
                <a:solidFill>
                  <a:srgbClr val="000099"/>
                </a:solidFill>
              </a:rPr>
              <a:t>Способы описания дискретных фильтров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EC6052-FF36-932F-C520-B8B522E8FCBA}"/>
              </a:ext>
            </a:extLst>
          </p:cNvPr>
          <p:cNvSpPr txBox="1"/>
          <p:nvPr/>
        </p:nvSpPr>
        <p:spPr>
          <a:xfrm>
            <a:off x="467544" y="693035"/>
            <a:ext cx="85689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Благодаря сходству свойств </a:t>
            </a:r>
            <a:r>
              <a:rPr lang="ru-RU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-преобразования со свойствами преобразований Лапласа и Фурье способы описания аналоговых и дискретных систем в основном похожи друг на друга.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C6158A-AE6A-0AA2-6A9C-8344406619D8}"/>
              </a:ext>
            </a:extLst>
          </p:cNvPr>
          <p:cNvSpPr txBox="1"/>
          <p:nvPr/>
        </p:nvSpPr>
        <p:spPr>
          <a:xfrm>
            <a:off x="211741" y="605404"/>
            <a:ext cx="2664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FF0000"/>
                </a:solidFill>
                <a:effectLst/>
                <a:latin typeface="+mj-lt"/>
                <a:cs typeface="Times New Roman" panose="02020603050405020304" pitchFamily="18" charset="0"/>
              </a:rPr>
              <a:t>!</a:t>
            </a:r>
            <a:endParaRPr lang="ru-RU" sz="2400" b="1" dirty="0">
              <a:solidFill>
                <a:srgbClr val="FF0000"/>
              </a:solidFill>
              <a:latin typeface="+mj-lt"/>
              <a:cs typeface="Times New Roman" panose="02020603050405020304" pitchFamily="18" charset="0"/>
            </a:endParaRPr>
          </a:p>
        </p:txBody>
      </p: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21D6E146-E7CF-C43B-F4F0-F9C7BCE9DAE7}"/>
              </a:ext>
            </a:extLst>
          </p:cNvPr>
          <p:cNvGrpSpPr/>
          <p:nvPr/>
        </p:nvGrpSpPr>
        <p:grpSpPr>
          <a:xfrm>
            <a:off x="1" y="1556792"/>
            <a:ext cx="9144000" cy="2047486"/>
            <a:chOff x="1" y="1556792"/>
            <a:chExt cx="9144000" cy="2047486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4C7CBE08-C63B-F9D8-8875-5EA4AE9AC77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" y="1556792"/>
              <a:ext cx="9144000" cy="461666"/>
            </a:xfrm>
            <a:prstGeom prst="rect">
              <a:avLst/>
            </a:prstGeom>
            <a:noFill/>
          </p:spPr>
          <p:txBody>
            <a:bodyPr/>
            <a:lstStyle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  <a:lvl2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</a:defRPr>
              </a:lvl2pPr>
              <a:lvl3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</a:defRPr>
              </a:lvl3pPr>
              <a:lvl4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</a:defRPr>
              </a:lvl4pPr>
              <a:lvl5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</a:defRPr>
              </a:lvl5pPr>
              <a:lvl6pPr marL="4572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</a:defRPr>
              </a:lvl6pPr>
              <a:lvl7pPr marL="9144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</a:defRPr>
              </a:lvl7pPr>
              <a:lvl8pPr marL="13716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</a:defRPr>
              </a:lvl8pPr>
              <a:lvl9pPr marL="18288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ru-RU" sz="2000" b="1" kern="0" dirty="0">
                  <a:solidFill>
                    <a:srgbClr val="009900"/>
                  </a:solidFill>
                </a:rPr>
                <a:t>Импульсная характеристика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296D389-BC21-3038-9722-A970797C22DD}"/>
                </a:ext>
              </a:extLst>
            </p:cNvPr>
            <p:cNvSpPr txBox="1"/>
            <p:nvPr/>
          </p:nvSpPr>
          <p:spPr>
            <a:xfrm>
              <a:off x="273128" y="1927421"/>
              <a:ext cx="869136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Выходная реакция на единичный импульс </a:t>
              </a:r>
              <a:r>
                <a:rPr lang="el-GR" b="0" i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δ</a:t>
              </a:r>
              <a:r>
                <a:rPr lang="en-US" b="0" i="1" baseline="-250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ru-RU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ru-RU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) , определяемая при нулевых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начальных условиях, называется импульсной характеристикой дискретной системы и</a:t>
              </a:r>
              <a:br>
                <a:rPr lang="ru-RU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ru-RU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обозначается </a:t>
              </a:r>
              <a:r>
                <a:rPr lang="ru-RU" b="0" i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ru-RU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ru-RU" b="0" i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ru-RU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ru-R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Произвольный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сигнал {</a:t>
              </a:r>
              <a:r>
                <a:rPr lang="ru-RU" b="0" i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ru-RU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ru-RU" b="0" i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ru-RU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)} можно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представить в виде линейной комбинации единичных отсчетов:</a:t>
              </a:r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F96B0BDC-A4C9-CA96-F15E-9F6F81D6F3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71274" y="3057112"/>
              <a:ext cx="2401452" cy="547166"/>
            </a:xfrm>
            <a:prstGeom prst="rect">
              <a:avLst/>
            </a:prstGeom>
          </p:spPr>
        </p:pic>
      </p:grp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8C71B355-D4B0-0393-40F4-28EF67F5CC04}"/>
              </a:ext>
            </a:extLst>
          </p:cNvPr>
          <p:cNvGrpSpPr/>
          <p:nvPr/>
        </p:nvGrpSpPr>
        <p:grpSpPr>
          <a:xfrm>
            <a:off x="262184" y="3594734"/>
            <a:ext cx="8702304" cy="1560369"/>
            <a:chOff x="262184" y="3594734"/>
            <a:chExt cx="8702304" cy="156036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8869C12-B8E4-A4E6-1836-C37CF87D65A2}"/>
                </a:ext>
              </a:extLst>
            </p:cNvPr>
            <p:cNvSpPr txBox="1"/>
            <p:nvPr/>
          </p:nvSpPr>
          <p:spPr>
            <a:xfrm>
              <a:off x="273128" y="3594734"/>
              <a:ext cx="869136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Выходной сигнал, исходя из линейности и стационарности рассматриваемой системы, должен представлять собой линейную комбинацию импульсных характеристик:</a:t>
              </a:r>
              <a:r>
                <a:rPr lang="ru-R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142CCE16-87A6-2E60-76F3-EFA0D890C6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71274" y="4240379"/>
              <a:ext cx="2401452" cy="543651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44B77ED-9049-2A80-9ABE-A49AFA25E27D}"/>
                </a:ext>
              </a:extLst>
            </p:cNvPr>
            <p:cNvSpPr txBox="1"/>
            <p:nvPr/>
          </p:nvSpPr>
          <p:spPr>
            <a:xfrm>
              <a:off x="6588224" y="4276475"/>
              <a:ext cx="5040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800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(*)</a:t>
              </a:r>
              <a:endParaRPr lang="ru-RU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1C572C4-8165-D3B3-6D1F-E5F77957291B}"/>
                </a:ext>
              </a:extLst>
            </p:cNvPr>
            <p:cNvSpPr txBox="1"/>
            <p:nvPr/>
          </p:nvSpPr>
          <p:spPr>
            <a:xfrm>
              <a:off x="262184" y="4785771"/>
              <a:ext cx="86913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Выражение (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lang="ru-RU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) называется </a:t>
              </a:r>
              <a:r>
                <a:rPr lang="ru-RU" b="1" i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дискретной</a:t>
              </a:r>
              <a:r>
                <a:rPr lang="ru-RU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сверткой (дискретной линейной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сверткой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).</a:t>
              </a:r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A77CB137-2FE1-58AF-408B-AF5D7EAFD7FF}"/>
              </a:ext>
            </a:extLst>
          </p:cNvPr>
          <p:cNvGrpSpPr/>
          <p:nvPr/>
        </p:nvGrpSpPr>
        <p:grpSpPr>
          <a:xfrm>
            <a:off x="273129" y="5151131"/>
            <a:ext cx="8680414" cy="1218165"/>
            <a:chOff x="273129" y="5151131"/>
            <a:chExt cx="8680414" cy="121816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B5D5603-668C-9044-156F-1D2C71507BEB}"/>
                </a:ext>
              </a:extLst>
            </p:cNvPr>
            <p:cNvSpPr txBox="1"/>
            <p:nvPr/>
          </p:nvSpPr>
          <p:spPr>
            <a:xfrm>
              <a:off x="273129" y="5151131"/>
              <a:ext cx="86804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Для физически реализуемой системы </a:t>
              </a:r>
              <a:r>
                <a:rPr lang="ru-RU" b="0" i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ru-RU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ru-RU" b="0" i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ru-RU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) = 0 при </a:t>
              </a:r>
              <a:r>
                <a:rPr lang="ru-RU" b="0" i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ru-RU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r>
                <a:rPr lang="ru-RU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0, поэтому верхний предел суммирования в формуле (</a:t>
              </a:r>
              <a:r>
                <a:rPr lang="en-US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lang="ru-RU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) можно заменить на </a:t>
              </a:r>
              <a:r>
                <a:rPr lang="ru-RU" b="0" i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ru-RU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8" name="Рисунок 27">
              <a:extLst>
                <a:ext uri="{FF2B5EF4-FFF2-40B4-BE49-F238E27FC236}">
                  <a16:creationId xmlns:a16="http://schemas.microsoft.com/office/drawing/2014/main" id="{49AC6E2F-F602-71D6-22D8-EA2CE9500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71274" y="5742601"/>
              <a:ext cx="2401452" cy="6266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37640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59EE46-7A22-D376-D4EC-2EA54817B63A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200" b="1" kern="0" dirty="0">
                <a:solidFill>
                  <a:srgbClr val="000099"/>
                </a:solidFill>
              </a:rPr>
              <a:t>Пример вычисления дискретной свертки</a:t>
            </a: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57AAB70A-32DD-E9B1-9F6A-8C5BF6C7AE25}"/>
              </a:ext>
            </a:extLst>
          </p:cNvPr>
          <p:cNvGrpSpPr/>
          <p:nvPr/>
        </p:nvGrpSpPr>
        <p:grpSpPr>
          <a:xfrm>
            <a:off x="251520" y="693035"/>
            <a:ext cx="3398936" cy="1610993"/>
            <a:chOff x="251520" y="693035"/>
            <a:chExt cx="3398936" cy="1610993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2041085A-CCA1-B818-8584-7C3CF2CFA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520" y="1062367"/>
              <a:ext cx="1709110" cy="1241661"/>
            </a:xfrm>
            <a:prstGeom prst="rect">
              <a:avLst/>
            </a:prstGeom>
          </p:spPr>
        </p:pic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47EE70C6-5073-485B-6B33-493AE1DB95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66280" y="890401"/>
              <a:ext cx="1584176" cy="1398642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DE54978-DE92-A707-6DD8-3913654684F4}"/>
                </a:ext>
              </a:extLst>
            </p:cNvPr>
            <p:cNvSpPr txBox="1"/>
            <p:nvPr/>
          </p:nvSpPr>
          <p:spPr>
            <a:xfrm>
              <a:off x="253380" y="693035"/>
              <a:ext cx="23042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Исходные сигналы:</a:t>
              </a:r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5584D434-8BEB-6E4A-B41E-42B0B92ECFB3}"/>
              </a:ext>
            </a:extLst>
          </p:cNvPr>
          <p:cNvGrpSpPr/>
          <p:nvPr/>
        </p:nvGrpSpPr>
        <p:grpSpPr>
          <a:xfrm>
            <a:off x="3789182" y="708168"/>
            <a:ext cx="5178353" cy="4160992"/>
            <a:chOff x="3789182" y="708168"/>
            <a:chExt cx="5178353" cy="4160992"/>
          </a:xfrm>
        </p:grpSpPr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id="{C9FE4FCD-FEC9-8B55-3773-9E2D47026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51920" y="1135186"/>
              <a:ext cx="5115615" cy="3733974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09D470F-B2F4-22F7-F9D7-F2BB92058EE2}"/>
                </a:ext>
              </a:extLst>
            </p:cNvPr>
            <p:cNvSpPr txBox="1"/>
            <p:nvPr/>
          </p:nvSpPr>
          <p:spPr>
            <a:xfrm>
              <a:off x="3789182" y="708168"/>
              <a:ext cx="265502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Процедура вычисления:</a:t>
              </a:r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E13076B4-CF7E-BC6E-1D03-8E1C15E2B1AB}"/>
              </a:ext>
            </a:extLst>
          </p:cNvPr>
          <p:cNvGrpSpPr/>
          <p:nvPr/>
        </p:nvGrpSpPr>
        <p:grpSpPr>
          <a:xfrm>
            <a:off x="476835" y="3600597"/>
            <a:ext cx="2639308" cy="2564368"/>
            <a:chOff x="476835" y="3600597"/>
            <a:chExt cx="2639308" cy="2564368"/>
          </a:xfrm>
        </p:grpSpPr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5B1A2E52-D9A9-146E-B37F-134B9598B6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3315" y="3600597"/>
              <a:ext cx="2422828" cy="2564368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EDC07E1-4FA6-F8E4-0F0C-99E3AD6A672B}"/>
                </a:ext>
              </a:extLst>
            </p:cNvPr>
            <p:cNvSpPr txBox="1"/>
            <p:nvPr/>
          </p:nvSpPr>
          <p:spPr>
            <a:xfrm>
              <a:off x="476835" y="3933056"/>
              <a:ext cx="12584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Результат:</a:t>
              </a:r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1528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6ED57D4-A784-4EC1-F0A2-A62427AC7C2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200" b="1" kern="0" dirty="0">
                <a:solidFill>
                  <a:srgbClr val="000099"/>
                </a:solidFill>
              </a:rPr>
              <a:t>Способы описания дискретных фильтров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DED6D03-BAE7-14C1-BD27-64A3CB751987}"/>
              </a:ext>
            </a:extLst>
          </p:cNvPr>
          <p:cNvSpPr txBox="1">
            <a:spLocks noChangeArrowheads="1"/>
          </p:cNvSpPr>
          <p:nvPr/>
        </p:nvSpPr>
        <p:spPr>
          <a:xfrm>
            <a:off x="1" y="635202"/>
            <a:ext cx="9144000" cy="461666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2000" b="1" kern="0" dirty="0">
                <a:solidFill>
                  <a:srgbClr val="009900"/>
                </a:solidFill>
              </a:rPr>
              <a:t>Функция передачи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4426FC-E106-C2D6-D252-A938CD5B183A}"/>
              </a:ext>
            </a:extLst>
          </p:cNvPr>
          <p:cNvSpPr txBox="1"/>
          <p:nvPr/>
        </p:nvSpPr>
        <p:spPr>
          <a:xfrm>
            <a:off x="179512" y="1052736"/>
            <a:ext cx="87849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Применяя </a:t>
            </a:r>
            <a:r>
              <a:rPr lang="en-US" sz="1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преобразование к уравнению дискретной фильтрации (*) и учитывая, что это уравнение суть дискретная свертка, а также свойства </a:t>
            </a:r>
            <a:r>
              <a:rPr lang="ru-RU" sz="1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-преобразования, результатом такой операции будет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являться произведение z-преобразований: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4D8D45-773D-D6A3-A489-3463383F353C}"/>
              </a:ext>
            </a:extLst>
          </p:cNvPr>
          <p:cNvSpPr txBox="1"/>
          <p:nvPr/>
        </p:nvSpPr>
        <p:spPr>
          <a:xfrm>
            <a:off x="3670633" y="1976066"/>
            <a:ext cx="18027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93C21C-0FBE-C94B-BB95-2552807EEB50}"/>
              </a:ext>
            </a:extLst>
          </p:cNvPr>
          <p:cNvSpPr txBox="1"/>
          <p:nvPr/>
        </p:nvSpPr>
        <p:spPr>
          <a:xfrm>
            <a:off x="187962" y="2377779"/>
            <a:ext cx="87765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ункция </a:t>
            </a:r>
            <a:r>
              <a:rPr lang="ru-RU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равная отношению </a:t>
            </a:r>
            <a:r>
              <a:rPr lang="ru-RU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-преобразований выходного и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входного сигналов и представляющая собой </a:t>
            </a:r>
            <a:r>
              <a:rPr lang="ru-RU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-преобразование импульсной характеристики системы,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называется </a:t>
            </a:r>
            <a:r>
              <a:rPr lang="ru-RU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функцией передачи 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transfer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или </a:t>
            </a:r>
            <a:r>
              <a:rPr lang="ru-RU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системной функцией 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дискретной системы: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83A561FB-3D10-C2AA-BDF5-A2C974651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061" y="3405793"/>
            <a:ext cx="3051878" cy="84319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F817C0D-B1E9-F960-BD7A-645549B6F713}"/>
              </a:ext>
            </a:extLst>
          </p:cNvPr>
          <p:cNvSpPr txBox="1"/>
          <p:nvPr/>
        </p:nvSpPr>
        <p:spPr>
          <a:xfrm>
            <a:off x="187961" y="4222829"/>
            <a:ext cx="8776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Применив </a:t>
            </a:r>
            <a:r>
              <a:rPr lang="ru-RU" sz="1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-преобразование к обеим частям разностного уравнения, можно получить: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8A6FAD7C-8D39-3B75-B001-CB066C8A8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4657927"/>
            <a:ext cx="3600400" cy="709332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DE91E9E0-5108-AFA3-FC68-90368B4546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0100" y="4646746"/>
            <a:ext cx="3960440" cy="73169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235B039-7E93-D4B8-E94D-30F4AB04C8CC}"/>
              </a:ext>
            </a:extLst>
          </p:cNvPr>
          <p:cNvSpPr txBox="1"/>
          <p:nvPr/>
        </p:nvSpPr>
        <p:spPr>
          <a:xfrm>
            <a:off x="179512" y="5445224"/>
            <a:ext cx="87765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Таким образом, функция передачи физически реализуемой дискретной системы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может быть представлена в виде отношения полиномов по отрицательным степеням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переменной </a:t>
            </a:r>
            <a:r>
              <a:rPr lang="ru-RU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3490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6ED57D4-A784-4EC1-F0A2-A62427AC7C2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200" b="1" kern="0" dirty="0">
                <a:solidFill>
                  <a:srgbClr val="000099"/>
                </a:solidFill>
              </a:rPr>
              <a:t>Способы описания дискретных фильтров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DED6D03-BAE7-14C1-BD27-64A3CB751987}"/>
              </a:ext>
            </a:extLst>
          </p:cNvPr>
          <p:cNvSpPr txBox="1">
            <a:spLocks noChangeArrowheads="1"/>
          </p:cNvSpPr>
          <p:nvPr/>
        </p:nvSpPr>
        <p:spPr>
          <a:xfrm>
            <a:off x="1" y="635202"/>
            <a:ext cx="9144000" cy="461666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2000" b="1" kern="0" dirty="0">
                <a:solidFill>
                  <a:srgbClr val="009900"/>
                </a:solidFill>
              </a:rPr>
              <a:t>Комплексный коэффициент передачи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4426FC-E106-C2D6-D252-A938CD5B183A}"/>
              </a:ext>
            </a:extLst>
          </p:cNvPr>
          <p:cNvSpPr txBox="1"/>
          <p:nvPr/>
        </p:nvSpPr>
        <p:spPr>
          <a:xfrm>
            <a:off x="179512" y="999885"/>
            <a:ext cx="87849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построения комплексного коэффициента передачи необходимо воспользоваться соотношениями, связывающими </a:t>
            </a:r>
            <a:r>
              <a:rPr lang="en-US" sz="1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преобразование и преобразование Фурье: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4AFB10CD-FB48-6003-49E0-91C567536B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9444823"/>
              </p:ext>
            </p:extLst>
          </p:nvPr>
        </p:nvGraphicFramePr>
        <p:xfrm>
          <a:off x="179512" y="2035874"/>
          <a:ext cx="3706607" cy="9022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30320" imgH="469800" progId="Equation.DSMT4">
                  <p:embed/>
                </p:oleObj>
              </mc:Choice>
              <mc:Fallback>
                <p:oleObj name="Equation" r:id="rId2" imgW="193032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9512" y="2035874"/>
                        <a:ext cx="3706607" cy="9022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48B49EF-807D-96BF-8FD8-5A1073AB779B}"/>
              </a:ext>
            </a:extLst>
          </p:cNvPr>
          <p:cNvSpPr txBox="1"/>
          <p:nvPr/>
        </p:nvSpPr>
        <p:spPr>
          <a:xfrm>
            <a:off x="3935002" y="1755972"/>
            <a:ext cx="502948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Частотная характеристика дискретной системы, так же как и спектры дискретизированных сигналов , является периодической функцией частоты с периодом, равным частоте дискретизации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2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C5CE1A-69AE-8F74-9B89-5E8856812B85}"/>
              </a:ext>
            </a:extLst>
          </p:cNvPr>
          <p:cNvSpPr txBox="1"/>
          <p:nvPr/>
        </p:nvSpPr>
        <p:spPr>
          <a:xfrm>
            <a:off x="179512" y="3588682"/>
            <a:ext cx="87849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Разложив числитель и знаменатель функции передачи на множители, можно получить ее представление в следующем виде: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0602230D-54E4-8C3D-2373-35DF6D8513B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199024"/>
            <a:ext cx="9144000" cy="461666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2000" b="1" kern="0" dirty="0">
                <a:solidFill>
                  <a:srgbClr val="009900"/>
                </a:solidFill>
              </a:rPr>
              <a:t>Представление через нули и полюса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79692F4-EAA3-8D5B-18A7-A1B421122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2373" y="4149291"/>
            <a:ext cx="4699254" cy="88413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DD7BAFF-6093-4D0C-72C8-D302EFF6F040}"/>
              </a:ext>
            </a:extLst>
          </p:cNvPr>
          <p:cNvSpPr txBox="1"/>
          <p:nvPr/>
        </p:nvSpPr>
        <p:spPr>
          <a:xfrm>
            <a:off x="179512" y="4928222"/>
            <a:ext cx="87849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Здесь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коэффициент усиления, 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нули функции передачи,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полюсы функции передачи. По сравнению с аналоговыми системами при записи функции передачи дискретной системы используются отрицательные степени переменной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AC6CC3-46C3-9534-045A-C273E61C63B5}"/>
              </a:ext>
            </a:extLst>
          </p:cNvPr>
          <p:cNvSpPr txBox="1"/>
          <p:nvPr/>
        </p:nvSpPr>
        <p:spPr>
          <a:xfrm>
            <a:off x="175138" y="5836634"/>
            <a:ext cx="87849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вещественных систем нули функции передачи являются вещественными либо составляют комплексно-сопряженные пары. То же относится и к полюсам. Коэффициент усиления при этом всегда вещественный.</a:t>
            </a:r>
          </a:p>
        </p:txBody>
      </p:sp>
    </p:spTree>
    <p:extLst>
      <p:ext uri="{BB962C8B-B14F-4D97-AF65-F5344CB8AC3E}">
        <p14:creationId xmlns:p14="http://schemas.microsoft.com/office/powerpoint/2010/main" val="2596198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6ED57D4-A784-4EC1-F0A2-A62427AC7C2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200" b="1" kern="0" dirty="0">
                <a:solidFill>
                  <a:srgbClr val="000099"/>
                </a:solidFill>
              </a:rPr>
              <a:t>Способы описания дискретных фильтров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DED6D03-BAE7-14C1-BD27-64A3CB751987}"/>
              </a:ext>
            </a:extLst>
          </p:cNvPr>
          <p:cNvSpPr txBox="1">
            <a:spLocks noChangeArrowheads="1"/>
          </p:cNvSpPr>
          <p:nvPr/>
        </p:nvSpPr>
        <p:spPr>
          <a:xfrm>
            <a:off x="1" y="635202"/>
            <a:ext cx="9144000" cy="461666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2000" b="1" kern="0" dirty="0">
                <a:solidFill>
                  <a:srgbClr val="009900"/>
                </a:solidFill>
              </a:rPr>
              <a:t>Комплексный коэффициент передачи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4426FC-E106-C2D6-D252-A938CD5B183A}"/>
              </a:ext>
            </a:extLst>
          </p:cNvPr>
          <p:cNvSpPr txBox="1"/>
          <p:nvPr/>
        </p:nvSpPr>
        <p:spPr>
          <a:xfrm>
            <a:off x="179512" y="999885"/>
            <a:ext cx="87849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построения комплексного коэффициента передачи необходимо воспользоваться соотношениями, связывающими </a:t>
            </a:r>
            <a:r>
              <a:rPr lang="en-US" sz="1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преобразование и преобразование Фурье: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4AFB10CD-FB48-6003-49E0-91C567536B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512" y="2035874"/>
          <a:ext cx="3706607" cy="9022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30320" imgH="469800" progId="Equation.DSMT4">
                  <p:embed/>
                </p:oleObj>
              </mc:Choice>
              <mc:Fallback>
                <p:oleObj name="Equation" r:id="rId2" imgW="1930320" imgH="469800" progId="Equation.DSMT4">
                  <p:embed/>
                  <p:pic>
                    <p:nvPicPr>
                      <p:cNvPr id="7" name="Объект 6">
                        <a:extLst>
                          <a:ext uri="{FF2B5EF4-FFF2-40B4-BE49-F238E27FC236}">
                            <a16:creationId xmlns:a16="http://schemas.microsoft.com/office/drawing/2014/main" id="{4AFB10CD-FB48-6003-49E0-91C567536B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9512" y="2035874"/>
                        <a:ext cx="3706607" cy="9022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48B49EF-807D-96BF-8FD8-5A1073AB779B}"/>
              </a:ext>
            </a:extLst>
          </p:cNvPr>
          <p:cNvSpPr txBox="1"/>
          <p:nvPr/>
        </p:nvSpPr>
        <p:spPr>
          <a:xfrm>
            <a:off x="3935002" y="1755972"/>
            <a:ext cx="502948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Частотная характеристика дискретной системы, так же как и спектры дискретизированных сигналов , является периодической функцией частоты с периодом, равным частоте дискретизации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2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C5CE1A-69AE-8F74-9B89-5E8856812B85}"/>
              </a:ext>
            </a:extLst>
          </p:cNvPr>
          <p:cNvSpPr txBox="1"/>
          <p:nvPr/>
        </p:nvSpPr>
        <p:spPr>
          <a:xfrm>
            <a:off x="179512" y="3588682"/>
            <a:ext cx="87849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Разложив числитель и знаменатель функции передачи на множители, можно получить ее представление в следующем виде: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0602230D-54E4-8C3D-2373-35DF6D8513B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199024"/>
            <a:ext cx="9144000" cy="461666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2000" b="1" kern="0" dirty="0">
                <a:solidFill>
                  <a:srgbClr val="009900"/>
                </a:solidFill>
              </a:rPr>
              <a:t>Представление через нули и полюса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79692F4-EAA3-8D5B-18A7-A1B421122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2373" y="4149291"/>
            <a:ext cx="4699254" cy="88413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DD7BAFF-6093-4D0C-72C8-D302EFF6F040}"/>
              </a:ext>
            </a:extLst>
          </p:cNvPr>
          <p:cNvSpPr txBox="1"/>
          <p:nvPr/>
        </p:nvSpPr>
        <p:spPr>
          <a:xfrm>
            <a:off x="179512" y="4928222"/>
            <a:ext cx="87849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Здесь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коэффициент усиления, 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нули функции передачи,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полюсы функции передачи. По сравнению с аналоговыми системами при записи функции передачи дискретной системы используются отрицательные степени переменной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AC6CC3-46C3-9534-045A-C273E61C63B5}"/>
              </a:ext>
            </a:extLst>
          </p:cNvPr>
          <p:cNvSpPr txBox="1"/>
          <p:nvPr/>
        </p:nvSpPr>
        <p:spPr>
          <a:xfrm>
            <a:off x="175138" y="5836634"/>
            <a:ext cx="87849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вещественных систем нули функции передачи являются вещественными либо составляют комплексно-сопряженные пары. То же относится и к полюсам. Коэффициент усиления при этом всегда вещественный.</a:t>
            </a:r>
          </a:p>
        </p:txBody>
      </p:sp>
    </p:spTree>
    <p:extLst>
      <p:ext uri="{BB962C8B-B14F-4D97-AF65-F5344CB8AC3E}">
        <p14:creationId xmlns:p14="http://schemas.microsoft.com/office/powerpoint/2010/main" val="329673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6ED57D4-A784-4EC1-F0A2-A62427AC7C2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200" b="1" kern="0" dirty="0">
                <a:solidFill>
                  <a:srgbClr val="000099"/>
                </a:solidFill>
              </a:rPr>
              <a:t>Способы описания дискретных фильтров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FD07A27-9FFD-2A4E-15C4-7A59BAFE9B98}"/>
              </a:ext>
            </a:extLst>
          </p:cNvPr>
          <p:cNvSpPr txBox="1">
            <a:spLocks noChangeArrowheads="1"/>
          </p:cNvSpPr>
          <p:nvPr/>
        </p:nvSpPr>
        <p:spPr>
          <a:xfrm>
            <a:off x="1" y="635202"/>
            <a:ext cx="9144000" cy="461666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2000" b="1" kern="0" dirty="0">
                <a:solidFill>
                  <a:srgbClr val="009900"/>
                </a:solidFill>
              </a:rPr>
              <a:t>Связь АЧХ с расположением нулей и полюсов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DFB373-35BD-A5C4-0C31-D97D6E9CBA61}"/>
              </a:ext>
            </a:extLst>
          </p:cNvPr>
          <p:cNvSpPr txBox="1"/>
          <p:nvPr/>
        </p:nvSpPr>
        <p:spPr>
          <a:xfrm>
            <a:off x="251520" y="988428"/>
            <a:ext cx="871296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и для аналоговых систем, можно установить связь между расположением нулей и полюсов функции передачи на комплексной плоскости и формой АЧХ системы. Отличие от аналогового случая заключается в том, что при расчете частотной характеристики точка, изображающая аргумент функции передачи на комплексной плоскости, движется не вдоль мнимой оси, а по единичной окружности: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ωT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Следовательно, для дискретной системы будут справедливы следующие утверждения: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D6B763-8C0F-4C50-EABC-C26C63001B40}"/>
              </a:ext>
            </a:extLst>
          </p:cNvPr>
          <p:cNvSpPr txBox="1"/>
          <p:nvPr/>
        </p:nvSpPr>
        <p:spPr>
          <a:xfrm>
            <a:off x="269550" y="2742754"/>
            <a:ext cx="862293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когда точка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ωT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находится вблизи одного из нулей функции передачи 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соответствующая разность (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 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окажется малой по сравнению с другими,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результате чего АЧХ в данной области частот будет иметь провал. Если нуль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лежит на единичной окружности, АЧХ на соответствующей частоте будет иметь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нулевое значение;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когда точка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ωT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находится вблизи одного из полюсов функции передачи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соответствующая разность (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окажется малой по сравнению с другими, в результате чего АЧХ в данной области частот будет иметь подъем. Если полюс лежит на единичной окружности, АЧХ на соответствующей частоте будет стремиться к бесконечности.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чем ближе к единичной окружности расположен нуль (полюс), тем более выраженным будет соответствующий провал (подъем) АЧХ.</a:t>
            </a:r>
          </a:p>
        </p:txBody>
      </p:sp>
    </p:spTree>
    <p:extLst>
      <p:ext uri="{BB962C8B-B14F-4D97-AF65-F5344CB8AC3E}">
        <p14:creationId xmlns:p14="http://schemas.microsoft.com/office/powerpoint/2010/main" val="2755932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6ED57D4-A784-4EC1-F0A2-A62427AC7C2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200" b="1" kern="0" dirty="0">
                <a:solidFill>
                  <a:srgbClr val="000099"/>
                </a:solidFill>
              </a:rPr>
              <a:t>Способы описания дискретных фильтров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FD07A27-9FFD-2A4E-15C4-7A59BAFE9B98}"/>
              </a:ext>
            </a:extLst>
          </p:cNvPr>
          <p:cNvSpPr txBox="1">
            <a:spLocks noChangeArrowheads="1"/>
          </p:cNvSpPr>
          <p:nvPr/>
        </p:nvSpPr>
        <p:spPr>
          <a:xfrm>
            <a:off x="1" y="635202"/>
            <a:ext cx="9144000" cy="461666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2000" b="1" kern="0" dirty="0">
                <a:solidFill>
                  <a:srgbClr val="009900"/>
                </a:solidFill>
              </a:rPr>
              <a:t>Пример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693D55-1195-1D20-212C-AF7DC508AB25}"/>
              </a:ext>
            </a:extLst>
          </p:cNvPr>
          <p:cNvSpPr txBox="1"/>
          <p:nvPr/>
        </p:nvSpPr>
        <p:spPr>
          <a:xfrm>
            <a:off x="395536" y="1268760"/>
            <a:ext cx="180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1,2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0,2 ± 0,9i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56E8F5-7E36-0E12-68CD-25C51226D5FC}"/>
              </a:ext>
            </a:extLst>
          </p:cNvPr>
          <p:cNvSpPr txBox="1"/>
          <p:nvPr/>
        </p:nvSpPr>
        <p:spPr>
          <a:xfrm>
            <a:off x="392290" y="1809984"/>
            <a:ext cx="180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1,2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0,8 ± 0,6i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0F1B64-3F29-FEAA-BF95-26D7184C3A71}"/>
              </a:ext>
            </a:extLst>
          </p:cNvPr>
          <p:cNvSpPr txBox="1"/>
          <p:nvPr/>
        </p:nvSpPr>
        <p:spPr>
          <a:xfrm>
            <a:off x="392290" y="2179316"/>
            <a:ext cx="180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–0,8 ± 0,8i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0785686-E92A-A27F-F8BF-3819C2853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1111357"/>
            <a:ext cx="6264696" cy="372514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BB35FEF-216C-06CD-5D76-BEB54587D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29" y="3348508"/>
            <a:ext cx="3769581" cy="2975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133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6ED57D4-A784-4EC1-F0A2-A62427AC7C2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200" b="1" kern="0" dirty="0">
                <a:solidFill>
                  <a:srgbClr val="000099"/>
                </a:solidFill>
              </a:rPr>
              <a:t>Способы описания дискретных фильтров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FD07A27-9FFD-2A4E-15C4-7A59BAFE9B98}"/>
              </a:ext>
            </a:extLst>
          </p:cNvPr>
          <p:cNvSpPr txBox="1">
            <a:spLocks noChangeArrowheads="1"/>
          </p:cNvSpPr>
          <p:nvPr/>
        </p:nvSpPr>
        <p:spPr>
          <a:xfrm>
            <a:off x="1" y="635202"/>
            <a:ext cx="9144000" cy="461666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2000" b="1" kern="0" dirty="0">
                <a:solidFill>
                  <a:srgbClr val="009900"/>
                </a:solidFill>
              </a:rPr>
              <a:t>Представление через полюса и вычеты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DF830AA-8E54-C84D-26F6-81D3BDC7D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48" y="1096868"/>
            <a:ext cx="8136904" cy="8393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A3A323-04B3-0456-6414-B433F7300A05}"/>
              </a:ext>
            </a:extLst>
          </p:cNvPr>
          <p:cNvSpPr txBox="1"/>
          <p:nvPr/>
        </p:nvSpPr>
        <p:spPr>
          <a:xfrm>
            <a:off x="179512" y="1936254"/>
            <a:ext cx="87129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Как и в аналоговом случае,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b="0" i="1" baseline="-25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b="0" i="1" baseline="-25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полюсы функции передачи и соответствующие им вычеты. Поскольку на соотношение степеней полиномов числителя и знаменателя в дискретном случае не накладывается никаких ограничений, целая часть функции передачи, представленная коэффициентами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b="0" i="1" baseline="-25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может содержать не только константу.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7D5FCCD-79F8-E324-8C2B-068904710805}"/>
              </a:ext>
            </a:extLst>
          </p:cNvPr>
          <p:cNvSpPr txBox="1">
            <a:spLocks noChangeArrowheads="1"/>
          </p:cNvSpPr>
          <p:nvPr/>
        </p:nvSpPr>
        <p:spPr>
          <a:xfrm>
            <a:off x="-36004" y="3198167"/>
            <a:ext cx="9144000" cy="461666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2000" b="1" kern="0" dirty="0">
                <a:solidFill>
                  <a:srgbClr val="009900"/>
                </a:solidFill>
              </a:rPr>
              <a:t>Расчет импульсной характеристики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ABDFBE-AB26-4F48-259C-A0677B2C138A}"/>
              </a:ext>
            </a:extLst>
          </p:cNvPr>
          <p:cNvSpPr txBox="1"/>
          <p:nvPr/>
        </p:nvSpPr>
        <p:spPr>
          <a:xfrm>
            <a:off x="179512" y="3573016"/>
            <a:ext cx="87129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Каждое слагаемое функции передачи вида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(1 –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соответствует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экспоненциальному слагаемому импульсной характеристики вида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≥ 0.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71BDB4-01D5-3062-C16A-19CB67C31BBA}"/>
              </a:ext>
            </a:extLst>
          </p:cNvPr>
          <p:cNvSpPr txBox="1"/>
          <p:nvPr/>
        </p:nvSpPr>
        <p:spPr>
          <a:xfrm>
            <a:off x="179512" y="4191473"/>
            <a:ext cx="87129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Пара комплексно-сопряженных полюсов дает пару слагаемых импульсной характеристики в виде комплексно-сопряженных экспонент. Сумма таких слагаемых представляет собой синусоиду с экспоненциально меняющейся амплитудой: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9D9C32C-16DA-BF7E-879F-E21BBC019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832" y="5177939"/>
            <a:ext cx="7524328" cy="1166385"/>
          </a:xfrm>
          <a:prstGeom prst="rect">
            <a:avLst/>
          </a:prstGeom>
        </p:spPr>
      </p:pic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1781DC5-C139-ACE1-6101-9306ABC34AB4}"/>
              </a:ext>
            </a:extLst>
          </p:cNvPr>
          <p:cNvSpPr/>
          <p:nvPr/>
        </p:nvSpPr>
        <p:spPr>
          <a:xfrm>
            <a:off x="6350446" y="5257800"/>
            <a:ext cx="114648" cy="2060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991AC4-E11D-79BD-4D21-1D0BF9D44DBE}"/>
              </a:ext>
            </a:extLst>
          </p:cNvPr>
          <p:cNvSpPr txBox="1"/>
          <p:nvPr/>
        </p:nvSpPr>
        <p:spPr>
          <a:xfrm>
            <a:off x="6297811" y="5147668"/>
            <a:ext cx="2697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530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6ED57D4-A784-4EC1-F0A2-A62427AC7C2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200" b="1" kern="0" dirty="0">
                <a:solidFill>
                  <a:srgbClr val="000099"/>
                </a:solidFill>
              </a:rPr>
              <a:t>Способы описания дискретных фильтров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FD07A27-9FFD-2A4E-15C4-7A59BAFE9B98}"/>
              </a:ext>
            </a:extLst>
          </p:cNvPr>
          <p:cNvSpPr txBox="1">
            <a:spLocks noChangeArrowheads="1"/>
          </p:cNvSpPr>
          <p:nvPr/>
        </p:nvSpPr>
        <p:spPr>
          <a:xfrm>
            <a:off x="1" y="635202"/>
            <a:ext cx="9144000" cy="461666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2000" b="1" kern="0" dirty="0">
                <a:solidFill>
                  <a:srgbClr val="009900"/>
                </a:solidFill>
              </a:rPr>
              <a:t>Устойчивость дискретных систем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52D154-E1C2-FCA7-44A2-8490EAFC03ED}"/>
              </a:ext>
            </a:extLst>
          </p:cNvPr>
          <p:cNvSpPr txBox="1"/>
          <p:nvPr/>
        </p:nvSpPr>
        <p:spPr>
          <a:xfrm>
            <a:off x="323528" y="980728"/>
            <a:ext cx="849694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отсутствии входного сигнала в дискретной системе могут существовать свободные колебания. Их вид зависит от начальных условий, т. е. значений, хранящихся в элементах памяти системы в момент отключения входного сигнала. Система называется устойчивой, если при любых начальных условиях свободные колебания являются затухающими, т. е. если при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4AADD12-471B-19B5-CD97-07C54C66B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5628" y="2496156"/>
            <a:ext cx="1432744" cy="4628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EFDA00E-2AA3-6D54-BE00-7D15BBC2E45A}"/>
              </a:ext>
            </a:extLst>
          </p:cNvPr>
          <p:cNvSpPr txBox="1"/>
          <p:nvPr/>
        </p:nvSpPr>
        <p:spPr>
          <a:xfrm>
            <a:off x="323528" y="2997143"/>
            <a:ext cx="84969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Любой сигнал на выходе линейной стационарной системы представляет собой линейную комбинацию ее задержанных во времени импульсных характеристик. Поэтому для затухания свободных колебаний необходимо, чтобы была затухающей</a:t>
            </a:r>
            <a:b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импульсная характеристика системы </a:t>
            </a:r>
            <a:r>
              <a:rPr lang="ru-RU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946CEAE-8437-45B6-C7FB-F9D2CC3BC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4180934"/>
            <a:ext cx="1524000" cy="4667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2617955-6323-BAD2-8531-6982218B8549}"/>
              </a:ext>
            </a:extLst>
          </p:cNvPr>
          <p:cNvSpPr txBox="1"/>
          <p:nvPr/>
        </p:nvSpPr>
        <p:spPr>
          <a:xfrm>
            <a:off x="323528" y="4736559"/>
            <a:ext cx="84969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Импульсная характеристика системы в общем случае содержит слагаемые вида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где 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полюсы функции передачи системы,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неотрицательные целые числа, меньшие кратности полюса 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некая константа. Такие слагаемые при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→∞ затухают, если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&lt; 1.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9329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6ED57D4-A784-4EC1-F0A2-A62427AC7C2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200" b="1" kern="0" dirty="0" err="1">
                <a:solidFill>
                  <a:srgbClr val="000099"/>
                </a:solidFill>
              </a:rPr>
              <a:t>Нерекурсивные</a:t>
            </a:r>
            <a:r>
              <a:rPr lang="ru-RU" sz="3200" b="1" kern="0" dirty="0">
                <a:solidFill>
                  <a:srgbClr val="000099"/>
                </a:solidFill>
              </a:rPr>
              <a:t> фильтры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52D154-E1C2-FCA7-44A2-8490EAFC03ED}"/>
              </a:ext>
            </a:extLst>
          </p:cNvPr>
          <p:cNvSpPr txBox="1"/>
          <p:nvPr/>
        </p:nvSpPr>
        <p:spPr>
          <a:xfrm>
            <a:off x="323528" y="692696"/>
            <a:ext cx="8496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Уравнение фильтрации в случае </a:t>
            </a:r>
            <a:r>
              <a:rPr lang="ru-RU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нерекурсивных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фильтров имеет следующий вид: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9960C67-0EAB-CAF8-B2E2-D28848113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700" y="1026772"/>
            <a:ext cx="1752600" cy="60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7A7D65-352C-DB0F-F01A-0AE5B942EC2F}"/>
              </a:ext>
            </a:extLst>
          </p:cNvPr>
          <p:cNvSpPr txBox="1"/>
          <p:nvPr/>
        </p:nvSpPr>
        <p:spPr>
          <a:xfrm>
            <a:off x="347772" y="1664896"/>
            <a:ext cx="84726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используемых предыдущих отсчетов </a:t>
            </a:r>
            <a:r>
              <a:rPr lang="ru-RU" sz="18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называется порядком фильтра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9E1F67-ACE9-0011-C37E-C87DC1633394}"/>
              </a:ext>
            </a:extLst>
          </p:cNvPr>
          <p:cNvSpPr txBox="1"/>
          <p:nvPr/>
        </p:nvSpPr>
        <p:spPr>
          <a:xfrm>
            <a:off x="323529" y="2232425"/>
            <a:ext cx="475252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Следует обратить внимание на различие между терминами порядок фильтра и длина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фильтра. Под длиной фильтра имеется в виду общее число отсчетов, участвующих в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вычислениях, включая текущий отсчет </a:t>
            </a:r>
            <a:r>
              <a:rPr lang="ru-RU" sz="14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4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поэтому длина дискретного фильтра на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единицу больше, чем его порядок.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F238197-6E49-D879-C8D3-BF2150265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239" y="2145833"/>
            <a:ext cx="3764249" cy="387523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29CD714-7688-0B31-05EA-632989232354}"/>
              </a:ext>
            </a:extLst>
          </p:cNvPr>
          <p:cNvSpPr txBox="1"/>
          <p:nvPr/>
        </p:nvSpPr>
        <p:spPr>
          <a:xfrm>
            <a:off x="5868144" y="1146906"/>
            <a:ext cx="504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(*)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E59975C6-39C6-AC12-D133-4AA57ED28E44}"/>
              </a:ext>
            </a:extLst>
          </p:cNvPr>
          <p:cNvGrpSpPr/>
          <p:nvPr/>
        </p:nvGrpSpPr>
        <p:grpSpPr>
          <a:xfrm>
            <a:off x="337737" y="3777212"/>
            <a:ext cx="4572000" cy="1415892"/>
            <a:chOff x="337737" y="3777212"/>
            <a:chExt cx="4572000" cy="141589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609D9DE-3830-C87B-610A-B8AFC7B83065}"/>
                </a:ext>
              </a:extLst>
            </p:cNvPr>
            <p:cNvSpPr txBox="1"/>
            <p:nvPr/>
          </p:nvSpPr>
          <p:spPr>
            <a:xfrm>
              <a:off x="337737" y="3777212"/>
              <a:ext cx="457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800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единичный импульс </a:t>
              </a:r>
              <a:r>
                <a:rPr lang="ru-RU" sz="1800" b="0" i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ru-RU" sz="1800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1800" b="0" i="1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ru-RU" sz="1800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sz="1800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1800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en-US" sz="1800" b="0" i="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(*)</a:t>
              </a:r>
              <a:r>
                <a:rPr lang="ru-R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343A8A36-E260-0B6A-08A9-0F13F6559D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15616" y="4229312"/>
              <a:ext cx="1772803" cy="584935"/>
            </a:xfrm>
            <a:prstGeom prst="rect">
              <a:avLst/>
            </a:prstGeom>
          </p:spPr>
        </p:pic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FD8AF5A1-ABE6-C47F-53F3-97C4E446C7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15616" y="4814247"/>
              <a:ext cx="871371" cy="378857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F36A841F-E275-65A0-A29C-68A759A53C03}"/>
              </a:ext>
            </a:extLst>
          </p:cNvPr>
          <p:cNvSpPr txBox="1"/>
          <p:nvPr/>
        </p:nvSpPr>
        <p:spPr>
          <a:xfrm>
            <a:off x="347772" y="5388973"/>
            <a:ext cx="50163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Нерекурсивны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фильтры = фильтры с </a:t>
            </a:r>
            <a:r>
              <a:rPr lang="ru-RU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конечной импульсной характеристикой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(КИХ-фильтры) (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Finite impulse response = FIR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3865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6ED57D4-A784-4EC1-F0A2-A62427AC7C2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200" b="1" kern="0" dirty="0" err="1">
                <a:solidFill>
                  <a:srgbClr val="000099"/>
                </a:solidFill>
              </a:rPr>
              <a:t>Нерекурсивные</a:t>
            </a:r>
            <a:r>
              <a:rPr lang="ru-RU" sz="3200" b="1" kern="0" dirty="0">
                <a:solidFill>
                  <a:srgbClr val="000099"/>
                </a:solidFill>
              </a:rPr>
              <a:t> фильтры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1FD187-6590-9769-3A9A-7853F54BE8BD}"/>
              </a:ext>
            </a:extLst>
          </p:cNvPr>
          <p:cNvSpPr txBox="1"/>
          <p:nvPr/>
        </p:nvSpPr>
        <p:spPr>
          <a:xfrm>
            <a:off x="323528" y="632720"/>
            <a:ext cx="849694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Нерекурсивные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фильтры позволяют обеспечить линейную ФЧХ = постоянные (не зависящие от частоты) групповую и фазовую задержки. </a:t>
            </a:r>
          </a:p>
          <a:p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этого необходима симметрия импульсной характеристики, которая может быть двух типов: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четная (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-k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нечетная (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-k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BFA66C-1DB3-D8B6-DAD6-2C1874F61BA2}"/>
              </a:ext>
            </a:extLst>
          </p:cNvPr>
          <p:cNvSpPr txBox="1"/>
          <p:nvPr/>
        </p:nvSpPr>
        <p:spPr>
          <a:xfrm>
            <a:off x="2699792" y="1856856"/>
            <a:ext cx="2484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всех 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0, 1, …, 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D89397-2A0F-DE11-17F2-AFE352FC2A54}"/>
              </a:ext>
            </a:extLst>
          </p:cNvPr>
          <p:cNvSpPr txBox="1"/>
          <p:nvPr/>
        </p:nvSpPr>
        <p:spPr>
          <a:xfrm>
            <a:off x="323528" y="2387046"/>
            <a:ext cx="84969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Импульсные характеристики симметричных фильтров представляют собой четные или нечетные функции, сдвинутые вправо на </a:t>
            </a:r>
            <a:r>
              <a:rPr lang="ru-RU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/2 отсчетов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FAD0DF-640B-E1D8-264F-33AFAC174F2D}"/>
              </a:ext>
            </a:extLst>
          </p:cNvPr>
          <p:cNvSpPr txBox="1"/>
          <p:nvPr/>
        </p:nvSpPr>
        <p:spPr>
          <a:xfrm>
            <a:off x="323528" y="2982850"/>
            <a:ext cx="849694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Спектр четной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 является чисто вещественным, а нечетной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чисто мнимым, временной сдвиг приводит к появлению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ФЧХ слагаемого, линейно зависящего от частоты. Таким образом, ФЧХ симметричных фильтров описывается следующим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формулами: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случае четной симметрии </a:t>
            </a:r>
            <a:r>
              <a:rPr lang="el-GR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l-GR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l-GR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/2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случае нечетной симметрии </a:t>
            </a:r>
            <a:r>
              <a:rPr lang="el-GR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l-GR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l-G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sign(</a:t>
            </a:r>
            <a:r>
              <a:rPr lang="el-GR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/2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l-GR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/2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C23E57-77F5-C828-2670-1783AD79239A}"/>
              </a:ext>
            </a:extLst>
          </p:cNvPr>
          <p:cNvSpPr txBox="1"/>
          <p:nvPr/>
        </p:nvSpPr>
        <p:spPr>
          <a:xfrm>
            <a:off x="323528" y="4689232"/>
            <a:ext cx="849694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Групповая задержка для симметричных фильтров не зависит от частоты и равна</a:t>
            </a:r>
            <a:b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/2 отсчетам.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 четном </a:t>
            </a:r>
            <a:r>
              <a:rPr lang="ru-RU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нечетной симметрии импульсной характеристики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ее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средний отсчет должен быть равен нулю: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b="0" i="1" baseline="-25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0" i="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b="0" i="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0. Кроме того, четность или нечетность порядка фильтра и наличие того или иного типа симметрии накладывают определенные ограничения на коэффициенты передачи фильтра на нулевой частоте и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 частоте Найквиста.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BCE6BA96-80DD-10DE-CA37-B744B4BE7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02" y="4464603"/>
            <a:ext cx="8316416" cy="1874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133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6ED57D4-A784-4EC1-F0A2-A62427AC7C2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620713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ru-RU" sz="3200" b="1" kern="0" dirty="0">
                <a:solidFill>
                  <a:srgbClr val="000099"/>
                </a:solidFill>
              </a:rPr>
              <a:t>Рекурсивные фильтры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983473F-F667-437D-3FC7-30C8D9C40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025" y="962025"/>
            <a:ext cx="6457950" cy="493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617348"/>
      </p:ext>
    </p:extLst>
  </p:cSld>
  <p:clrMapOvr>
    <a:masterClrMapping/>
  </p:clrMapOvr>
</p:sld>
</file>

<file path=ppt/theme/theme1.xml><?xml version="1.0" encoding="utf-8"?>
<a:theme xmlns:a="http://schemas.openxmlformats.org/drawingml/2006/main" name="1_По_умолчанию">
  <a:themeElements>
    <a:clrScheme name="1_По_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По_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_По_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Спец_оформление">
  <a:themeElements>
    <a:clrScheme name="Спец_оформление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пец_оформление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Спец_оформление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Спец_оформление">
  <a:themeElements>
    <a:clrScheme name="1_Спец_оформление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Спец_оформление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Спец_оформление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Спец_оформление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Спец_оформление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Спец_оформление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Спец_оформление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Спец_оформление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По_умолчанию">
  <a:themeElements>
    <a:clrScheme name="1_По_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По_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54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_По_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12439</TotalTime>
  <Words>1763</Words>
  <Application>Microsoft Office PowerPoint</Application>
  <PresentationFormat>Экран (4:3)</PresentationFormat>
  <Paragraphs>103</Paragraphs>
  <Slides>17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4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4" baseType="lpstr">
      <vt:lpstr>Arial</vt:lpstr>
      <vt:lpstr>Times New Roman</vt:lpstr>
      <vt:lpstr>1_По_умолчанию</vt:lpstr>
      <vt:lpstr>Спец_оформление</vt:lpstr>
      <vt:lpstr>1_Спец_оформление</vt:lpstr>
      <vt:lpstr>2_По_умолчанию</vt:lpstr>
      <vt:lpstr>Equation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+++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Тёмыч</dc:creator>
  <cp:lastModifiedBy>Artery</cp:lastModifiedBy>
  <cp:revision>884</cp:revision>
  <dcterms:created xsi:type="dcterms:W3CDTF">2005-11-19T10:53:17Z</dcterms:created>
  <dcterms:modified xsi:type="dcterms:W3CDTF">2024-11-08T20:17:26Z</dcterms:modified>
</cp:coreProperties>
</file>